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0" r:id="rId5"/>
    <p:sldId id="262" r:id="rId6"/>
    <p:sldId id="263" r:id="rId7"/>
    <p:sldId id="264" r:id="rId8"/>
    <p:sldId id="265" r:id="rId9"/>
    <p:sldId id="266" r:id="rId10"/>
    <p:sldId id="267" r:id="rId11"/>
    <p:sldId id="261" r:id="rId12"/>
    <p:sldId id="269" r:id="rId13"/>
    <p:sldId id="270" r:id="rId14"/>
    <p:sldId id="271" r:id="rId15"/>
    <p:sldId id="272" r:id="rId16"/>
    <p:sldId id="273" r:id="rId17"/>
    <p:sldId id="27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94682"/>
  </p:normalViewPr>
  <p:slideViewPr>
    <p:cSldViewPr snapToGrid="0" snapToObjects="1">
      <p:cViewPr varScale="1">
        <p:scale>
          <a:sx n="95" d="100"/>
          <a:sy n="95" d="100"/>
        </p:scale>
        <p:origin x="200" y="8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0"/>
            <a:ext cx="128016" cy="685800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005840" y="1828800"/>
            <a:ext cx="10058400" cy="274320"/>
          </a:xfrm>
          <a:prstGeom prst="rect">
            <a:avLst/>
          </a:prstGeom>
          <a:noFill/>
        </p:spPr>
        <p:txBody>
          <a:bodyPr wrap="square" lIns="0" tIns="0" rIns="0" bIns="0" anchor="t">
            <a:spAutoFit/>
          </a:bodyPr>
          <a:lstStyle/>
          <a:p>
            <a:pPr algn="l">
              <a:lnSpc>
                <a:spcPct val="110000"/>
              </a:lnSpc>
              <a:spcAft>
                <a:spcPts val="400"/>
              </a:spcAft>
            </a:pPr>
            <a:r>
              <a:rPr sz="1300" b="1" i="0">
                <a:solidFill>
                  <a:srgbClr val="FDB515"/>
                </a:solidFill>
                <a:latin typeface="Calibri"/>
              </a:rPr>
              <a:t>UC BERKELEY MFE  ×  BLACKROCK  ·  INDUSTRY PROJECT</a:t>
            </a:r>
          </a:p>
        </p:txBody>
      </p:sp>
      <p:sp>
        <p:nvSpPr>
          <p:cNvPr id="5" name="TextBox 4"/>
          <p:cNvSpPr txBox="1"/>
          <p:nvPr/>
        </p:nvSpPr>
        <p:spPr>
          <a:xfrm>
            <a:off x="1005840" y="2286000"/>
            <a:ext cx="10058400" cy="914400"/>
          </a:xfrm>
          <a:prstGeom prst="rect">
            <a:avLst/>
          </a:prstGeom>
          <a:noFill/>
        </p:spPr>
        <p:txBody>
          <a:bodyPr wrap="square" lIns="0" tIns="0" rIns="0" bIns="0" anchor="t">
            <a:spAutoFit/>
          </a:bodyPr>
          <a:lstStyle/>
          <a:p>
            <a:pPr algn="l">
              <a:lnSpc>
                <a:spcPct val="110000"/>
              </a:lnSpc>
              <a:spcAft>
                <a:spcPts val="400"/>
              </a:spcAft>
            </a:pPr>
            <a:r>
              <a:rPr sz="5400" b="1" i="0">
                <a:solidFill>
                  <a:srgbClr val="FFFFFF"/>
                </a:solidFill>
                <a:latin typeface="Calibri"/>
              </a:rPr>
              <a:t>A Layered Agent Fund</a:t>
            </a:r>
          </a:p>
        </p:txBody>
      </p:sp>
      <p:sp>
        <p:nvSpPr>
          <p:cNvPr id="6" name="Rectangle 5"/>
          <p:cNvSpPr/>
          <p:nvPr/>
        </p:nvSpPr>
        <p:spPr>
          <a:xfrm>
            <a:off x="1005840" y="3291840"/>
            <a:ext cx="2011680" cy="4572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05840" y="5257800"/>
            <a:ext cx="5486400" cy="534313"/>
          </a:xfrm>
          <a:prstGeom prst="rect">
            <a:avLst/>
          </a:prstGeom>
          <a:noFill/>
        </p:spPr>
        <p:txBody>
          <a:bodyPr wrap="square" lIns="0" tIns="0" rIns="0" bIns="0" anchor="t">
            <a:spAutoFit/>
          </a:bodyPr>
          <a:lstStyle/>
          <a:p>
            <a:pPr algn="l">
              <a:lnSpc>
                <a:spcPct val="125000"/>
              </a:lnSpc>
              <a:spcAft>
                <a:spcPts val="400"/>
              </a:spcAft>
            </a:pPr>
            <a:r>
              <a:rPr lang="en-US" sz="1400" b="1" i="0" dirty="0">
                <a:solidFill>
                  <a:srgbClr val="FFFFFF"/>
                </a:solidFill>
                <a:latin typeface="Calibri"/>
              </a:rPr>
              <a:t>The People Team</a:t>
            </a:r>
            <a:endParaRPr sz="1400" b="1" i="0" dirty="0">
              <a:solidFill>
                <a:srgbClr val="FFFFFF"/>
              </a:solidFill>
              <a:latin typeface="Calibri"/>
            </a:endParaRPr>
          </a:p>
          <a:p>
            <a:pPr algn="l">
              <a:lnSpc>
                <a:spcPct val="125000"/>
              </a:lnSpc>
              <a:spcAft>
                <a:spcPts val="400"/>
              </a:spcAft>
            </a:pPr>
            <a:r>
              <a:rPr sz="1200" b="0" i="0" dirty="0">
                <a:solidFill>
                  <a:srgbClr val="DDD5C7"/>
                </a:solidFill>
                <a:latin typeface="Calibri"/>
              </a:rPr>
              <a:t>July 2026</a:t>
            </a:r>
          </a:p>
        </p:txBody>
      </p:sp>
      <p:sp>
        <p:nvSpPr>
          <p:cNvPr id="9" name="Rectangle 8"/>
          <p:cNvSpPr/>
          <p:nvPr/>
        </p:nvSpPr>
        <p:spPr>
          <a:xfrm>
            <a:off x="1005840" y="5989320"/>
            <a:ext cx="10241280" cy="9525"/>
          </a:xfrm>
          <a:prstGeom prst="rect">
            <a:avLst/>
          </a:prstGeom>
          <a:solidFill>
            <a:srgbClr val="3B7E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6190488"/>
            <a:ext cx="2194560" cy="365760"/>
          </a:xfrm>
          <a:prstGeom prst="rect">
            <a:avLst/>
          </a:prstGeom>
          <a:noFill/>
        </p:spPr>
        <p:txBody>
          <a:bodyPr wrap="square" lIns="0" tIns="0" rIns="0" bIns="0" anchor="ctr">
            <a:spAutoFit/>
          </a:bodyPr>
          <a:lstStyle/>
          <a:p>
            <a:pPr algn="l">
              <a:lnSpc>
                <a:spcPct val="110000"/>
              </a:lnSpc>
              <a:spcAft>
                <a:spcPts val="400"/>
              </a:spcAft>
            </a:pPr>
            <a:r>
              <a:rPr sz="1500" b="1" i="0">
                <a:solidFill>
                  <a:srgbClr val="FFFFFF"/>
                </a:solidFill>
                <a:latin typeface="Calibri"/>
              </a:rPr>
              <a:t>Berkeley</a:t>
            </a:r>
            <a:r>
              <a:rPr sz="1300" b="0" i="0">
                <a:solidFill>
                  <a:srgbClr val="FDB515"/>
                </a:solidFill>
                <a:latin typeface="Calibri"/>
              </a:rPr>
              <a:t>  |  </a:t>
            </a:r>
            <a:r>
              <a:rPr sz="1100" b="1" i="0">
                <a:solidFill>
                  <a:srgbClr val="FDB515"/>
                </a:solidFill>
                <a:latin typeface="Calibri"/>
              </a:rPr>
              <a:t>MFE</a:t>
            </a:r>
          </a:p>
        </p:txBody>
      </p:sp>
      <p:sp>
        <p:nvSpPr>
          <p:cNvPr id="11" name="TextBox 10"/>
          <p:cNvSpPr txBox="1"/>
          <p:nvPr/>
        </p:nvSpPr>
        <p:spPr>
          <a:xfrm>
            <a:off x="9814255" y="6190488"/>
            <a:ext cx="1828800" cy="365760"/>
          </a:xfrm>
          <a:prstGeom prst="rect">
            <a:avLst/>
          </a:prstGeom>
          <a:noFill/>
        </p:spPr>
        <p:txBody>
          <a:bodyPr wrap="square" lIns="0" tIns="0" rIns="0" bIns="0" anchor="ctr">
            <a:spAutoFit/>
          </a:bodyPr>
          <a:lstStyle/>
          <a:p>
            <a:pPr algn="r">
              <a:lnSpc>
                <a:spcPct val="110000"/>
              </a:lnSpc>
              <a:spcAft>
                <a:spcPts val="400"/>
              </a:spcAft>
            </a:pPr>
            <a:r>
              <a:rPr sz="1300" b="1" i="0">
                <a:solidFill>
                  <a:srgbClr val="FFFFFF"/>
                </a:solidFill>
                <a:latin typeface="Calibri"/>
              </a:rPr>
              <a:t>BLACKROCK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94415" cy="548640"/>
          </a:xfrm>
          <a:prstGeom prst="rect">
            <a:avLst/>
          </a:prstGeom>
          <a:noFill/>
        </p:spPr>
        <p:txBody>
          <a:bodyPr wrap="square" lIns="0" tIns="0" rIns="0" bIns="0" anchor="t">
            <a:spAutoFit/>
          </a:bodyPr>
          <a:lstStyle/>
          <a:p>
            <a:pPr algn="l">
              <a:lnSpc>
                <a:spcPct val="105000"/>
              </a:lnSpc>
              <a:spcAft>
                <a:spcPts val="400"/>
              </a:spcAft>
            </a:pPr>
            <a:r>
              <a:rPr sz="2700" b="1" i="0">
                <a:solidFill>
                  <a:srgbClr val="003262"/>
                </a:solidFill>
                <a:latin typeface="Calibri"/>
              </a:rPr>
              <a:t>When an AI fund loses money, nobody can say why</a:t>
            </a:r>
          </a:p>
        </p:txBody>
      </p:sp>
      <p:sp>
        <p:nvSpPr>
          <p:cNvPr id="3" name="Rectangle 2"/>
          <p:cNvSpPr/>
          <p:nvPr/>
        </p:nvSpPr>
        <p:spPr>
          <a:xfrm>
            <a:off x="548640" y="1225296"/>
            <a:ext cx="1371600" cy="50292"/>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548640" y="6345936"/>
            <a:ext cx="11094415" cy="9525"/>
          </a:xfrm>
          <a:prstGeom prst="rect">
            <a:avLst/>
          </a:prstGeom>
          <a:solidFill>
            <a:srgbClr val="DDD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48640" y="6419088"/>
            <a:ext cx="2194560" cy="329184"/>
          </a:xfrm>
          <a:prstGeom prst="rect">
            <a:avLst/>
          </a:prstGeom>
          <a:noFill/>
        </p:spPr>
        <p:txBody>
          <a:bodyPr wrap="square" lIns="0" tIns="0" rIns="0" bIns="0" anchor="ctr">
            <a:spAutoFit/>
          </a:bodyPr>
          <a:lstStyle/>
          <a:p>
            <a:pPr algn="l">
              <a:lnSpc>
                <a:spcPct val="110000"/>
              </a:lnSpc>
              <a:spcAft>
                <a:spcPts val="400"/>
              </a:spcAft>
            </a:pPr>
            <a:r>
              <a:rPr sz="1500" b="1" i="0">
                <a:solidFill>
                  <a:srgbClr val="003262"/>
                </a:solidFill>
                <a:latin typeface="Calibri"/>
              </a:rPr>
              <a:t>Berkeley</a:t>
            </a:r>
            <a:r>
              <a:rPr sz="1300" b="0" i="0">
                <a:solidFill>
                  <a:srgbClr val="FDB515"/>
                </a:solidFill>
                <a:latin typeface="Calibri"/>
              </a:rPr>
              <a:t>  |  </a:t>
            </a:r>
            <a:r>
              <a:rPr sz="1100" b="1" i="0">
                <a:solidFill>
                  <a:srgbClr val="3B7EA1"/>
                </a:solidFill>
                <a:latin typeface="Calibri"/>
              </a:rPr>
              <a:t>MFE</a:t>
            </a:r>
          </a:p>
        </p:txBody>
      </p:sp>
      <p:sp>
        <p:nvSpPr>
          <p:cNvPr id="6" name="TextBox 5"/>
          <p:cNvSpPr txBox="1"/>
          <p:nvPr/>
        </p:nvSpPr>
        <p:spPr>
          <a:xfrm>
            <a:off x="9814255" y="6419088"/>
            <a:ext cx="1828800" cy="329184"/>
          </a:xfrm>
          <a:prstGeom prst="rect">
            <a:avLst/>
          </a:prstGeom>
          <a:noFill/>
        </p:spPr>
        <p:txBody>
          <a:bodyPr wrap="square" lIns="0" tIns="0" rIns="0" bIns="0" anchor="ctr">
            <a:spAutoFit/>
          </a:bodyPr>
          <a:lstStyle/>
          <a:p>
            <a:pPr algn="r">
              <a:lnSpc>
                <a:spcPct val="110000"/>
              </a:lnSpc>
              <a:spcAft>
                <a:spcPts val="400"/>
              </a:spcAft>
            </a:pPr>
            <a:r>
              <a:rPr sz="1300" b="1" i="0">
                <a:solidFill>
                  <a:srgbClr val="1A1A1A"/>
                </a:solidFill>
                <a:latin typeface="Calibri"/>
              </a:rPr>
              <a:t>BLACKROCK</a:t>
            </a:r>
          </a:p>
        </p:txBody>
      </p:sp>
      <p:sp>
        <p:nvSpPr>
          <p:cNvPr id="7" name="TextBox 6"/>
          <p:cNvSpPr txBox="1"/>
          <p:nvPr/>
        </p:nvSpPr>
        <p:spPr>
          <a:xfrm>
            <a:off x="5730087" y="6446520"/>
            <a:ext cx="731520" cy="274320"/>
          </a:xfrm>
          <a:prstGeom prst="rect">
            <a:avLst/>
          </a:prstGeom>
          <a:noFill/>
        </p:spPr>
        <p:txBody>
          <a:bodyPr wrap="square" lIns="0" tIns="0" rIns="0" bIns="0" anchor="ctr">
            <a:spAutoFit/>
          </a:bodyPr>
          <a:lstStyle/>
          <a:p>
            <a:pPr algn="ctr">
              <a:lnSpc>
                <a:spcPct val="110000"/>
              </a:lnSpc>
              <a:spcAft>
                <a:spcPts val="400"/>
              </a:spcAft>
            </a:pPr>
            <a:r>
              <a:rPr sz="1000" b="0" i="0">
                <a:solidFill>
                  <a:srgbClr val="6E6E6E"/>
                </a:solidFill>
                <a:latin typeface="Calibri"/>
              </a:rPr>
              <a:t>1</a:t>
            </a:r>
          </a:p>
        </p:txBody>
      </p:sp>
      <p:sp>
        <p:nvSpPr>
          <p:cNvPr id="8" name="TextBox 7"/>
          <p:cNvSpPr txBox="1"/>
          <p:nvPr/>
        </p:nvSpPr>
        <p:spPr>
          <a:xfrm>
            <a:off x="548640" y="1508760"/>
            <a:ext cx="5120640" cy="228600"/>
          </a:xfrm>
          <a:prstGeom prst="rect">
            <a:avLst/>
          </a:prstGeom>
          <a:noFill/>
        </p:spPr>
        <p:txBody>
          <a:bodyPr wrap="square" lIns="0" tIns="0" rIns="0" bIns="0" anchor="t">
            <a:spAutoFit/>
          </a:bodyPr>
          <a:lstStyle/>
          <a:p>
            <a:pPr algn="l">
              <a:lnSpc>
                <a:spcPct val="110000"/>
              </a:lnSpc>
              <a:spcAft>
                <a:spcPts val="400"/>
              </a:spcAft>
            </a:pPr>
            <a:r>
              <a:rPr sz="1000" b="1" i="0" dirty="0">
                <a:solidFill>
                  <a:srgbClr val="6E6E6E"/>
                </a:solidFill>
                <a:latin typeface="Calibri"/>
              </a:rPr>
              <a:t>THE OBVIOUS WAY TO BUILD IT</a:t>
            </a:r>
          </a:p>
        </p:txBody>
      </p:sp>
      <p:sp>
        <p:nvSpPr>
          <p:cNvPr id="9" name="Rounded Rectangle 8"/>
          <p:cNvSpPr/>
          <p:nvPr/>
        </p:nvSpPr>
        <p:spPr>
          <a:xfrm>
            <a:off x="548640" y="2148840"/>
            <a:ext cx="1691640" cy="384048"/>
          </a:xfrm>
          <a:prstGeom prst="roundRect">
            <a:avLst>
              <a:gd name="adj" fmla="val 30000"/>
            </a:avLst>
          </a:prstGeom>
          <a:solidFill>
            <a:srgbClr val="FFFFFF"/>
          </a:solidFill>
          <a:ln w="12700">
            <a:solidFill>
              <a:srgbClr val="A8AFB8"/>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050" b="1">
                <a:solidFill>
                  <a:srgbClr val="6E6E6E"/>
                </a:solidFill>
                <a:latin typeface="Calibri"/>
              </a:rPr>
              <a:t>Warren Buffett</a:t>
            </a:r>
          </a:p>
        </p:txBody>
      </p:sp>
      <p:sp>
        <p:nvSpPr>
          <p:cNvPr id="10" name="Right Arrow 9"/>
          <p:cNvSpPr/>
          <p:nvPr/>
        </p:nvSpPr>
        <p:spPr>
          <a:xfrm>
            <a:off x="2331720" y="2249424"/>
            <a:ext cx="457200" cy="182880"/>
          </a:xfrm>
          <a:prstGeom prst="rightArrow">
            <a:avLst/>
          </a:prstGeom>
          <a:solidFill>
            <a:srgbClr val="A8A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ounded Rectangle 10"/>
          <p:cNvSpPr/>
          <p:nvPr/>
        </p:nvSpPr>
        <p:spPr>
          <a:xfrm>
            <a:off x="548640" y="2715768"/>
            <a:ext cx="1691640" cy="384048"/>
          </a:xfrm>
          <a:prstGeom prst="roundRect">
            <a:avLst>
              <a:gd name="adj" fmla="val 30000"/>
            </a:avLst>
          </a:prstGeom>
          <a:solidFill>
            <a:srgbClr val="FFFFFF"/>
          </a:solidFill>
          <a:ln w="12700">
            <a:solidFill>
              <a:srgbClr val="A8AFB8"/>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050" b="1">
                <a:solidFill>
                  <a:srgbClr val="6E6E6E"/>
                </a:solidFill>
                <a:latin typeface="Calibri"/>
              </a:rPr>
              <a:t>Ray Dalio</a:t>
            </a:r>
          </a:p>
        </p:txBody>
      </p:sp>
      <p:sp>
        <p:nvSpPr>
          <p:cNvPr id="12" name="Right Arrow 11"/>
          <p:cNvSpPr/>
          <p:nvPr/>
        </p:nvSpPr>
        <p:spPr>
          <a:xfrm>
            <a:off x="2331720" y="2816352"/>
            <a:ext cx="457200" cy="182880"/>
          </a:xfrm>
          <a:prstGeom prst="rightArrow">
            <a:avLst/>
          </a:prstGeom>
          <a:solidFill>
            <a:srgbClr val="A8A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548640" y="3282696"/>
            <a:ext cx="1691640" cy="384048"/>
          </a:xfrm>
          <a:prstGeom prst="roundRect">
            <a:avLst>
              <a:gd name="adj" fmla="val 30000"/>
            </a:avLst>
          </a:prstGeom>
          <a:solidFill>
            <a:srgbClr val="FFFFFF"/>
          </a:solidFill>
          <a:ln w="12700">
            <a:solidFill>
              <a:srgbClr val="A8AFB8"/>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050" b="1">
                <a:solidFill>
                  <a:srgbClr val="6E6E6E"/>
                </a:solidFill>
                <a:latin typeface="Calibri"/>
              </a:rPr>
              <a:t>Aswath Damodaran</a:t>
            </a:r>
          </a:p>
        </p:txBody>
      </p:sp>
      <p:sp>
        <p:nvSpPr>
          <p:cNvPr id="14" name="Right Arrow 13"/>
          <p:cNvSpPr/>
          <p:nvPr/>
        </p:nvSpPr>
        <p:spPr>
          <a:xfrm>
            <a:off x="2331720" y="3383280"/>
            <a:ext cx="457200" cy="182880"/>
          </a:xfrm>
          <a:prstGeom prst="rightArrow">
            <a:avLst/>
          </a:prstGeom>
          <a:solidFill>
            <a:srgbClr val="A8A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2926080" y="2103120"/>
            <a:ext cx="2286000" cy="1737360"/>
          </a:xfrm>
          <a:prstGeom prst="ellipse">
            <a:avLst/>
          </a:prstGeom>
          <a:solidFill>
            <a:srgbClr val="A8AFB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400" b="1" dirty="0">
                <a:solidFill>
                  <a:srgbClr val="FFFFFF"/>
                </a:solidFill>
                <a:latin typeface="Calibri"/>
              </a:rPr>
              <a:t>one blended
opinion</a:t>
            </a:r>
          </a:p>
        </p:txBody>
      </p:sp>
      <p:sp>
        <p:nvSpPr>
          <p:cNvPr id="16" name="TextBox 15"/>
          <p:cNvSpPr txBox="1"/>
          <p:nvPr/>
        </p:nvSpPr>
        <p:spPr>
          <a:xfrm>
            <a:off x="548640" y="4160520"/>
            <a:ext cx="4937760" cy="548640"/>
          </a:xfrm>
          <a:prstGeom prst="rect">
            <a:avLst/>
          </a:prstGeom>
          <a:noFill/>
        </p:spPr>
        <p:txBody>
          <a:bodyPr wrap="square" lIns="0" tIns="0" rIns="0" bIns="0" anchor="t">
            <a:spAutoFit/>
          </a:bodyPr>
          <a:lstStyle/>
          <a:p>
            <a:pPr algn="l">
              <a:lnSpc>
                <a:spcPct val="125000"/>
              </a:lnSpc>
              <a:spcAft>
                <a:spcPts val="400"/>
              </a:spcAft>
            </a:pPr>
            <a:r>
              <a:rPr sz="1250" b="0" i="0">
                <a:solidFill>
                  <a:srgbClr val="6E6E6E"/>
                </a:solidFill>
                <a:latin typeface="Calibri"/>
              </a:rPr>
              <a:t>Each agent is a whole investor with a whole opinion. A weight blends them into one book.</a:t>
            </a:r>
          </a:p>
        </p:txBody>
      </p:sp>
      <p:sp>
        <p:nvSpPr>
          <p:cNvPr id="17" name="Rectangle 16"/>
          <p:cNvSpPr/>
          <p:nvPr/>
        </p:nvSpPr>
        <p:spPr>
          <a:xfrm>
            <a:off x="6309360" y="1463040"/>
            <a:ext cx="9525" cy="3291840"/>
          </a:xfrm>
          <a:prstGeom prst="rect">
            <a:avLst/>
          </a:prstGeom>
          <a:solidFill>
            <a:srgbClr val="DDD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858000" y="1508760"/>
            <a:ext cx="4754880" cy="228600"/>
          </a:xfrm>
          <a:prstGeom prst="rect">
            <a:avLst/>
          </a:prstGeom>
          <a:noFill/>
        </p:spPr>
        <p:txBody>
          <a:bodyPr wrap="square" lIns="0" tIns="0" rIns="0" bIns="0" anchor="t">
            <a:spAutoFit/>
          </a:bodyPr>
          <a:lstStyle/>
          <a:p>
            <a:pPr algn="l">
              <a:lnSpc>
                <a:spcPct val="110000"/>
              </a:lnSpc>
              <a:spcAft>
                <a:spcPts val="400"/>
              </a:spcAft>
            </a:pPr>
            <a:r>
              <a:rPr sz="1000" b="1" i="0">
                <a:solidFill>
                  <a:srgbClr val="9B2226"/>
                </a:solidFill>
                <a:latin typeface="Calibri"/>
              </a:rPr>
              <a:t>THE MONTH IT LOSES 4%</a:t>
            </a:r>
          </a:p>
        </p:txBody>
      </p:sp>
      <p:sp>
        <p:nvSpPr>
          <p:cNvPr id="19" name="TextBox 18"/>
          <p:cNvSpPr txBox="1"/>
          <p:nvPr/>
        </p:nvSpPr>
        <p:spPr>
          <a:xfrm>
            <a:off x="6858000" y="1828800"/>
            <a:ext cx="4754880" cy="457200"/>
          </a:xfrm>
          <a:prstGeom prst="rect">
            <a:avLst/>
          </a:prstGeom>
          <a:noFill/>
        </p:spPr>
        <p:txBody>
          <a:bodyPr wrap="square" lIns="0" tIns="0" rIns="0" bIns="0" anchor="t">
            <a:spAutoFit/>
          </a:bodyPr>
          <a:lstStyle/>
          <a:p>
            <a:pPr algn="l">
              <a:lnSpc>
                <a:spcPct val="110000"/>
              </a:lnSpc>
              <a:spcAft>
                <a:spcPts val="400"/>
              </a:spcAft>
            </a:pPr>
            <a:r>
              <a:rPr sz="2400" b="1" i="0">
                <a:solidFill>
                  <a:srgbClr val="003262"/>
                </a:solidFill>
                <a:latin typeface="Calibri"/>
              </a:rPr>
              <a:t>Which part was wrong?</a:t>
            </a:r>
          </a:p>
        </p:txBody>
      </p:sp>
      <p:sp>
        <p:nvSpPr>
          <p:cNvPr id="20" name="Rectangle 19"/>
          <p:cNvSpPr/>
          <p:nvPr/>
        </p:nvSpPr>
        <p:spPr>
          <a:xfrm>
            <a:off x="6858000" y="2514600"/>
            <a:ext cx="4754880" cy="47548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040880" y="2606040"/>
            <a:ext cx="4480560" cy="292608"/>
          </a:xfrm>
          <a:prstGeom prst="rect">
            <a:avLst/>
          </a:prstGeom>
          <a:noFill/>
        </p:spPr>
        <p:txBody>
          <a:bodyPr wrap="square" lIns="0" tIns="0" rIns="0" bIns="0" anchor="ctr">
            <a:spAutoFit/>
          </a:bodyPr>
          <a:lstStyle/>
          <a:p>
            <a:pPr algn="l">
              <a:lnSpc>
                <a:spcPct val="110000"/>
              </a:lnSpc>
              <a:spcAft>
                <a:spcPts val="400"/>
              </a:spcAft>
            </a:pPr>
            <a:r>
              <a:rPr sz="1250" b="1" i="0">
                <a:solidFill>
                  <a:srgbClr val="1A1A1A"/>
                </a:solidFill>
                <a:latin typeface="Calibri"/>
              </a:rPr>
              <a:t>The belief</a:t>
            </a:r>
            <a:r>
              <a:rPr sz="1200" b="0" i="0">
                <a:solidFill>
                  <a:srgbClr val="6E6E6E"/>
                </a:solidFill>
                <a:latin typeface="Calibri"/>
              </a:rPr>
              <a:t>   was inflation really rising?</a:t>
            </a:r>
          </a:p>
        </p:txBody>
      </p:sp>
      <p:sp>
        <p:nvSpPr>
          <p:cNvPr id="22" name="Rectangle 21"/>
          <p:cNvSpPr/>
          <p:nvPr/>
        </p:nvSpPr>
        <p:spPr>
          <a:xfrm>
            <a:off x="6858000" y="3118104"/>
            <a:ext cx="4754880" cy="47548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040880" y="3209544"/>
            <a:ext cx="4480560" cy="292608"/>
          </a:xfrm>
          <a:prstGeom prst="rect">
            <a:avLst/>
          </a:prstGeom>
          <a:noFill/>
        </p:spPr>
        <p:txBody>
          <a:bodyPr wrap="square" lIns="0" tIns="0" rIns="0" bIns="0" anchor="ctr">
            <a:spAutoFit/>
          </a:bodyPr>
          <a:lstStyle/>
          <a:p>
            <a:pPr algn="l">
              <a:lnSpc>
                <a:spcPct val="110000"/>
              </a:lnSpc>
              <a:spcAft>
                <a:spcPts val="400"/>
              </a:spcAft>
            </a:pPr>
            <a:r>
              <a:rPr sz="1250" b="1" i="0">
                <a:solidFill>
                  <a:srgbClr val="1A1A1A"/>
                </a:solidFill>
                <a:latin typeface="Calibri"/>
              </a:rPr>
              <a:t>The trade</a:t>
            </a:r>
            <a:r>
              <a:rPr sz="1200" b="0" i="0">
                <a:solidFill>
                  <a:srgbClr val="6E6E6E"/>
                </a:solidFill>
                <a:latin typeface="Calibri"/>
              </a:rPr>
              <a:t>   or was it the wrong way to bet on it?</a:t>
            </a:r>
          </a:p>
        </p:txBody>
      </p:sp>
      <p:sp>
        <p:nvSpPr>
          <p:cNvPr id="24" name="Rectangle 23"/>
          <p:cNvSpPr/>
          <p:nvPr/>
        </p:nvSpPr>
        <p:spPr>
          <a:xfrm>
            <a:off x="6858000" y="3721608"/>
            <a:ext cx="4754880" cy="47548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7040880" y="3813048"/>
            <a:ext cx="4480560" cy="292608"/>
          </a:xfrm>
          <a:prstGeom prst="rect">
            <a:avLst/>
          </a:prstGeom>
          <a:noFill/>
        </p:spPr>
        <p:txBody>
          <a:bodyPr wrap="square" lIns="0" tIns="0" rIns="0" bIns="0" anchor="ctr">
            <a:spAutoFit/>
          </a:bodyPr>
          <a:lstStyle/>
          <a:p>
            <a:pPr algn="l">
              <a:lnSpc>
                <a:spcPct val="110000"/>
              </a:lnSpc>
              <a:spcAft>
                <a:spcPts val="400"/>
              </a:spcAft>
            </a:pPr>
            <a:r>
              <a:rPr sz="1250" b="1" i="0">
                <a:solidFill>
                  <a:srgbClr val="1A1A1A"/>
                </a:solidFill>
                <a:latin typeface="Calibri"/>
              </a:rPr>
              <a:t>The size</a:t>
            </a:r>
            <a:r>
              <a:rPr sz="1200" b="0" i="0">
                <a:solidFill>
                  <a:srgbClr val="6E6E6E"/>
                </a:solidFill>
                <a:latin typeface="Calibri"/>
              </a:rPr>
              <a:t>   or was the bet simply too big?</a:t>
            </a:r>
          </a:p>
        </p:txBody>
      </p:sp>
      <p:sp>
        <p:nvSpPr>
          <p:cNvPr id="26" name="TextBox 25"/>
          <p:cNvSpPr txBox="1"/>
          <p:nvPr/>
        </p:nvSpPr>
        <p:spPr>
          <a:xfrm>
            <a:off x="6858000" y="4389120"/>
            <a:ext cx="4754880" cy="365760"/>
          </a:xfrm>
          <a:prstGeom prst="rect">
            <a:avLst/>
          </a:prstGeom>
          <a:noFill/>
        </p:spPr>
        <p:txBody>
          <a:bodyPr wrap="square" lIns="0" tIns="0" rIns="0" bIns="0" anchor="t">
            <a:spAutoFit/>
          </a:bodyPr>
          <a:lstStyle/>
          <a:p>
            <a:pPr algn="l">
              <a:lnSpc>
                <a:spcPct val="125000"/>
              </a:lnSpc>
              <a:spcAft>
                <a:spcPts val="400"/>
              </a:spcAft>
            </a:pPr>
            <a:r>
              <a:rPr sz="1250" b="1" i="0" dirty="0">
                <a:solidFill>
                  <a:srgbClr val="9B2226"/>
                </a:solidFill>
                <a:latin typeface="Calibri"/>
              </a:rPr>
              <a:t>You cannot know. Nothing in the machine ever recorded the difference.</a:t>
            </a:r>
          </a:p>
        </p:txBody>
      </p:sp>
      <p:sp>
        <p:nvSpPr>
          <p:cNvPr id="27" name="TextBox 26"/>
          <p:cNvSpPr txBox="1"/>
          <p:nvPr/>
        </p:nvSpPr>
        <p:spPr>
          <a:xfrm>
            <a:off x="548640" y="5120640"/>
            <a:ext cx="11094415" cy="457200"/>
          </a:xfrm>
          <a:prstGeom prst="rect">
            <a:avLst/>
          </a:prstGeom>
          <a:noFill/>
        </p:spPr>
        <p:txBody>
          <a:bodyPr wrap="square" lIns="0" tIns="0" rIns="0" bIns="0" anchor="t">
            <a:spAutoFit/>
          </a:bodyPr>
          <a:lstStyle/>
          <a:p>
            <a:pPr algn="l">
              <a:lnSpc>
                <a:spcPct val="125000"/>
              </a:lnSpc>
              <a:spcAft>
                <a:spcPts val="400"/>
              </a:spcAft>
            </a:pPr>
            <a:r>
              <a:rPr sz="1500" b="1" i="0" dirty="0">
                <a:solidFill>
                  <a:srgbClr val="003262"/>
                </a:solidFill>
                <a:latin typeface="Calibri"/>
              </a:rPr>
              <a:t>The opinions arrive pre-mixed. </a:t>
            </a:r>
            <a:r>
              <a:rPr sz="1500" b="0" i="0" dirty="0">
                <a:solidFill>
                  <a:srgbClr val="003262"/>
                </a:solidFill>
                <a:latin typeface="Calibri"/>
              </a:rPr>
              <a:t>There is no seam to cut along — so there is no question you can ask, and nothing to fix on purpose.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94415" cy="418576"/>
          </a:xfrm>
          <a:prstGeom prst="rect">
            <a:avLst/>
          </a:prstGeom>
          <a:noFill/>
        </p:spPr>
        <p:txBody>
          <a:bodyPr wrap="square" lIns="0" tIns="0" rIns="0" bIns="0" anchor="t">
            <a:spAutoFit/>
          </a:bodyPr>
          <a:lstStyle/>
          <a:p>
            <a:pPr algn="l">
              <a:lnSpc>
                <a:spcPct val="105000"/>
              </a:lnSpc>
              <a:spcAft>
                <a:spcPts val="400"/>
              </a:spcAft>
            </a:pPr>
            <a:r>
              <a:rPr lang="en-US" sz="2700" b="1" dirty="0">
                <a:solidFill>
                  <a:srgbClr val="003262"/>
                </a:solidFill>
                <a:latin typeface="Calibri"/>
              </a:rPr>
              <a:t>A weekly meeting where different expertise meets</a:t>
            </a:r>
            <a:endParaRPr sz="2700" b="1" i="0" dirty="0">
              <a:solidFill>
                <a:srgbClr val="003262"/>
              </a:solidFill>
              <a:latin typeface="Calibri"/>
            </a:endParaRPr>
          </a:p>
        </p:txBody>
      </p:sp>
      <p:sp>
        <p:nvSpPr>
          <p:cNvPr id="3" name="Rectangle 2"/>
          <p:cNvSpPr/>
          <p:nvPr/>
        </p:nvSpPr>
        <p:spPr>
          <a:xfrm>
            <a:off x="548640" y="1225296"/>
            <a:ext cx="1371600" cy="50292"/>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548640" y="6345936"/>
            <a:ext cx="11094415" cy="9525"/>
          </a:xfrm>
          <a:prstGeom prst="rect">
            <a:avLst/>
          </a:prstGeom>
          <a:solidFill>
            <a:srgbClr val="DDD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48640" y="6419088"/>
            <a:ext cx="2194560" cy="329184"/>
          </a:xfrm>
          <a:prstGeom prst="rect">
            <a:avLst/>
          </a:prstGeom>
          <a:noFill/>
        </p:spPr>
        <p:txBody>
          <a:bodyPr wrap="square" lIns="0" tIns="0" rIns="0" bIns="0" anchor="ctr">
            <a:spAutoFit/>
          </a:bodyPr>
          <a:lstStyle/>
          <a:p>
            <a:pPr algn="l">
              <a:lnSpc>
                <a:spcPct val="110000"/>
              </a:lnSpc>
              <a:spcAft>
                <a:spcPts val="400"/>
              </a:spcAft>
            </a:pPr>
            <a:r>
              <a:rPr sz="1500" b="1" i="0">
                <a:solidFill>
                  <a:srgbClr val="003262"/>
                </a:solidFill>
                <a:latin typeface="Calibri"/>
              </a:rPr>
              <a:t>Berkeley</a:t>
            </a:r>
            <a:r>
              <a:rPr sz="1300" b="0" i="0">
                <a:solidFill>
                  <a:srgbClr val="FDB515"/>
                </a:solidFill>
                <a:latin typeface="Calibri"/>
              </a:rPr>
              <a:t>  |  </a:t>
            </a:r>
            <a:r>
              <a:rPr sz="1100" b="1" i="0">
                <a:solidFill>
                  <a:srgbClr val="3B7EA1"/>
                </a:solidFill>
                <a:latin typeface="Calibri"/>
              </a:rPr>
              <a:t>MFE</a:t>
            </a:r>
          </a:p>
        </p:txBody>
      </p:sp>
      <p:sp>
        <p:nvSpPr>
          <p:cNvPr id="6" name="TextBox 5"/>
          <p:cNvSpPr txBox="1"/>
          <p:nvPr/>
        </p:nvSpPr>
        <p:spPr>
          <a:xfrm>
            <a:off x="9814255" y="6419088"/>
            <a:ext cx="1828800" cy="329184"/>
          </a:xfrm>
          <a:prstGeom prst="rect">
            <a:avLst/>
          </a:prstGeom>
          <a:noFill/>
        </p:spPr>
        <p:txBody>
          <a:bodyPr wrap="square" lIns="0" tIns="0" rIns="0" bIns="0" anchor="ctr">
            <a:spAutoFit/>
          </a:bodyPr>
          <a:lstStyle/>
          <a:p>
            <a:pPr algn="r">
              <a:lnSpc>
                <a:spcPct val="110000"/>
              </a:lnSpc>
              <a:spcAft>
                <a:spcPts val="400"/>
              </a:spcAft>
            </a:pPr>
            <a:r>
              <a:rPr sz="1300" b="1" i="0">
                <a:solidFill>
                  <a:srgbClr val="1A1A1A"/>
                </a:solidFill>
                <a:latin typeface="Calibri"/>
              </a:rPr>
              <a:t>BLACKROCK</a:t>
            </a:r>
          </a:p>
        </p:txBody>
      </p:sp>
      <p:sp>
        <p:nvSpPr>
          <p:cNvPr id="7" name="TextBox 6"/>
          <p:cNvSpPr txBox="1"/>
          <p:nvPr/>
        </p:nvSpPr>
        <p:spPr>
          <a:xfrm>
            <a:off x="5730087" y="6446520"/>
            <a:ext cx="731520" cy="274320"/>
          </a:xfrm>
          <a:prstGeom prst="rect">
            <a:avLst/>
          </a:prstGeom>
          <a:noFill/>
        </p:spPr>
        <p:txBody>
          <a:bodyPr wrap="square" lIns="0" tIns="0" rIns="0" bIns="0" anchor="ctr">
            <a:spAutoFit/>
          </a:bodyPr>
          <a:lstStyle/>
          <a:p>
            <a:pPr algn="ctr">
              <a:lnSpc>
                <a:spcPct val="110000"/>
              </a:lnSpc>
              <a:spcAft>
                <a:spcPts val="400"/>
              </a:spcAft>
            </a:pPr>
            <a:r>
              <a:rPr sz="1000" b="0" i="0">
                <a:solidFill>
                  <a:srgbClr val="6E6E6E"/>
                </a:solidFill>
                <a:latin typeface="Calibri"/>
              </a:rPr>
              <a:t>2</a:t>
            </a:r>
          </a:p>
        </p:txBody>
      </p:sp>
      <p:sp>
        <p:nvSpPr>
          <p:cNvPr id="8" name="TextBox 7"/>
          <p:cNvSpPr txBox="1"/>
          <p:nvPr/>
        </p:nvSpPr>
        <p:spPr>
          <a:xfrm>
            <a:off x="548640" y="1463040"/>
            <a:ext cx="11247120" cy="592726"/>
          </a:xfrm>
          <a:prstGeom prst="rect">
            <a:avLst/>
          </a:prstGeom>
          <a:noFill/>
        </p:spPr>
        <p:txBody>
          <a:bodyPr wrap="square" lIns="0" tIns="0" rIns="0" bIns="0" anchor="t">
            <a:spAutoFit/>
          </a:bodyPr>
          <a:lstStyle/>
          <a:p>
            <a:pPr algn="l">
              <a:lnSpc>
                <a:spcPct val="125000"/>
              </a:lnSpc>
              <a:spcAft>
                <a:spcPts val="400"/>
              </a:spcAft>
            </a:pPr>
            <a:r>
              <a:rPr lang="en-US" sz="1600" b="0" i="0" dirty="0">
                <a:solidFill>
                  <a:schemeClr val="tx2"/>
                </a:solidFill>
                <a:latin typeface="Calibri"/>
              </a:rPr>
              <a:t>To control the investment process</a:t>
            </a:r>
            <a:r>
              <a:rPr lang="en-US" sz="1600" dirty="0">
                <a:solidFill>
                  <a:schemeClr val="tx2"/>
                </a:solidFill>
                <a:latin typeface="Calibri"/>
              </a:rPr>
              <a:t>, we model </a:t>
            </a:r>
            <a:r>
              <a:rPr sz="1600" b="0" i="0" dirty="0">
                <a:solidFill>
                  <a:schemeClr val="tx2"/>
                </a:solidFill>
                <a:latin typeface="Calibri"/>
              </a:rPr>
              <a:t>a </a:t>
            </a:r>
            <a:r>
              <a:rPr lang="en-US" sz="1600" dirty="0">
                <a:solidFill>
                  <a:schemeClr val="tx2"/>
                </a:solidFill>
                <a:latin typeface="Calibri"/>
              </a:rPr>
              <a:t>weekly </a:t>
            </a:r>
            <a:r>
              <a:rPr sz="1600" b="0" i="0" dirty="0">
                <a:solidFill>
                  <a:schemeClr val="tx2"/>
                </a:solidFill>
                <a:latin typeface="Calibri"/>
              </a:rPr>
              <a:t>meeting — where different people have different jobs, and each one is answerable for their own</a:t>
            </a:r>
            <a:r>
              <a:rPr lang="en-US" sz="1600" b="0" i="0" dirty="0">
                <a:solidFill>
                  <a:schemeClr val="tx2"/>
                </a:solidFill>
                <a:latin typeface="Calibri"/>
              </a:rPr>
              <a:t> : analysts, a PM and a risk manager.</a:t>
            </a:r>
            <a:endParaRPr sz="1600" b="0" i="0" dirty="0">
              <a:solidFill>
                <a:schemeClr val="tx2"/>
              </a:solidFill>
              <a:latin typeface="Calibri"/>
            </a:endParaRPr>
          </a:p>
        </p:txBody>
      </p:sp>
      <p:sp>
        <p:nvSpPr>
          <p:cNvPr id="9" name="Rectangle 8"/>
          <p:cNvSpPr/>
          <p:nvPr/>
        </p:nvSpPr>
        <p:spPr>
          <a:xfrm>
            <a:off x="548640" y="2362200"/>
            <a:ext cx="3200400" cy="2286000"/>
          </a:xfrm>
          <a:prstGeom prst="rect">
            <a:avLst/>
          </a:prstGeom>
          <a:solidFill>
            <a:srgbClr val="FFFFFF"/>
          </a:solidFill>
          <a:ln w="15875">
            <a:solidFill>
              <a:srgbClr val="DDD5C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548640" y="2352040"/>
            <a:ext cx="3200400" cy="64008"/>
          </a:xfrm>
          <a:prstGeom prst="rect">
            <a:avLst/>
          </a:prstGeom>
          <a:solidFill>
            <a:srgbClr val="3B7E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777240" y="2608072"/>
            <a:ext cx="2743200" cy="411480"/>
          </a:xfrm>
          <a:prstGeom prst="rect">
            <a:avLst/>
          </a:prstGeom>
          <a:noFill/>
        </p:spPr>
        <p:txBody>
          <a:bodyPr wrap="square" lIns="0" tIns="0" rIns="0" bIns="0" anchor="t">
            <a:spAutoFit/>
          </a:bodyPr>
          <a:lstStyle/>
          <a:p>
            <a:pPr algn="l">
              <a:lnSpc>
                <a:spcPct val="110000"/>
              </a:lnSpc>
              <a:spcAft>
                <a:spcPts val="400"/>
              </a:spcAft>
            </a:pPr>
            <a:r>
              <a:rPr sz="2600" b="1" i="0">
                <a:solidFill>
                  <a:srgbClr val="003262"/>
                </a:solidFill>
                <a:latin typeface="Calibri"/>
              </a:rPr>
              <a:t>BELIEVE</a:t>
            </a:r>
          </a:p>
        </p:txBody>
      </p:sp>
      <p:sp>
        <p:nvSpPr>
          <p:cNvPr id="12" name="TextBox 11"/>
          <p:cNvSpPr txBox="1"/>
          <p:nvPr/>
        </p:nvSpPr>
        <p:spPr>
          <a:xfrm>
            <a:off x="777240" y="3101848"/>
            <a:ext cx="2743200" cy="219456"/>
          </a:xfrm>
          <a:prstGeom prst="rect">
            <a:avLst/>
          </a:prstGeom>
          <a:noFill/>
        </p:spPr>
        <p:txBody>
          <a:bodyPr wrap="square" lIns="0" tIns="0" rIns="0" bIns="0" anchor="t">
            <a:spAutoFit/>
          </a:bodyPr>
          <a:lstStyle/>
          <a:p>
            <a:pPr algn="l">
              <a:lnSpc>
                <a:spcPct val="110000"/>
              </a:lnSpc>
              <a:spcAft>
                <a:spcPts val="400"/>
              </a:spcAft>
            </a:pPr>
            <a:r>
              <a:rPr sz="1200" b="1" i="0">
                <a:solidFill>
                  <a:srgbClr val="3B7EA1"/>
                </a:solidFill>
                <a:latin typeface="Calibri"/>
              </a:rPr>
              <a:t>The analysts</a:t>
            </a:r>
          </a:p>
        </p:txBody>
      </p:sp>
      <p:sp>
        <p:nvSpPr>
          <p:cNvPr id="13" name="TextBox 12"/>
          <p:cNvSpPr txBox="1"/>
          <p:nvPr/>
        </p:nvSpPr>
        <p:spPr>
          <a:xfrm>
            <a:off x="777240" y="3422904"/>
            <a:ext cx="2743200" cy="868507"/>
          </a:xfrm>
          <a:prstGeom prst="rect">
            <a:avLst/>
          </a:prstGeom>
          <a:noFill/>
        </p:spPr>
        <p:txBody>
          <a:bodyPr wrap="square" lIns="0" tIns="0" rIns="0" bIns="0" anchor="t">
            <a:spAutoFit/>
          </a:bodyPr>
          <a:lstStyle/>
          <a:p>
            <a:pPr algn="l">
              <a:lnSpc>
                <a:spcPct val="125000"/>
              </a:lnSpc>
              <a:spcAft>
                <a:spcPts val="400"/>
              </a:spcAft>
            </a:pPr>
            <a:r>
              <a:rPr sz="1150" b="0" i="0" dirty="0">
                <a:solidFill>
                  <a:srgbClr val="1A1A1A"/>
                </a:solidFill>
                <a:latin typeface="Calibri"/>
              </a:rPr>
              <a:t>Each </a:t>
            </a:r>
            <a:r>
              <a:rPr lang="en-US" sz="1150" b="0" i="0" dirty="0">
                <a:solidFill>
                  <a:srgbClr val="1A1A1A"/>
                </a:solidFill>
                <a:latin typeface="Calibri"/>
              </a:rPr>
              <a:t>analyst</a:t>
            </a:r>
            <a:r>
              <a:rPr sz="1150" b="0" i="0" dirty="0">
                <a:solidFill>
                  <a:srgbClr val="1A1A1A"/>
                </a:solidFill>
                <a:latin typeface="Calibri"/>
              </a:rPr>
              <a:t> watches a single force in the world — inflation, jobs, the Fed's balance sheet</a:t>
            </a:r>
            <a:r>
              <a:rPr lang="en-US" sz="1150" b="0" i="0" dirty="0">
                <a:solidFill>
                  <a:srgbClr val="1A1A1A"/>
                </a:solidFill>
                <a:latin typeface="Calibri"/>
              </a:rPr>
              <a:t>, the VIX </a:t>
            </a:r>
            <a:r>
              <a:rPr sz="1150" b="0" i="0" dirty="0">
                <a:solidFill>
                  <a:srgbClr val="1A1A1A"/>
                </a:solidFill>
                <a:latin typeface="Calibri"/>
              </a:rPr>
              <a:t>— and says what it will do next. Nothing else.</a:t>
            </a:r>
          </a:p>
        </p:txBody>
      </p:sp>
      <p:sp>
        <p:nvSpPr>
          <p:cNvPr id="14" name="Rectangle 13"/>
          <p:cNvSpPr/>
          <p:nvPr/>
        </p:nvSpPr>
        <p:spPr>
          <a:xfrm>
            <a:off x="4572000" y="2362200"/>
            <a:ext cx="3200400" cy="2286000"/>
          </a:xfrm>
          <a:prstGeom prst="rect">
            <a:avLst/>
          </a:prstGeom>
          <a:solidFill>
            <a:srgbClr val="FFFFFF"/>
          </a:solidFill>
          <a:ln w="15875">
            <a:solidFill>
              <a:srgbClr val="DDD5C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4572000" y="2352040"/>
            <a:ext cx="3200400" cy="64008"/>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4800600" y="2608072"/>
            <a:ext cx="2743200" cy="411480"/>
          </a:xfrm>
          <a:prstGeom prst="rect">
            <a:avLst/>
          </a:prstGeom>
          <a:noFill/>
        </p:spPr>
        <p:txBody>
          <a:bodyPr wrap="square" lIns="0" tIns="0" rIns="0" bIns="0" anchor="t">
            <a:spAutoFit/>
          </a:bodyPr>
          <a:lstStyle/>
          <a:p>
            <a:pPr algn="l">
              <a:lnSpc>
                <a:spcPct val="110000"/>
              </a:lnSpc>
              <a:spcAft>
                <a:spcPts val="400"/>
              </a:spcAft>
            </a:pPr>
            <a:r>
              <a:rPr sz="2600" b="1" i="0">
                <a:solidFill>
                  <a:srgbClr val="003262"/>
                </a:solidFill>
                <a:latin typeface="Calibri"/>
              </a:rPr>
              <a:t>ACT</a:t>
            </a:r>
          </a:p>
        </p:txBody>
      </p:sp>
      <p:sp>
        <p:nvSpPr>
          <p:cNvPr id="17" name="TextBox 16"/>
          <p:cNvSpPr txBox="1"/>
          <p:nvPr/>
        </p:nvSpPr>
        <p:spPr>
          <a:xfrm>
            <a:off x="4800600" y="3101848"/>
            <a:ext cx="2743200" cy="193002"/>
          </a:xfrm>
          <a:prstGeom prst="rect">
            <a:avLst/>
          </a:prstGeom>
          <a:noFill/>
        </p:spPr>
        <p:txBody>
          <a:bodyPr wrap="square" lIns="0" tIns="0" rIns="0" bIns="0" anchor="t">
            <a:spAutoFit/>
          </a:bodyPr>
          <a:lstStyle/>
          <a:p>
            <a:pPr algn="l">
              <a:lnSpc>
                <a:spcPct val="110000"/>
              </a:lnSpc>
              <a:spcAft>
                <a:spcPts val="400"/>
              </a:spcAft>
            </a:pPr>
            <a:r>
              <a:rPr sz="1200" b="1" i="0" dirty="0">
                <a:solidFill>
                  <a:srgbClr val="FDB515"/>
                </a:solidFill>
                <a:latin typeface="Calibri"/>
              </a:rPr>
              <a:t>The PM</a:t>
            </a:r>
            <a:r>
              <a:rPr lang="en-US" sz="1200" b="1" i="0" dirty="0">
                <a:solidFill>
                  <a:srgbClr val="FDB515"/>
                </a:solidFill>
                <a:latin typeface="Calibri"/>
              </a:rPr>
              <a:t>s</a:t>
            </a:r>
            <a:endParaRPr sz="1200" b="1" i="0" dirty="0">
              <a:solidFill>
                <a:srgbClr val="FDB515"/>
              </a:solidFill>
              <a:latin typeface="Calibri"/>
            </a:endParaRPr>
          </a:p>
        </p:txBody>
      </p:sp>
      <p:sp>
        <p:nvSpPr>
          <p:cNvPr id="18" name="TextBox 17"/>
          <p:cNvSpPr txBox="1"/>
          <p:nvPr/>
        </p:nvSpPr>
        <p:spPr>
          <a:xfrm>
            <a:off x="4800600" y="3422904"/>
            <a:ext cx="2743200" cy="868507"/>
          </a:xfrm>
          <a:prstGeom prst="rect">
            <a:avLst/>
          </a:prstGeom>
          <a:noFill/>
        </p:spPr>
        <p:txBody>
          <a:bodyPr wrap="square" lIns="0" tIns="0" rIns="0" bIns="0" anchor="t">
            <a:spAutoFit/>
          </a:bodyPr>
          <a:lstStyle/>
          <a:p>
            <a:pPr algn="l">
              <a:lnSpc>
                <a:spcPct val="125000"/>
              </a:lnSpc>
              <a:spcAft>
                <a:spcPts val="400"/>
              </a:spcAft>
            </a:pPr>
            <a:r>
              <a:rPr sz="1150" b="0" i="0" dirty="0">
                <a:solidFill>
                  <a:srgbClr val="1A1A1A"/>
                </a:solidFill>
                <a:latin typeface="Calibri"/>
              </a:rPr>
              <a:t>Listens to </a:t>
            </a:r>
            <a:r>
              <a:rPr lang="en-US" sz="1150" dirty="0">
                <a:solidFill>
                  <a:srgbClr val="1A1A1A"/>
                </a:solidFill>
                <a:latin typeface="Calibri"/>
              </a:rPr>
              <a:t>analysts output </a:t>
            </a:r>
            <a:r>
              <a:rPr sz="1150" b="0" i="0" dirty="0">
                <a:solidFill>
                  <a:srgbClr val="1A1A1A"/>
                </a:solidFill>
                <a:latin typeface="Calibri"/>
              </a:rPr>
              <a:t>and turns their beliefs into one trade: the one that captures what they collectively think and hedges away everything else.</a:t>
            </a:r>
          </a:p>
        </p:txBody>
      </p:sp>
      <p:sp>
        <p:nvSpPr>
          <p:cNvPr id="19" name="Rectangle 18"/>
          <p:cNvSpPr/>
          <p:nvPr/>
        </p:nvSpPr>
        <p:spPr>
          <a:xfrm>
            <a:off x="8595360" y="2362200"/>
            <a:ext cx="3200400" cy="2286000"/>
          </a:xfrm>
          <a:prstGeom prst="rect">
            <a:avLst/>
          </a:prstGeom>
          <a:solidFill>
            <a:srgbClr val="FFFFFF"/>
          </a:solidFill>
          <a:ln w="15875">
            <a:solidFill>
              <a:srgbClr val="DDD5C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8595360" y="2362200"/>
            <a:ext cx="3200400" cy="64008"/>
          </a:xfrm>
          <a:prstGeom prst="rect">
            <a:avLst/>
          </a:prstGeom>
          <a:solidFill>
            <a:srgbClr val="3B7E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8823960" y="2618232"/>
            <a:ext cx="2743200" cy="411480"/>
          </a:xfrm>
          <a:prstGeom prst="rect">
            <a:avLst/>
          </a:prstGeom>
          <a:noFill/>
        </p:spPr>
        <p:txBody>
          <a:bodyPr wrap="square" lIns="0" tIns="0" rIns="0" bIns="0" anchor="t">
            <a:spAutoFit/>
          </a:bodyPr>
          <a:lstStyle/>
          <a:p>
            <a:pPr algn="l">
              <a:lnSpc>
                <a:spcPct val="110000"/>
              </a:lnSpc>
              <a:spcAft>
                <a:spcPts val="400"/>
              </a:spcAft>
            </a:pPr>
            <a:r>
              <a:rPr sz="2600" b="1" i="0">
                <a:solidFill>
                  <a:srgbClr val="003262"/>
                </a:solidFill>
                <a:latin typeface="Calibri"/>
              </a:rPr>
              <a:t>SURVIVE</a:t>
            </a:r>
          </a:p>
        </p:txBody>
      </p:sp>
      <p:sp>
        <p:nvSpPr>
          <p:cNvPr id="22" name="TextBox 21"/>
          <p:cNvSpPr txBox="1"/>
          <p:nvPr/>
        </p:nvSpPr>
        <p:spPr>
          <a:xfrm>
            <a:off x="8823960" y="3112008"/>
            <a:ext cx="2743200" cy="219456"/>
          </a:xfrm>
          <a:prstGeom prst="rect">
            <a:avLst/>
          </a:prstGeom>
          <a:noFill/>
        </p:spPr>
        <p:txBody>
          <a:bodyPr wrap="square" lIns="0" tIns="0" rIns="0" bIns="0" anchor="t">
            <a:spAutoFit/>
          </a:bodyPr>
          <a:lstStyle/>
          <a:p>
            <a:pPr algn="l">
              <a:lnSpc>
                <a:spcPct val="110000"/>
              </a:lnSpc>
              <a:spcAft>
                <a:spcPts val="400"/>
              </a:spcAft>
            </a:pPr>
            <a:r>
              <a:rPr sz="1200" b="1" i="0">
                <a:solidFill>
                  <a:srgbClr val="3B7EA1"/>
                </a:solidFill>
                <a:latin typeface="Calibri"/>
              </a:rPr>
              <a:t>The fund</a:t>
            </a:r>
          </a:p>
        </p:txBody>
      </p:sp>
      <p:sp>
        <p:nvSpPr>
          <p:cNvPr id="23" name="TextBox 22"/>
          <p:cNvSpPr txBox="1"/>
          <p:nvPr/>
        </p:nvSpPr>
        <p:spPr>
          <a:xfrm>
            <a:off x="8823960" y="3422904"/>
            <a:ext cx="2743200" cy="1097280"/>
          </a:xfrm>
          <a:prstGeom prst="rect">
            <a:avLst/>
          </a:prstGeom>
          <a:noFill/>
        </p:spPr>
        <p:txBody>
          <a:bodyPr wrap="square" lIns="0" tIns="0" rIns="0" bIns="0" anchor="t">
            <a:spAutoFit/>
          </a:bodyPr>
          <a:lstStyle/>
          <a:p>
            <a:pPr algn="l">
              <a:lnSpc>
                <a:spcPct val="125000"/>
              </a:lnSpc>
              <a:spcAft>
                <a:spcPts val="400"/>
              </a:spcAft>
            </a:pPr>
            <a:r>
              <a:rPr sz="1150" b="0" i="0">
                <a:solidFill>
                  <a:srgbClr val="1A1A1A"/>
                </a:solidFill>
                <a:latin typeface="Calibri"/>
              </a:rPr>
              <a:t>Decides how much risk the trade gets — by how sure it is, how risky it is, and how much it overlaps everything else we hold.</a:t>
            </a:r>
          </a:p>
        </p:txBody>
      </p:sp>
      <p:sp>
        <p:nvSpPr>
          <p:cNvPr id="24" name="Right Arrow 23"/>
          <p:cNvSpPr/>
          <p:nvPr/>
        </p:nvSpPr>
        <p:spPr>
          <a:xfrm>
            <a:off x="3840480" y="3357880"/>
            <a:ext cx="640080" cy="237744"/>
          </a:xfrm>
          <a:prstGeom prst="rightArrow">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ight Arrow 25"/>
          <p:cNvSpPr/>
          <p:nvPr/>
        </p:nvSpPr>
        <p:spPr>
          <a:xfrm>
            <a:off x="7863840" y="3357880"/>
            <a:ext cx="640080" cy="237744"/>
          </a:xfrm>
          <a:prstGeom prst="rightArrow">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548640" y="5071981"/>
            <a:ext cx="10007600" cy="284950"/>
          </a:xfrm>
          <a:prstGeom prst="rect">
            <a:avLst/>
          </a:prstGeom>
          <a:noFill/>
        </p:spPr>
        <p:txBody>
          <a:bodyPr wrap="square" lIns="0" tIns="0" rIns="0" bIns="0" anchor="t">
            <a:spAutoFit/>
          </a:bodyPr>
          <a:lstStyle/>
          <a:p>
            <a:pPr algn="l">
              <a:lnSpc>
                <a:spcPct val="125000"/>
              </a:lnSpc>
              <a:spcAft>
                <a:spcPts val="400"/>
              </a:spcAft>
            </a:pPr>
            <a:r>
              <a:rPr sz="1600" b="0" i="0" dirty="0">
                <a:solidFill>
                  <a:srgbClr val="003262"/>
                </a:solidFill>
                <a:latin typeface="Calibri"/>
              </a:rPr>
              <a:t>Each layer talks to the next through one fixed handoff, and never reaches inside the others.</a:t>
            </a:r>
            <a:endParaRPr sz="1600" b="1" i="0" dirty="0">
              <a:solidFill>
                <a:srgbClr val="003262"/>
              </a:solidFill>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10896"/>
            <a:ext cx="11094415" cy="219456"/>
          </a:xfrm>
          <a:prstGeom prst="rect">
            <a:avLst/>
          </a:prstGeom>
          <a:noFill/>
        </p:spPr>
        <p:txBody>
          <a:bodyPr wrap="square" lIns="0" tIns="0" rIns="0" bIns="0" anchor="t">
            <a:spAutoFit/>
          </a:bodyPr>
          <a:lstStyle/>
          <a:p>
            <a:pPr algn="l">
              <a:lnSpc>
                <a:spcPct val="110000"/>
              </a:lnSpc>
              <a:spcAft>
                <a:spcPts val="400"/>
              </a:spcAft>
            </a:pPr>
            <a:r>
              <a:rPr sz="1050" b="1" i="0" dirty="0">
                <a:solidFill>
                  <a:srgbClr val="3B7EA1"/>
                </a:solidFill>
                <a:latin typeface="Calibri"/>
              </a:rPr>
              <a:t>THE MACHINERY, ONCE</a:t>
            </a:r>
          </a:p>
        </p:txBody>
      </p:sp>
      <p:sp>
        <p:nvSpPr>
          <p:cNvPr id="3" name="TextBox 2"/>
          <p:cNvSpPr txBox="1"/>
          <p:nvPr/>
        </p:nvSpPr>
        <p:spPr>
          <a:xfrm>
            <a:off x="548640" y="603504"/>
            <a:ext cx="11094415" cy="418576"/>
          </a:xfrm>
          <a:prstGeom prst="rect">
            <a:avLst/>
          </a:prstGeom>
          <a:noFill/>
        </p:spPr>
        <p:txBody>
          <a:bodyPr wrap="square" lIns="0" tIns="0" rIns="0" bIns="0" anchor="t">
            <a:spAutoFit/>
          </a:bodyPr>
          <a:lstStyle/>
          <a:p>
            <a:pPr algn="l">
              <a:lnSpc>
                <a:spcPct val="105000"/>
              </a:lnSpc>
              <a:spcAft>
                <a:spcPts val="400"/>
              </a:spcAft>
            </a:pPr>
            <a:r>
              <a:rPr sz="2700" b="1" i="0" dirty="0">
                <a:solidFill>
                  <a:srgbClr val="003262"/>
                </a:solidFill>
                <a:latin typeface="Calibri"/>
              </a:rPr>
              <a:t>Meet </a:t>
            </a:r>
            <a:r>
              <a:rPr lang="en-US" sz="2700" b="1" i="0" dirty="0">
                <a:solidFill>
                  <a:srgbClr val="003262"/>
                </a:solidFill>
                <a:latin typeface="Calibri"/>
              </a:rPr>
              <a:t>the inflation</a:t>
            </a:r>
            <a:r>
              <a:rPr sz="2700" b="1" i="0" dirty="0">
                <a:solidFill>
                  <a:srgbClr val="003262"/>
                </a:solidFill>
                <a:latin typeface="Calibri"/>
              </a:rPr>
              <a:t> analyst</a:t>
            </a:r>
          </a:p>
        </p:txBody>
      </p:sp>
      <p:sp>
        <p:nvSpPr>
          <p:cNvPr id="4" name="Rectangle 3"/>
          <p:cNvSpPr/>
          <p:nvPr/>
        </p:nvSpPr>
        <p:spPr>
          <a:xfrm>
            <a:off x="548640" y="1225296"/>
            <a:ext cx="1371600" cy="50292"/>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548640" y="6345936"/>
            <a:ext cx="11094415" cy="9525"/>
          </a:xfrm>
          <a:prstGeom prst="rect">
            <a:avLst/>
          </a:prstGeom>
          <a:solidFill>
            <a:srgbClr val="DDD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640" y="6419088"/>
            <a:ext cx="2194560" cy="329184"/>
          </a:xfrm>
          <a:prstGeom prst="rect">
            <a:avLst/>
          </a:prstGeom>
          <a:noFill/>
        </p:spPr>
        <p:txBody>
          <a:bodyPr wrap="square" lIns="0" tIns="0" rIns="0" bIns="0" anchor="ctr">
            <a:spAutoFit/>
          </a:bodyPr>
          <a:lstStyle/>
          <a:p>
            <a:pPr algn="l">
              <a:lnSpc>
                <a:spcPct val="110000"/>
              </a:lnSpc>
              <a:spcAft>
                <a:spcPts val="400"/>
              </a:spcAft>
            </a:pPr>
            <a:r>
              <a:rPr sz="1500" b="1" i="0">
                <a:solidFill>
                  <a:srgbClr val="003262"/>
                </a:solidFill>
                <a:latin typeface="Calibri"/>
              </a:rPr>
              <a:t>Berkeley</a:t>
            </a:r>
            <a:r>
              <a:rPr sz="1300" b="0" i="0">
                <a:solidFill>
                  <a:srgbClr val="FDB515"/>
                </a:solidFill>
                <a:latin typeface="Calibri"/>
              </a:rPr>
              <a:t>  |  </a:t>
            </a:r>
            <a:r>
              <a:rPr sz="1100" b="1" i="0">
                <a:solidFill>
                  <a:srgbClr val="3B7EA1"/>
                </a:solidFill>
                <a:latin typeface="Calibri"/>
              </a:rPr>
              <a:t>MFE</a:t>
            </a:r>
          </a:p>
        </p:txBody>
      </p:sp>
      <p:sp>
        <p:nvSpPr>
          <p:cNvPr id="7" name="TextBox 6"/>
          <p:cNvSpPr txBox="1"/>
          <p:nvPr/>
        </p:nvSpPr>
        <p:spPr>
          <a:xfrm>
            <a:off x="9814255" y="6419088"/>
            <a:ext cx="1828800" cy="329184"/>
          </a:xfrm>
          <a:prstGeom prst="rect">
            <a:avLst/>
          </a:prstGeom>
          <a:noFill/>
        </p:spPr>
        <p:txBody>
          <a:bodyPr wrap="square" lIns="0" tIns="0" rIns="0" bIns="0" anchor="ctr">
            <a:spAutoFit/>
          </a:bodyPr>
          <a:lstStyle/>
          <a:p>
            <a:pPr algn="r">
              <a:lnSpc>
                <a:spcPct val="110000"/>
              </a:lnSpc>
              <a:spcAft>
                <a:spcPts val="400"/>
              </a:spcAft>
            </a:pPr>
            <a:r>
              <a:rPr sz="1300" b="1" i="0">
                <a:solidFill>
                  <a:srgbClr val="1A1A1A"/>
                </a:solidFill>
                <a:latin typeface="Calibri"/>
              </a:rPr>
              <a:t>BLACKROCK</a:t>
            </a:r>
          </a:p>
        </p:txBody>
      </p:sp>
      <p:sp>
        <p:nvSpPr>
          <p:cNvPr id="8" name="TextBox 7"/>
          <p:cNvSpPr txBox="1"/>
          <p:nvPr/>
        </p:nvSpPr>
        <p:spPr>
          <a:xfrm>
            <a:off x="5730087" y="6446520"/>
            <a:ext cx="731520" cy="274320"/>
          </a:xfrm>
          <a:prstGeom prst="rect">
            <a:avLst/>
          </a:prstGeom>
          <a:noFill/>
        </p:spPr>
        <p:txBody>
          <a:bodyPr wrap="square" lIns="0" tIns="0" rIns="0" bIns="0" anchor="ctr">
            <a:spAutoFit/>
          </a:bodyPr>
          <a:lstStyle/>
          <a:p>
            <a:pPr algn="ctr">
              <a:lnSpc>
                <a:spcPct val="110000"/>
              </a:lnSpc>
              <a:spcAft>
                <a:spcPts val="400"/>
              </a:spcAft>
            </a:pPr>
            <a:r>
              <a:rPr sz="1000" b="0" i="0">
                <a:solidFill>
                  <a:srgbClr val="6E6E6E"/>
                </a:solidFill>
                <a:latin typeface="Calibri"/>
              </a:rPr>
              <a:t>4</a:t>
            </a:r>
          </a:p>
        </p:txBody>
      </p:sp>
      <p:sp>
        <p:nvSpPr>
          <p:cNvPr id="9" name="TextBox 8"/>
          <p:cNvSpPr txBox="1"/>
          <p:nvPr/>
        </p:nvSpPr>
        <p:spPr>
          <a:xfrm>
            <a:off x="548640" y="1463040"/>
            <a:ext cx="11094415" cy="249364"/>
          </a:xfrm>
          <a:prstGeom prst="rect">
            <a:avLst/>
          </a:prstGeom>
          <a:noFill/>
        </p:spPr>
        <p:txBody>
          <a:bodyPr wrap="square" lIns="0" tIns="0" rIns="0" bIns="0" anchor="t">
            <a:spAutoFit/>
          </a:bodyPr>
          <a:lstStyle/>
          <a:p>
            <a:pPr algn="l">
              <a:lnSpc>
                <a:spcPct val="125000"/>
              </a:lnSpc>
              <a:spcAft>
                <a:spcPts val="400"/>
              </a:spcAft>
            </a:pPr>
            <a:r>
              <a:rPr sz="1400" b="0" i="0">
                <a:solidFill>
                  <a:schemeClr val="tx2"/>
                </a:solidFill>
                <a:latin typeface="Calibri"/>
              </a:rPr>
              <a:t>One driver in, one claim out. Every analyst in the pool is this shape.</a:t>
            </a:r>
          </a:p>
        </p:txBody>
      </p:sp>
      <p:sp>
        <p:nvSpPr>
          <p:cNvPr id="10" name="Rectangle 9"/>
          <p:cNvSpPr/>
          <p:nvPr/>
        </p:nvSpPr>
        <p:spPr>
          <a:xfrm>
            <a:off x="548640" y="2148840"/>
            <a:ext cx="1920240" cy="914400"/>
          </a:xfrm>
          <a:prstGeom prst="rect">
            <a:avLst/>
          </a:prstGeom>
          <a:solidFill>
            <a:srgbClr val="FFFFFF"/>
          </a:solidFill>
          <a:ln w="19050">
            <a:solidFill>
              <a:srgbClr val="3B7EA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685800" y="2276856"/>
            <a:ext cx="1645920" cy="670055"/>
          </a:xfrm>
          <a:prstGeom prst="rect">
            <a:avLst/>
          </a:prstGeom>
          <a:noFill/>
        </p:spPr>
        <p:txBody>
          <a:bodyPr wrap="square" lIns="0" tIns="0" rIns="0" bIns="0" anchor="t">
            <a:spAutoFit/>
          </a:bodyPr>
          <a:lstStyle/>
          <a:p>
            <a:pPr algn="l">
              <a:lnSpc>
                <a:spcPct val="115000"/>
              </a:lnSpc>
              <a:spcAft>
                <a:spcPts val="100"/>
              </a:spcAft>
            </a:pPr>
            <a:r>
              <a:rPr sz="1700" b="1" i="0" dirty="0">
                <a:solidFill>
                  <a:srgbClr val="3B7EA1"/>
                </a:solidFill>
                <a:latin typeface="Calibri"/>
              </a:rPr>
              <a:t>CPI</a:t>
            </a:r>
          </a:p>
          <a:p>
            <a:pPr algn="l">
              <a:lnSpc>
                <a:spcPct val="115000"/>
              </a:lnSpc>
              <a:spcAft>
                <a:spcPts val="100"/>
              </a:spcAft>
            </a:pPr>
            <a:r>
              <a:rPr sz="1000" b="0" i="0" dirty="0">
                <a:solidFill>
                  <a:srgbClr val="6E6E6E"/>
                </a:solidFill>
                <a:latin typeface="Calibri"/>
              </a:rPr>
              <a:t>monthly, from FRED</a:t>
            </a:r>
          </a:p>
          <a:p>
            <a:pPr algn="l">
              <a:lnSpc>
                <a:spcPct val="115000"/>
              </a:lnSpc>
              <a:spcAft>
                <a:spcPts val="100"/>
              </a:spcAft>
            </a:pPr>
            <a:r>
              <a:rPr sz="1000" b="0" i="1" dirty="0">
                <a:solidFill>
                  <a:srgbClr val="6E6E6E"/>
                </a:solidFill>
                <a:latin typeface="Calibri"/>
              </a:rPr>
              <a:t>the only number it sees</a:t>
            </a:r>
          </a:p>
        </p:txBody>
      </p:sp>
      <p:sp>
        <p:nvSpPr>
          <p:cNvPr id="14" name="Right Arrow 13"/>
          <p:cNvSpPr/>
          <p:nvPr/>
        </p:nvSpPr>
        <p:spPr>
          <a:xfrm>
            <a:off x="2560320" y="2487168"/>
            <a:ext cx="457200" cy="237744"/>
          </a:xfrm>
          <a:prstGeom prst="rightArrow">
            <a:avLst/>
          </a:prstGeom>
          <a:solidFill>
            <a:srgbClr val="3B7E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3154680" y="2148840"/>
            <a:ext cx="1417320" cy="2057400"/>
          </a:xfrm>
          <a:prstGeom prst="rect">
            <a:avLst/>
          </a:prstGeom>
          <a:no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solidFill>
                <a:schemeClr val="tx2"/>
              </a:solidFill>
            </a:endParaRPr>
          </a:p>
        </p:txBody>
      </p:sp>
      <p:sp>
        <p:nvSpPr>
          <p:cNvPr id="17" name="TextBox 16"/>
          <p:cNvSpPr txBox="1"/>
          <p:nvPr/>
        </p:nvSpPr>
        <p:spPr>
          <a:xfrm>
            <a:off x="3246120" y="2616200"/>
            <a:ext cx="1234440" cy="936923"/>
          </a:xfrm>
          <a:prstGeom prst="rect">
            <a:avLst/>
          </a:prstGeom>
          <a:noFill/>
        </p:spPr>
        <p:txBody>
          <a:bodyPr wrap="square" lIns="0" tIns="0" rIns="0" bIns="0" anchor="t">
            <a:spAutoFit/>
          </a:bodyPr>
          <a:lstStyle/>
          <a:p>
            <a:pPr algn="ctr">
              <a:lnSpc>
                <a:spcPct val="115000"/>
              </a:lnSpc>
              <a:spcAft>
                <a:spcPts val="100"/>
              </a:spcAft>
            </a:pPr>
            <a:r>
              <a:rPr lang="en-US" b="1" dirty="0">
                <a:solidFill>
                  <a:srgbClr val="3B7EA1"/>
                </a:solidFill>
              </a:rPr>
              <a:t>No Lookahead Gate</a:t>
            </a:r>
          </a:p>
        </p:txBody>
      </p:sp>
      <p:sp>
        <p:nvSpPr>
          <p:cNvPr id="18" name="Right Arrow 17"/>
          <p:cNvSpPr/>
          <p:nvPr/>
        </p:nvSpPr>
        <p:spPr>
          <a:xfrm>
            <a:off x="4663440" y="3054096"/>
            <a:ext cx="457200" cy="237744"/>
          </a:xfrm>
          <a:prstGeom prst="rightArrow">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5257800" y="2148840"/>
            <a:ext cx="2560320" cy="205740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5257800" y="2148840"/>
            <a:ext cx="2560320" cy="64008"/>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5435600" y="2377441"/>
            <a:ext cx="2199640" cy="2145203"/>
          </a:xfrm>
          <a:prstGeom prst="rect">
            <a:avLst/>
          </a:prstGeom>
          <a:noFill/>
        </p:spPr>
        <p:txBody>
          <a:bodyPr wrap="square" lIns="0" tIns="0" rIns="0" bIns="0" anchor="t">
            <a:spAutoFit/>
          </a:bodyPr>
          <a:lstStyle/>
          <a:p>
            <a:pPr algn="l">
              <a:lnSpc>
                <a:spcPct val="120000"/>
              </a:lnSpc>
              <a:spcAft>
                <a:spcPts val="600"/>
              </a:spcAft>
            </a:pPr>
            <a:r>
              <a:rPr sz="1400" b="1" i="0" dirty="0">
                <a:solidFill>
                  <a:srgbClr val="003262"/>
                </a:solidFill>
                <a:latin typeface="Calibri"/>
              </a:rPr>
              <a:t>The inflation analyst</a:t>
            </a:r>
            <a:endParaRPr lang="en-US" sz="1400" b="1" i="0" dirty="0">
              <a:solidFill>
                <a:srgbClr val="003262"/>
              </a:solidFill>
              <a:latin typeface="Calibri"/>
            </a:endParaRPr>
          </a:p>
          <a:p>
            <a:pPr algn="l">
              <a:lnSpc>
                <a:spcPct val="120000"/>
              </a:lnSpc>
              <a:spcAft>
                <a:spcPts val="600"/>
              </a:spcAft>
            </a:pPr>
            <a:r>
              <a:rPr lang="en-FR" sz="1400" b="1" i="0" dirty="0">
                <a:solidFill>
                  <a:srgbClr val="003262"/>
                </a:solidFill>
                <a:latin typeface="Calibri"/>
              </a:rPr>
              <a:t>Phase </a:t>
            </a:r>
            <a:r>
              <a:rPr lang="en-FR" sz="1400" b="1" dirty="0">
                <a:solidFill>
                  <a:srgbClr val="003262"/>
                </a:solidFill>
                <a:latin typeface="Calibri"/>
              </a:rPr>
              <a:t>1:</a:t>
            </a:r>
            <a:endParaRPr sz="1400" b="1" i="0" dirty="0">
              <a:solidFill>
                <a:srgbClr val="003262"/>
              </a:solidFill>
              <a:latin typeface="Calibri"/>
            </a:endParaRPr>
          </a:p>
          <a:p>
            <a:pPr algn="l">
              <a:lnSpc>
                <a:spcPct val="120000"/>
              </a:lnSpc>
              <a:spcAft>
                <a:spcPts val="600"/>
              </a:spcAft>
            </a:pPr>
            <a:r>
              <a:rPr sz="1100" b="0" i="0" dirty="0">
                <a:solidFill>
                  <a:srgbClr val="1A1A1A"/>
                </a:solidFill>
                <a:latin typeface="Calibri"/>
              </a:rPr>
              <a:t>It measures how fast prices are moving, and how far that is from the Fed's 2% target.</a:t>
            </a:r>
            <a:r>
              <a:rPr lang="en-US" sz="1100" b="0" i="0" dirty="0">
                <a:solidFill>
                  <a:srgbClr val="1A1A1A"/>
                </a:solidFill>
                <a:latin typeface="Calibri"/>
              </a:rPr>
              <a:t> It is the deterministic read, output a numerical vector.</a:t>
            </a:r>
          </a:p>
          <a:p>
            <a:pPr algn="l">
              <a:spcAft>
                <a:spcPts val="600"/>
              </a:spcAft>
            </a:pPr>
            <a:r>
              <a:rPr lang="en-US" sz="1100" dirty="0">
                <a:solidFill>
                  <a:srgbClr val="1A1A1A"/>
                </a:solidFill>
                <a:latin typeface="Calibri"/>
              </a:rPr>
              <a:t>Phase 2:</a:t>
            </a:r>
            <a:endParaRPr sz="1100" b="0" i="0" dirty="0">
              <a:solidFill>
                <a:srgbClr val="1A1A1A"/>
              </a:solidFill>
              <a:latin typeface="Calibri"/>
            </a:endParaRPr>
          </a:p>
          <a:p>
            <a:pPr algn="l">
              <a:spcAft>
                <a:spcPts val="600"/>
              </a:spcAft>
            </a:pPr>
            <a:r>
              <a:rPr sz="1100" b="1" i="0" dirty="0">
                <a:solidFill>
                  <a:srgbClr val="1A1A1A"/>
                </a:solidFill>
                <a:latin typeface="Calibri"/>
              </a:rPr>
              <a:t>Then</a:t>
            </a:r>
            <a:r>
              <a:rPr lang="en-US" sz="1100" dirty="0">
                <a:solidFill>
                  <a:srgbClr val="1A1A1A"/>
                </a:solidFill>
                <a:latin typeface="Calibri"/>
              </a:rPr>
              <a:t> </a:t>
            </a:r>
            <a:r>
              <a:rPr sz="1100" b="0" i="0" dirty="0">
                <a:solidFill>
                  <a:srgbClr val="1A1A1A"/>
                </a:solidFill>
                <a:latin typeface="Calibri"/>
              </a:rPr>
              <a:t>it asks </a:t>
            </a:r>
            <a:r>
              <a:rPr lang="en-US" sz="1100" b="0" i="0" dirty="0">
                <a:solidFill>
                  <a:srgbClr val="1A1A1A"/>
                </a:solidFill>
                <a:latin typeface="Calibri"/>
              </a:rPr>
              <a:t>an LLM</a:t>
            </a:r>
            <a:r>
              <a:rPr sz="1100" b="0" i="0" dirty="0">
                <a:solidFill>
                  <a:srgbClr val="1A1A1A"/>
                </a:solidFill>
                <a:latin typeface="Calibri"/>
              </a:rPr>
              <a:t> to improve on that reading.</a:t>
            </a:r>
          </a:p>
        </p:txBody>
      </p:sp>
      <p:sp>
        <p:nvSpPr>
          <p:cNvPr id="22" name="Right Arrow 21"/>
          <p:cNvSpPr/>
          <p:nvPr/>
        </p:nvSpPr>
        <p:spPr>
          <a:xfrm>
            <a:off x="7909560" y="3054096"/>
            <a:ext cx="457200" cy="237744"/>
          </a:xfrm>
          <a:prstGeom prst="rightArrow">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8503919" y="2148840"/>
            <a:ext cx="3136392" cy="2057400"/>
          </a:xfrm>
          <a:prstGeom prst="rect">
            <a:avLst/>
          </a:prstGeom>
          <a:solidFill>
            <a:srgbClr val="FFFFFF"/>
          </a:solidFill>
          <a:ln w="19050">
            <a:solidFill>
              <a:srgbClr val="00326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8732519" y="2350008"/>
            <a:ext cx="2697480" cy="1672894"/>
          </a:xfrm>
          <a:prstGeom prst="rect">
            <a:avLst/>
          </a:prstGeom>
          <a:noFill/>
        </p:spPr>
        <p:txBody>
          <a:bodyPr wrap="square" lIns="0" tIns="0" rIns="0" bIns="0" anchor="t">
            <a:spAutoFit/>
          </a:bodyPr>
          <a:lstStyle/>
          <a:p>
            <a:pPr algn="l">
              <a:lnSpc>
                <a:spcPct val="120000"/>
              </a:lnSpc>
              <a:spcAft>
                <a:spcPts val="500"/>
              </a:spcAft>
            </a:pPr>
            <a:r>
              <a:rPr sz="1050" b="1" i="0" dirty="0">
                <a:solidFill>
                  <a:srgbClr val="3B7EA1"/>
                </a:solidFill>
                <a:latin typeface="Calibri"/>
              </a:rPr>
              <a:t>Its one claim</a:t>
            </a:r>
          </a:p>
          <a:p>
            <a:pPr algn="l">
              <a:lnSpc>
                <a:spcPct val="120000"/>
              </a:lnSpc>
              <a:spcAft>
                <a:spcPts val="500"/>
              </a:spcAft>
            </a:pPr>
            <a:r>
              <a:rPr lang="en-US" sz="1900" b="1" dirty="0">
                <a:solidFill>
                  <a:srgbClr val="003262"/>
                </a:solidFill>
                <a:latin typeface="Calibri"/>
              </a:rPr>
              <a:t>I</a:t>
            </a:r>
            <a:r>
              <a:rPr sz="1900" b="1" i="0" dirty="0">
                <a:solidFill>
                  <a:srgbClr val="003262"/>
                </a:solidFill>
                <a:latin typeface="Calibri"/>
              </a:rPr>
              <a:t>nflation: up</a:t>
            </a:r>
          </a:p>
          <a:p>
            <a:pPr algn="l">
              <a:lnSpc>
                <a:spcPct val="120000"/>
              </a:lnSpc>
              <a:spcAft>
                <a:spcPts val="500"/>
              </a:spcAft>
            </a:pPr>
            <a:r>
              <a:rPr lang="en-US" sz="1200" dirty="0">
                <a:solidFill>
                  <a:srgbClr val="1A1A1A"/>
                </a:solidFill>
                <a:latin typeface="Calibri"/>
              </a:rPr>
              <a:t>Conviction :</a:t>
            </a:r>
            <a:r>
              <a:rPr sz="1200" b="0" i="0" dirty="0">
                <a:solidFill>
                  <a:srgbClr val="1A1A1A"/>
                </a:solidFill>
                <a:latin typeface="Calibri"/>
              </a:rPr>
              <a:t> 0.46 out of 1</a:t>
            </a:r>
          </a:p>
          <a:p>
            <a:pPr algn="l">
              <a:lnSpc>
                <a:spcPct val="120000"/>
              </a:lnSpc>
              <a:spcAft>
                <a:spcPts val="500"/>
              </a:spcAft>
            </a:pPr>
            <a:r>
              <a:rPr lang="en-US" sz="1200" dirty="0">
                <a:solidFill>
                  <a:srgbClr val="1A1A1A"/>
                </a:solidFill>
                <a:latin typeface="Calibri"/>
              </a:rPr>
              <a:t>Horizon</a:t>
            </a:r>
            <a:r>
              <a:rPr sz="1200" b="0" i="0" dirty="0">
                <a:solidFill>
                  <a:srgbClr val="1A1A1A"/>
                </a:solidFill>
                <a:latin typeface="Calibri"/>
              </a:rPr>
              <a:t> </a:t>
            </a:r>
            <a:r>
              <a:rPr lang="en-US" sz="1200" dirty="0">
                <a:solidFill>
                  <a:srgbClr val="1A1A1A"/>
                </a:solidFill>
                <a:latin typeface="Calibri"/>
              </a:rPr>
              <a:t>:</a:t>
            </a:r>
            <a:r>
              <a:rPr sz="1200" b="0" i="0" dirty="0">
                <a:solidFill>
                  <a:srgbClr val="1A1A1A"/>
                </a:solidFill>
                <a:latin typeface="Calibri"/>
              </a:rPr>
              <a:t> about a quarter</a:t>
            </a:r>
          </a:p>
          <a:p>
            <a:pPr algn="l">
              <a:lnSpc>
                <a:spcPct val="120000"/>
              </a:lnSpc>
              <a:spcAft>
                <a:spcPts val="500"/>
              </a:spcAft>
            </a:pPr>
            <a:r>
              <a:rPr lang="en-US" sz="1200" b="0" dirty="0">
                <a:latin typeface="Calibri"/>
              </a:rPr>
              <a:t>Why</a:t>
            </a:r>
            <a:r>
              <a:rPr sz="1200" b="0" dirty="0">
                <a:latin typeface="Calibri"/>
              </a:rPr>
              <a:t> </a:t>
            </a:r>
            <a:r>
              <a:rPr lang="en-US" sz="1200" dirty="0">
                <a:latin typeface="Calibri"/>
              </a:rPr>
              <a:t>:</a:t>
            </a:r>
            <a:r>
              <a:rPr sz="1200" b="0" dirty="0">
                <a:latin typeface="Calibri"/>
              </a:rPr>
              <a:t> “prices are up 3.1% on the year, and still accelerating”</a:t>
            </a:r>
          </a:p>
        </p:txBody>
      </p:sp>
      <p:sp>
        <p:nvSpPr>
          <p:cNvPr id="26" name="Rectangle 25"/>
          <p:cNvSpPr/>
          <p:nvPr/>
        </p:nvSpPr>
        <p:spPr>
          <a:xfrm>
            <a:off x="548640" y="4940236"/>
            <a:ext cx="50292" cy="244412"/>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711200" y="4927230"/>
            <a:ext cx="4886960" cy="240515"/>
          </a:xfrm>
          <a:prstGeom prst="rect">
            <a:avLst/>
          </a:prstGeom>
          <a:noFill/>
        </p:spPr>
        <p:txBody>
          <a:bodyPr wrap="square" lIns="0" tIns="0" rIns="0" bIns="0" anchor="t">
            <a:spAutoFit/>
          </a:bodyPr>
          <a:lstStyle/>
          <a:p>
            <a:pPr algn="l">
              <a:lnSpc>
                <a:spcPct val="125000"/>
              </a:lnSpc>
              <a:spcAft>
                <a:spcPts val="400"/>
              </a:spcAft>
            </a:pPr>
            <a:r>
              <a:rPr sz="1350" b="1" i="0">
                <a:solidFill>
                  <a:srgbClr val="003262"/>
                </a:solidFill>
                <a:latin typeface="Calibri"/>
              </a:rPr>
              <a:t>Seven analysts, one force each. </a:t>
            </a:r>
            <a:r>
              <a:rPr sz="1350" b="0" i="0">
                <a:solidFill>
                  <a:srgbClr val="003262"/>
                </a:solidFill>
                <a:latin typeface="Calibri"/>
              </a:rPr>
              <a:t>None of them knows what a trade is.</a:t>
            </a:r>
          </a:p>
        </p:txBody>
      </p:sp>
      <p:sp>
        <p:nvSpPr>
          <p:cNvPr id="29" name="Rectangle 28">
            <a:extLst>
              <a:ext uri="{FF2B5EF4-FFF2-40B4-BE49-F238E27FC236}">
                <a16:creationId xmlns:a16="http://schemas.microsoft.com/office/drawing/2014/main" id="{C9BE057A-4480-7370-4A5B-98BBEBB8706A}"/>
              </a:ext>
            </a:extLst>
          </p:cNvPr>
          <p:cNvSpPr/>
          <p:nvPr/>
        </p:nvSpPr>
        <p:spPr>
          <a:xfrm>
            <a:off x="548640" y="3282696"/>
            <a:ext cx="1920240" cy="914400"/>
          </a:xfrm>
          <a:prstGeom prst="rect">
            <a:avLst/>
          </a:prstGeom>
          <a:solidFill>
            <a:srgbClr val="FFFFFF"/>
          </a:solidFill>
          <a:ln w="19050">
            <a:solidFill>
              <a:srgbClr val="3B7EA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a:extLst>
              <a:ext uri="{FF2B5EF4-FFF2-40B4-BE49-F238E27FC236}">
                <a16:creationId xmlns:a16="http://schemas.microsoft.com/office/drawing/2014/main" id="{7FE1D5CA-817E-6717-13AE-F5DB3B5D0DCF}"/>
              </a:ext>
            </a:extLst>
          </p:cNvPr>
          <p:cNvSpPr txBox="1"/>
          <p:nvPr/>
        </p:nvSpPr>
        <p:spPr>
          <a:xfrm>
            <a:off x="685800" y="3410712"/>
            <a:ext cx="1645920" cy="480260"/>
          </a:xfrm>
          <a:prstGeom prst="rect">
            <a:avLst/>
          </a:prstGeom>
          <a:noFill/>
        </p:spPr>
        <p:txBody>
          <a:bodyPr wrap="square" lIns="0" tIns="0" rIns="0" bIns="0" anchor="t">
            <a:spAutoFit/>
          </a:bodyPr>
          <a:lstStyle/>
          <a:p>
            <a:pPr algn="l">
              <a:lnSpc>
                <a:spcPct val="115000"/>
              </a:lnSpc>
              <a:spcAft>
                <a:spcPts val="100"/>
              </a:spcAft>
            </a:pPr>
            <a:r>
              <a:rPr lang="en-US" sz="1700" b="1" dirty="0">
                <a:solidFill>
                  <a:srgbClr val="3B7EA1"/>
                </a:solidFill>
                <a:latin typeface="Calibri"/>
              </a:rPr>
              <a:t>FOMC TEXT</a:t>
            </a:r>
            <a:endParaRPr sz="1700" b="1" i="0" dirty="0">
              <a:solidFill>
                <a:srgbClr val="3B7EA1"/>
              </a:solidFill>
              <a:latin typeface="Calibri"/>
            </a:endParaRPr>
          </a:p>
          <a:p>
            <a:pPr algn="l">
              <a:lnSpc>
                <a:spcPct val="115000"/>
              </a:lnSpc>
              <a:spcAft>
                <a:spcPts val="100"/>
              </a:spcAft>
            </a:pPr>
            <a:r>
              <a:rPr lang="en-US" sz="1000" dirty="0">
                <a:solidFill>
                  <a:srgbClr val="6E6E6E"/>
                </a:solidFill>
                <a:latin typeface="Calibri"/>
              </a:rPr>
              <a:t>Meeting frequency</a:t>
            </a:r>
            <a:endParaRPr sz="1000" b="0" i="1" dirty="0">
              <a:solidFill>
                <a:srgbClr val="6E6E6E"/>
              </a:solidFill>
              <a:latin typeface="Calibri"/>
            </a:endParaRPr>
          </a:p>
        </p:txBody>
      </p:sp>
      <p:sp>
        <p:nvSpPr>
          <p:cNvPr id="31" name="Right Arrow 30">
            <a:extLst>
              <a:ext uri="{FF2B5EF4-FFF2-40B4-BE49-F238E27FC236}">
                <a16:creationId xmlns:a16="http://schemas.microsoft.com/office/drawing/2014/main" id="{879D9AEE-024B-A938-8A25-A80E628AF8C7}"/>
              </a:ext>
            </a:extLst>
          </p:cNvPr>
          <p:cNvSpPr/>
          <p:nvPr/>
        </p:nvSpPr>
        <p:spPr>
          <a:xfrm>
            <a:off x="2565907" y="3648456"/>
            <a:ext cx="457200" cy="237744"/>
          </a:xfrm>
          <a:prstGeom prst="rightArrow">
            <a:avLst/>
          </a:prstGeom>
          <a:solidFill>
            <a:srgbClr val="3B7E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94415" cy="548640"/>
          </a:xfrm>
          <a:prstGeom prst="rect">
            <a:avLst/>
          </a:prstGeom>
          <a:noFill/>
        </p:spPr>
        <p:txBody>
          <a:bodyPr wrap="square" lIns="0" tIns="0" rIns="0" bIns="0" anchor="t">
            <a:spAutoFit/>
          </a:bodyPr>
          <a:lstStyle/>
          <a:p>
            <a:pPr algn="l">
              <a:lnSpc>
                <a:spcPct val="105000"/>
              </a:lnSpc>
              <a:spcAft>
                <a:spcPts val="400"/>
              </a:spcAft>
            </a:pPr>
            <a:r>
              <a:rPr sz="2700" b="1" i="0">
                <a:solidFill>
                  <a:srgbClr val="003262"/>
                </a:solidFill>
                <a:latin typeface="Calibri"/>
              </a:rPr>
              <a:t>We built every analyst twice</a:t>
            </a:r>
          </a:p>
        </p:txBody>
      </p:sp>
      <p:sp>
        <p:nvSpPr>
          <p:cNvPr id="3" name="Rectangle 2"/>
          <p:cNvSpPr/>
          <p:nvPr/>
        </p:nvSpPr>
        <p:spPr>
          <a:xfrm>
            <a:off x="548640" y="1225296"/>
            <a:ext cx="1371600" cy="50292"/>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548640" y="6345936"/>
            <a:ext cx="11094415" cy="9525"/>
          </a:xfrm>
          <a:prstGeom prst="rect">
            <a:avLst/>
          </a:prstGeom>
          <a:solidFill>
            <a:srgbClr val="DDD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48640" y="6419088"/>
            <a:ext cx="2194560" cy="329184"/>
          </a:xfrm>
          <a:prstGeom prst="rect">
            <a:avLst/>
          </a:prstGeom>
          <a:noFill/>
        </p:spPr>
        <p:txBody>
          <a:bodyPr wrap="square" lIns="0" tIns="0" rIns="0" bIns="0" anchor="ctr">
            <a:spAutoFit/>
          </a:bodyPr>
          <a:lstStyle/>
          <a:p>
            <a:pPr algn="l">
              <a:lnSpc>
                <a:spcPct val="110000"/>
              </a:lnSpc>
              <a:spcAft>
                <a:spcPts val="400"/>
              </a:spcAft>
            </a:pPr>
            <a:r>
              <a:rPr sz="1500" b="1" i="0">
                <a:solidFill>
                  <a:srgbClr val="003262"/>
                </a:solidFill>
                <a:latin typeface="Calibri"/>
              </a:rPr>
              <a:t>Berkeley</a:t>
            </a:r>
            <a:r>
              <a:rPr sz="1300" b="0" i="0">
                <a:solidFill>
                  <a:srgbClr val="FDB515"/>
                </a:solidFill>
                <a:latin typeface="Calibri"/>
              </a:rPr>
              <a:t>  |  </a:t>
            </a:r>
            <a:r>
              <a:rPr sz="1100" b="1" i="0">
                <a:solidFill>
                  <a:srgbClr val="3B7EA1"/>
                </a:solidFill>
                <a:latin typeface="Calibri"/>
              </a:rPr>
              <a:t>MFE</a:t>
            </a:r>
          </a:p>
        </p:txBody>
      </p:sp>
      <p:sp>
        <p:nvSpPr>
          <p:cNvPr id="6" name="TextBox 5"/>
          <p:cNvSpPr txBox="1"/>
          <p:nvPr/>
        </p:nvSpPr>
        <p:spPr>
          <a:xfrm>
            <a:off x="9814255" y="6419088"/>
            <a:ext cx="1828800" cy="329184"/>
          </a:xfrm>
          <a:prstGeom prst="rect">
            <a:avLst/>
          </a:prstGeom>
          <a:noFill/>
        </p:spPr>
        <p:txBody>
          <a:bodyPr wrap="square" lIns="0" tIns="0" rIns="0" bIns="0" anchor="ctr">
            <a:spAutoFit/>
          </a:bodyPr>
          <a:lstStyle/>
          <a:p>
            <a:pPr algn="r">
              <a:lnSpc>
                <a:spcPct val="110000"/>
              </a:lnSpc>
              <a:spcAft>
                <a:spcPts val="400"/>
              </a:spcAft>
            </a:pPr>
            <a:r>
              <a:rPr sz="1300" b="1" i="0">
                <a:solidFill>
                  <a:srgbClr val="1A1A1A"/>
                </a:solidFill>
                <a:latin typeface="Calibri"/>
              </a:rPr>
              <a:t>BLACKROCK</a:t>
            </a:r>
          </a:p>
        </p:txBody>
      </p:sp>
      <p:sp>
        <p:nvSpPr>
          <p:cNvPr id="7" name="TextBox 6"/>
          <p:cNvSpPr txBox="1"/>
          <p:nvPr/>
        </p:nvSpPr>
        <p:spPr>
          <a:xfrm>
            <a:off x="5730087" y="6446520"/>
            <a:ext cx="731520" cy="274320"/>
          </a:xfrm>
          <a:prstGeom prst="rect">
            <a:avLst/>
          </a:prstGeom>
          <a:noFill/>
        </p:spPr>
        <p:txBody>
          <a:bodyPr wrap="square" lIns="0" tIns="0" rIns="0" bIns="0" anchor="ctr">
            <a:spAutoFit/>
          </a:bodyPr>
          <a:lstStyle/>
          <a:p>
            <a:pPr algn="ctr">
              <a:lnSpc>
                <a:spcPct val="110000"/>
              </a:lnSpc>
              <a:spcAft>
                <a:spcPts val="400"/>
              </a:spcAft>
            </a:pPr>
            <a:r>
              <a:rPr sz="1000" b="0" i="0">
                <a:solidFill>
                  <a:srgbClr val="6E6E6E"/>
                </a:solidFill>
                <a:latin typeface="Calibri"/>
              </a:rPr>
              <a:t>6</a:t>
            </a:r>
          </a:p>
        </p:txBody>
      </p:sp>
      <p:sp>
        <p:nvSpPr>
          <p:cNvPr id="8" name="TextBox 7"/>
          <p:cNvSpPr txBox="1"/>
          <p:nvPr/>
        </p:nvSpPr>
        <p:spPr>
          <a:xfrm>
            <a:off x="548640" y="1463040"/>
            <a:ext cx="11094415" cy="457200"/>
          </a:xfrm>
          <a:prstGeom prst="rect">
            <a:avLst/>
          </a:prstGeom>
          <a:noFill/>
        </p:spPr>
        <p:txBody>
          <a:bodyPr wrap="square" lIns="0" tIns="0" rIns="0" bIns="0" anchor="t">
            <a:spAutoFit/>
          </a:bodyPr>
          <a:lstStyle/>
          <a:p>
            <a:pPr algn="l">
              <a:lnSpc>
                <a:spcPct val="125000"/>
              </a:lnSpc>
              <a:spcAft>
                <a:spcPts val="400"/>
              </a:spcAft>
            </a:pPr>
            <a:r>
              <a:rPr sz="1400" b="0" i="0" dirty="0">
                <a:solidFill>
                  <a:srgbClr val="6E6E6E"/>
                </a:solidFill>
                <a:latin typeface="Calibri"/>
              </a:rPr>
              <a:t>The interesting question isn't whether an AI fund can be built. It's whether the AI is doing any of the work. So each analyst exists in two versions.</a:t>
            </a:r>
          </a:p>
        </p:txBody>
      </p:sp>
      <p:sp>
        <p:nvSpPr>
          <p:cNvPr id="9" name="Rectangle 8"/>
          <p:cNvSpPr/>
          <p:nvPr/>
        </p:nvSpPr>
        <p:spPr>
          <a:xfrm>
            <a:off x="548640" y="2148840"/>
            <a:ext cx="5349240" cy="218998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548640" y="2148840"/>
            <a:ext cx="5349240" cy="64008"/>
          </a:xfrm>
          <a:prstGeom prst="rect">
            <a:avLst/>
          </a:prstGeom>
          <a:solidFill>
            <a:srgbClr val="465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22960" y="2377440"/>
            <a:ext cx="4800600" cy="310896"/>
          </a:xfrm>
          <a:prstGeom prst="rect">
            <a:avLst/>
          </a:prstGeom>
          <a:noFill/>
        </p:spPr>
        <p:txBody>
          <a:bodyPr wrap="square" lIns="0" tIns="0" rIns="0" bIns="0" anchor="t">
            <a:spAutoFit/>
          </a:bodyPr>
          <a:lstStyle/>
          <a:p>
            <a:pPr algn="l">
              <a:lnSpc>
                <a:spcPct val="110000"/>
              </a:lnSpc>
              <a:spcAft>
                <a:spcPts val="400"/>
              </a:spcAft>
            </a:pPr>
            <a:r>
              <a:rPr sz="1900" b="1" i="0">
                <a:solidFill>
                  <a:srgbClr val="003262"/>
                </a:solidFill>
                <a:latin typeface="Calibri"/>
              </a:rPr>
              <a:t>THE FORMULA</a:t>
            </a:r>
          </a:p>
        </p:txBody>
      </p:sp>
      <p:sp>
        <p:nvSpPr>
          <p:cNvPr id="12" name="TextBox 11"/>
          <p:cNvSpPr txBox="1"/>
          <p:nvPr/>
        </p:nvSpPr>
        <p:spPr>
          <a:xfrm>
            <a:off x="822960" y="2743200"/>
            <a:ext cx="4800600" cy="192745"/>
          </a:xfrm>
          <a:prstGeom prst="rect">
            <a:avLst/>
          </a:prstGeom>
          <a:noFill/>
        </p:spPr>
        <p:txBody>
          <a:bodyPr wrap="square" lIns="0" tIns="0" rIns="0" bIns="0" anchor="t">
            <a:spAutoFit/>
          </a:bodyPr>
          <a:lstStyle/>
          <a:p>
            <a:pPr>
              <a:lnSpc>
                <a:spcPct val="110000"/>
              </a:lnSpc>
              <a:spcAft>
                <a:spcPts val="400"/>
              </a:spcAft>
            </a:pPr>
            <a:r>
              <a:rPr lang="en-US" sz="1200" b="1" dirty="0">
                <a:solidFill>
                  <a:srgbClr val="46535E"/>
                </a:solidFill>
              </a:rPr>
              <a:t>N</a:t>
            </a:r>
            <a:r>
              <a:rPr sz="1200" b="1" i="0" dirty="0">
                <a:solidFill>
                  <a:srgbClr val="46535E"/>
                </a:solidFill>
              </a:rPr>
              <a:t>o AI at all</a:t>
            </a:r>
            <a:r>
              <a:rPr lang="en-US" sz="1200" b="1" i="0" dirty="0">
                <a:solidFill>
                  <a:srgbClr val="46535E"/>
                </a:solidFill>
              </a:rPr>
              <a:t> - </a:t>
            </a:r>
            <a:r>
              <a:rPr lang="en-GB" sz="1200" b="1" dirty="0">
                <a:solidFill>
                  <a:srgbClr val="46535E"/>
                </a:solidFill>
              </a:rPr>
              <a:t>Free - Instant</a:t>
            </a:r>
          </a:p>
        </p:txBody>
      </p:sp>
      <p:sp>
        <p:nvSpPr>
          <p:cNvPr id="13" name="TextBox 12"/>
          <p:cNvSpPr txBox="1"/>
          <p:nvPr/>
        </p:nvSpPr>
        <p:spPr>
          <a:xfrm>
            <a:off x="822960" y="3108960"/>
            <a:ext cx="4800600" cy="765209"/>
          </a:xfrm>
          <a:prstGeom prst="rect">
            <a:avLst/>
          </a:prstGeom>
          <a:noFill/>
        </p:spPr>
        <p:txBody>
          <a:bodyPr wrap="square" lIns="0" tIns="0" rIns="0" bIns="0" anchor="t">
            <a:spAutoFit/>
          </a:bodyPr>
          <a:lstStyle/>
          <a:p>
            <a:pPr algn="l">
              <a:lnSpc>
                <a:spcPct val="125000"/>
              </a:lnSpc>
              <a:spcAft>
                <a:spcPts val="700"/>
              </a:spcAft>
            </a:pPr>
            <a:r>
              <a:rPr sz="1200" b="0" i="0" dirty="0">
                <a:solidFill>
                  <a:srgbClr val="1A1A1A"/>
                </a:solidFill>
                <a:latin typeface="Calibri"/>
              </a:rPr>
              <a:t>Read CPI. Measure how much it moved. Say “up”, “down” or “flat”, and how sure you are. About ten lines of arithmetic.</a:t>
            </a:r>
          </a:p>
          <a:p>
            <a:pPr algn="l">
              <a:lnSpc>
                <a:spcPct val="125000"/>
              </a:lnSpc>
              <a:spcAft>
                <a:spcPts val="700"/>
              </a:spcAft>
            </a:pPr>
            <a:r>
              <a:rPr sz="1200" b="0" i="0" dirty="0">
                <a:solidFill>
                  <a:srgbClr val="1A1A1A"/>
                </a:solidFill>
                <a:latin typeface="Calibri"/>
              </a:rPr>
              <a:t>It cannot know the future — no memory, no training data, nothing to recall. </a:t>
            </a:r>
          </a:p>
        </p:txBody>
      </p:sp>
      <p:sp>
        <p:nvSpPr>
          <p:cNvPr id="15" name="Rectangle 14"/>
          <p:cNvSpPr/>
          <p:nvPr/>
        </p:nvSpPr>
        <p:spPr>
          <a:xfrm>
            <a:off x="6291072" y="2148840"/>
            <a:ext cx="5349240" cy="218998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6291072" y="2148840"/>
            <a:ext cx="5349240" cy="64008"/>
          </a:xfrm>
          <a:prstGeom prst="rect">
            <a:avLst/>
          </a:prstGeom>
          <a:solidFill>
            <a:srgbClr val="3B7E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565392" y="2377440"/>
            <a:ext cx="4800600" cy="310896"/>
          </a:xfrm>
          <a:prstGeom prst="rect">
            <a:avLst/>
          </a:prstGeom>
          <a:noFill/>
        </p:spPr>
        <p:txBody>
          <a:bodyPr wrap="square" lIns="0" tIns="0" rIns="0" bIns="0" anchor="t">
            <a:spAutoFit/>
          </a:bodyPr>
          <a:lstStyle/>
          <a:p>
            <a:pPr algn="l">
              <a:lnSpc>
                <a:spcPct val="110000"/>
              </a:lnSpc>
              <a:spcAft>
                <a:spcPts val="400"/>
              </a:spcAft>
            </a:pPr>
            <a:r>
              <a:rPr sz="1900" b="1" i="0">
                <a:solidFill>
                  <a:srgbClr val="003262"/>
                </a:solidFill>
                <a:latin typeface="Calibri"/>
              </a:rPr>
              <a:t>THE MODEL</a:t>
            </a:r>
          </a:p>
        </p:txBody>
      </p:sp>
      <p:sp>
        <p:nvSpPr>
          <p:cNvPr id="18" name="TextBox 17"/>
          <p:cNvSpPr txBox="1"/>
          <p:nvPr/>
        </p:nvSpPr>
        <p:spPr>
          <a:xfrm>
            <a:off x="6565392" y="2743200"/>
            <a:ext cx="4800600" cy="650563"/>
          </a:xfrm>
          <a:prstGeom prst="rect">
            <a:avLst/>
          </a:prstGeom>
          <a:noFill/>
        </p:spPr>
        <p:txBody>
          <a:bodyPr wrap="square" lIns="0" tIns="0" rIns="0" bIns="0" anchor="t">
            <a:spAutoFit/>
          </a:bodyPr>
          <a:lstStyle/>
          <a:p>
            <a:pPr>
              <a:lnSpc>
                <a:spcPct val="110000"/>
              </a:lnSpc>
              <a:spcAft>
                <a:spcPts val="400"/>
              </a:spcAft>
            </a:pPr>
            <a:r>
              <a:rPr lang="en-US" sz="1200" b="1" dirty="0">
                <a:solidFill>
                  <a:srgbClr val="3B7EA1"/>
                </a:solidFill>
                <a:latin typeface="Calibri"/>
              </a:rPr>
              <a:t>Take deterministic output, run LLM on it. </a:t>
            </a:r>
            <a:r>
              <a:rPr sz="1200" b="1" i="0" dirty="0">
                <a:solidFill>
                  <a:srgbClr val="3B7EA1"/>
                </a:solidFill>
                <a:latin typeface="Calibri"/>
              </a:rPr>
              <a:t> Claude</a:t>
            </a:r>
            <a:r>
              <a:rPr lang="en-US" sz="1200" b="1" i="0" dirty="0">
                <a:solidFill>
                  <a:srgbClr val="3B7EA1"/>
                </a:solidFill>
                <a:latin typeface="Calibri"/>
              </a:rPr>
              <a:t> -  </a:t>
            </a:r>
            <a:r>
              <a:rPr lang="en-GB" sz="1200" b="1" dirty="0">
                <a:solidFill>
                  <a:srgbClr val="3B7EA1"/>
                </a:solidFill>
                <a:latin typeface="Consolas"/>
              </a:rPr>
              <a:t>$0.94  ·  1,252 calls  ·  47 min</a:t>
            </a:r>
          </a:p>
          <a:p>
            <a:pPr algn="l">
              <a:lnSpc>
                <a:spcPct val="110000"/>
              </a:lnSpc>
              <a:spcAft>
                <a:spcPts val="400"/>
              </a:spcAft>
            </a:pPr>
            <a:endParaRPr sz="1200" b="1" i="0" dirty="0">
              <a:solidFill>
                <a:srgbClr val="3B7EA1"/>
              </a:solidFill>
              <a:latin typeface="Calibri"/>
            </a:endParaRPr>
          </a:p>
        </p:txBody>
      </p:sp>
      <p:sp>
        <p:nvSpPr>
          <p:cNvPr id="19" name="TextBox 18"/>
          <p:cNvSpPr txBox="1"/>
          <p:nvPr/>
        </p:nvSpPr>
        <p:spPr>
          <a:xfrm>
            <a:off x="6565392" y="3108960"/>
            <a:ext cx="4800600" cy="996042"/>
          </a:xfrm>
          <a:prstGeom prst="rect">
            <a:avLst/>
          </a:prstGeom>
          <a:noFill/>
        </p:spPr>
        <p:txBody>
          <a:bodyPr wrap="square" lIns="0" tIns="0" rIns="0" bIns="0" anchor="t">
            <a:spAutoFit/>
          </a:bodyPr>
          <a:lstStyle/>
          <a:p>
            <a:pPr algn="l">
              <a:lnSpc>
                <a:spcPct val="125000"/>
              </a:lnSpc>
              <a:spcAft>
                <a:spcPts val="700"/>
              </a:spcAft>
            </a:pPr>
            <a:r>
              <a:rPr sz="1200" b="0" i="0" dirty="0">
                <a:solidFill>
                  <a:srgbClr val="1A1A1A"/>
                </a:solidFill>
                <a:latin typeface="Calibri"/>
              </a:rPr>
              <a:t>Hand it the exact same</a:t>
            </a:r>
            <a:r>
              <a:rPr lang="en-US" sz="1200" b="0" i="0" dirty="0">
                <a:solidFill>
                  <a:srgbClr val="1A1A1A"/>
                </a:solidFill>
                <a:latin typeface="Calibri"/>
              </a:rPr>
              <a:t> numerical</a:t>
            </a:r>
            <a:r>
              <a:rPr sz="1200" b="0" i="0" dirty="0">
                <a:solidFill>
                  <a:srgbClr val="1A1A1A"/>
                </a:solidFill>
                <a:latin typeface="Calibri"/>
              </a:rPr>
              <a:t> reading and ask for a better view. Same mandate, same output, graded exactly the same way.</a:t>
            </a:r>
          </a:p>
          <a:p>
            <a:pPr algn="l">
              <a:lnSpc>
                <a:spcPct val="125000"/>
              </a:lnSpc>
              <a:spcAft>
                <a:spcPts val="700"/>
              </a:spcAft>
            </a:pPr>
            <a:r>
              <a:rPr sz="1200" b="0" i="0" dirty="0">
                <a:solidFill>
                  <a:srgbClr val="1A1A1A"/>
                </a:solidFill>
                <a:latin typeface="Calibri"/>
              </a:rPr>
              <a:t>It has read the whole internet. On paper, the more sophisticated analyst by a distance.</a:t>
            </a:r>
          </a:p>
        </p:txBody>
      </p:sp>
      <p:sp>
        <p:nvSpPr>
          <p:cNvPr id="21" name="TextBox 20"/>
          <p:cNvSpPr txBox="1"/>
          <p:nvPr/>
        </p:nvSpPr>
        <p:spPr>
          <a:xfrm>
            <a:off x="548640" y="4983480"/>
            <a:ext cx="11094415" cy="302840"/>
          </a:xfrm>
          <a:prstGeom prst="rect">
            <a:avLst/>
          </a:prstGeom>
          <a:noFill/>
        </p:spPr>
        <p:txBody>
          <a:bodyPr wrap="square" lIns="0" tIns="0" rIns="0" bIns="0" anchor="t">
            <a:spAutoFit/>
          </a:bodyPr>
          <a:lstStyle/>
          <a:p>
            <a:pPr algn="l">
              <a:lnSpc>
                <a:spcPct val="125000"/>
              </a:lnSpc>
              <a:spcAft>
                <a:spcPts val="400"/>
              </a:spcAft>
            </a:pPr>
            <a:r>
              <a:rPr sz="1700" b="0" i="0" dirty="0">
                <a:solidFill>
                  <a:srgbClr val="003262"/>
                </a:solidFill>
                <a:latin typeface="Calibri"/>
              </a:rPr>
              <a:t>Then we asked : </a:t>
            </a:r>
            <a:r>
              <a:rPr sz="1700" b="1" i="0" dirty="0">
                <a:solidFill>
                  <a:srgbClr val="003262"/>
                </a:solidFill>
                <a:latin typeface="Calibri"/>
              </a:rPr>
              <a:t>does the model earn its keep?</a:t>
            </a:r>
            <a:r>
              <a:rPr lang="en-US" sz="1700" b="1" i="0" dirty="0">
                <a:solidFill>
                  <a:srgbClr val="003262"/>
                </a:solidFill>
                <a:latin typeface="Calibri"/>
              </a:rPr>
              <a:t> </a:t>
            </a:r>
            <a:r>
              <a:rPr lang="en-US" sz="1700" b="1" dirty="0">
                <a:solidFill>
                  <a:srgbClr val="003262"/>
                </a:solidFill>
                <a:latin typeface="Calibri"/>
              </a:rPr>
              <a:t>Does it add reasoning on deterministic output?</a:t>
            </a:r>
            <a:endParaRPr sz="1700" b="1" i="0" dirty="0">
              <a:solidFill>
                <a:srgbClr val="003262"/>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94415" cy="418576"/>
          </a:xfrm>
          <a:prstGeom prst="rect">
            <a:avLst/>
          </a:prstGeom>
          <a:noFill/>
        </p:spPr>
        <p:txBody>
          <a:bodyPr wrap="square" lIns="0" tIns="0" rIns="0" bIns="0" anchor="t">
            <a:spAutoFit/>
          </a:bodyPr>
          <a:lstStyle/>
          <a:p>
            <a:pPr algn="l">
              <a:lnSpc>
                <a:spcPct val="105000"/>
              </a:lnSpc>
              <a:spcAft>
                <a:spcPts val="400"/>
              </a:spcAft>
            </a:pPr>
            <a:r>
              <a:rPr lang="en-US" sz="2700" b="1" dirty="0">
                <a:solidFill>
                  <a:srgbClr val="003262"/>
                </a:solidFill>
                <a:latin typeface="Calibri"/>
              </a:rPr>
              <a:t>How did the LLM reading of the deterministic output score?</a:t>
            </a:r>
            <a:endParaRPr sz="2700" b="1" i="0" dirty="0">
              <a:solidFill>
                <a:srgbClr val="003262"/>
              </a:solidFill>
              <a:latin typeface="Calibri"/>
            </a:endParaRPr>
          </a:p>
        </p:txBody>
      </p:sp>
      <p:sp>
        <p:nvSpPr>
          <p:cNvPr id="3" name="Rectangle 2"/>
          <p:cNvSpPr/>
          <p:nvPr/>
        </p:nvSpPr>
        <p:spPr>
          <a:xfrm>
            <a:off x="548640" y="1225296"/>
            <a:ext cx="1371600" cy="50292"/>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548640" y="6345936"/>
            <a:ext cx="11094415" cy="9525"/>
          </a:xfrm>
          <a:prstGeom prst="rect">
            <a:avLst/>
          </a:prstGeom>
          <a:solidFill>
            <a:srgbClr val="DDD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48640" y="6419088"/>
            <a:ext cx="2194560" cy="329184"/>
          </a:xfrm>
          <a:prstGeom prst="rect">
            <a:avLst/>
          </a:prstGeom>
          <a:noFill/>
        </p:spPr>
        <p:txBody>
          <a:bodyPr wrap="square" lIns="0" tIns="0" rIns="0" bIns="0" anchor="ctr">
            <a:spAutoFit/>
          </a:bodyPr>
          <a:lstStyle/>
          <a:p>
            <a:pPr algn="l">
              <a:lnSpc>
                <a:spcPct val="110000"/>
              </a:lnSpc>
              <a:spcAft>
                <a:spcPts val="400"/>
              </a:spcAft>
            </a:pPr>
            <a:r>
              <a:rPr sz="1500" b="1" i="0" dirty="0">
                <a:solidFill>
                  <a:srgbClr val="003262"/>
                </a:solidFill>
                <a:latin typeface="Calibri"/>
              </a:rPr>
              <a:t>Berkeley</a:t>
            </a:r>
            <a:r>
              <a:rPr sz="1300" b="0" i="0" dirty="0">
                <a:solidFill>
                  <a:srgbClr val="FDB515"/>
                </a:solidFill>
                <a:latin typeface="Calibri"/>
              </a:rPr>
              <a:t>  |  </a:t>
            </a:r>
            <a:r>
              <a:rPr sz="1100" b="1" i="0" dirty="0">
                <a:solidFill>
                  <a:srgbClr val="3B7EA1"/>
                </a:solidFill>
                <a:latin typeface="Calibri"/>
              </a:rPr>
              <a:t>MFE</a:t>
            </a:r>
          </a:p>
        </p:txBody>
      </p:sp>
      <p:sp>
        <p:nvSpPr>
          <p:cNvPr id="6" name="TextBox 5"/>
          <p:cNvSpPr txBox="1"/>
          <p:nvPr/>
        </p:nvSpPr>
        <p:spPr>
          <a:xfrm>
            <a:off x="9814255" y="6419088"/>
            <a:ext cx="1828800" cy="329184"/>
          </a:xfrm>
          <a:prstGeom prst="rect">
            <a:avLst/>
          </a:prstGeom>
          <a:noFill/>
        </p:spPr>
        <p:txBody>
          <a:bodyPr wrap="square" lIns="0" tIns="0" rIns="0" bIns="0" anchor="ctr">
            <a:spAutoFit/>
          </a:bodyPr>
          <a:lstStyle/>
          <a:p>
            <a:pPr algn="r">
              <a:lnSpc>
                <a:spcPct val="110000"/>
              </a:lnSpc>
              <a:spcAft>
                <a:spcPts val="400"/>
              </a:spcAft>
            </a:pPr>
            <a:r>
              <a:rPr sz="1300" b="1" i="0">
                <a:solidFill>
                  <a:srgbClr val="1A1A1A"/>
                </a:solidFill>
                <a:latin typeface="Calibri"/>
              </a:rPr>
              <a:t>BLACKROCK</a:t>
            </a:r>
          </a:p>
        </p:txBody>
      </p:sp>
      <p:sp>
        <p:nvSpPr>
          <p:cNvPr id="7" name="TextBox 6"/>
          <p:cNvSpPr txBox="1"/>
          <p:nvPr/>
        </p:nvSpPr>
        <p:spPr>
          <a:xfrm>
            <a:off x="5730087" y="6446520"/>
            <a:ext cx="731520" cy="274320"/>
          </a:xfrm>
          <a:prstGeom prst="rect">
            <a:avLst/>
          </a:prstGeom>
          <a:noFill/>
        </p:spPr>
        <p:txBody>
          <a:bodyPr wrap="square" lIns="0" tIns="0" rIns="0" bIns="0" anchor="ctr">
            <a:spAutoFit/>
          </a:bodyPr>
          <a:lstStyle/>
          <a:p>
            <a:pPr algn="ctr">
              <a:lnSpc>
                <a:spcPct val="110000"/>
              </a:lnSpc>
              <a:spcAft>
                <a:spcPts val="400"/>
              </a:spcAft>
            </a:pPr>
            <a:r>
              <a:rPr sz="1000" b="0" i="0">
                <a:solidFill>
                  <a:srgbClr val="6E6E6E"/>
                </a:solidFill>
                <a:latin typeface="Calibri"/>
              </a:rPr>
              <a:t>7</a:t>
            </a:r>
          </a:p>
        </p:txBody>
      </p:sp>
      <p:sp>
        <p:nvSpPr>
          <p:cNvPr id="8" name="TextBox 7"/>
          <p:cNvSpPr txBox="1"/>
          <p:nvPr/>
        </p:nvSpPr>
        <p:spPr>
          <a:xfrm>
            <a:off x="548640" y="1600200"/>
            <a:ext cx="11094415" cy="184922"/>
          </a:xfrm>
          <a:prstGeom prst="rect">
            <a:avLst/>
          </a:prstGeom>
          <a:noFill/>
        </p:spPr>
        <p:txBody>
          <a:bodyPr wrap="square" lIns="0" tIns="0" rIns="0" bIns="0" anchor="t">
            <a:spAutoFit/>
          </a:bodyPr>
          <a:lstStyle/>
          <a:p>
            <a:pPr algn="ctr">
              <a:lnSpc>
                <a:spcPct val="110000"/>
              </a:lnSpc>
              <a:spcAft>
                <a:spcPts val="400"/>
              </a:spcAft>
            </a:pPr>
            <a:r>
              <a:rPr lang="en-US" sz="1150" b="1" dirty="0">
                <a:solidFill>
                  <a:srgbClr val="6E6E6E"/>
                </a:solidFill>
                <a:latin typeface="Calibri"/>
              </a:rPr>
              <a:t>EDGE</a:t>
            </a:r>
            <a:r>
              <a:rPr sz="1150" b="1" i="0" dirty="0">
                <a:solidFill>
                  <a:srgbClr val="6E6E6E"/>
                </a:solidFill>
                <a:latin typeface="Calibri"/>
              </a:rPr>
              <a:t> </a:t>
            </a:r>
            <a:r>
              <a:rPr lang="en-US" sz="1150" b="1" dirty="0">
                <a:solidFill>
                  <a:srgbClr val="6E6E6E"/>
                </a:solidFill>
                <a:latin typeface="Calibri"/>
              </a:rPr>
              <a:t>VS </a:t>
            </a:r>
            <a:r>
              <a:rPr sz="1150" b="1" i="0" dirty="0">
                <a:solidFill>
                  <a:srgbClr val="6E6E6E"/>
                </a:solidFill>
                <a:latin typeface="Calibri"/>
              </a:rPr>
              <a:t>A COIN FLIP, ACROSS 313 MEETINGS</a:t>
            </a:r>
            <a:r>
              <a:rPr lang="en-US" sz="1150" b="1" i="0" dirty="0">
                <a:solidFill>
                  <a:srgbClr val="6E6E6E"/>
                </a:solidFill>
                <a:latin typeface="Calibri"/>
              </a:rPr>
              <a:t>, AVERAGED ACROSS 4 ANALYSTS, TESTED AT A 63d HORIZON</a:t>
            </a:r>
            <a:endParaRPr sz="1150" b="1" i="0" dirty="0">
              <a:solidFill>
                <a:srgbClr val="6E6E6E"/>
              </a:solidFill>
              <a:latin typeface="Calibri"/>
            </a:endParaRPr>
          </a:p>
        </p:txBody>
      </p:sp>
      <p:sp>
        <p:nvSpPr>
          <p:cNvPr id="9" name="TextBox 8"/>
          <p:cNvSpPr txBox="1"/>
          <p:nvPr/>
        </p:nvSpPr>
        <p:spPr>
          <a:xfrm>
            <a:off x="914400" y="2148840"/>
            <a:ext cx="4572000" cy="1447800"/>
          </a:xfrm>
          <a:prstGeom prst="rect">
            <a:avLst/>
          </a:prstGeom>
          <a:noFill/>
        </p:spPr>
        <p:txBody>
          <a:bodyPr wrap="square" lIns="0" tIns="0" rIns="0" bIns="0" anchor="t">
            <a:spAutoFit/>
          </a:bodyPr>
          <a:lstStyle/>
          <a:p>
            <a:pPr algn="ctr">
              <a:lnSpc>
                <a:spcPct val="110000"/>
              </a:lnSpc>
              <a:spcAft>
                <a:spcPts val="400"/>
              </a:spcAft>
            </a:pPr>
            <a:r>
              <a:rPr sz="8800" b="1" i="0" dirty="0">
                <a:solidFill>
                  <a:srgbClr val="46535E"/>
                </a:solidFill>
                <a:latin typeface="Consolas"/>
              </a:rPr>
              <a:t>+0.0645</a:t>
            </a:r>
          </a:p>
        </p:txBody>
      </p:sp>
      <p:sp>
        <p:nvSpPr>
          <p:cNvPr id="10" name="TextBox 9"/>
          <p:cNvSpPr txBox="1"/>
          <p:nvPr/>
        </p:nvSpPr>
        <p:spPr>
          <a:xfrm>
            <a:off x="914400" y="3486912"/>
            <a:ext cx="4572000" cy="273408"/>
          </a:xfrm>
          <a:prstGeom prst="rect">
            <a:avLst/>
          </a:prstGeom>
          <a:noFill/>
        </p:spPr>
        <p:txBody>
          <a:bodyPr wrap="square" lIns="0" tIns="0" rIns="0" bIns="0" anchor="t">
            <a:spAutoFit/>
          </a:bodyPr>
          <a:lstStyle/>
          <a:p>
            <a:pPr algn="ctr">
              <a:lnSpc>
                <a:spcPct val="110000"/>
              </a:lnSpc>
              <a:spcAft>
                <a:spcPts val="400"/>
              </a:spcAft>
            </a:pPr>
            <a:r>
              <a:rPr lang="en-US" sz="1700" b="1" i="0" dirty="0">
                <a:solidFill>
                  <a:srgbClr val="003262"/>
                </a:solidFill>
                <a:latin typeface="Calibri"/>
              </a:rPr>
              <a:t>The</a:t>
            </a:r>
            <a:r>
              <a:rPr sz="1700" b="1" i="0" dirty="0">
                <a:solidFill>
                  <a:srgbClr val="003262"/>
                </a:solidFill>
                <a:latin typeface="Calibri"/>
              </a:rPr>
              <a:t> formula</a:t>
            </a:r>
          </a:p>
        </p:txBody>
      </p:sp>
      <p:sp>
        <p:nvSpPr>
          <p:cNvPr id="12" name="TextBox 11"/>
          <p:cNvSpPr txBox="1"/>
          <p:nvPr/>
        </p:nvSpPr>
        <p:spPr>
          <a:xfrm>
            <a:off x="6766560" y="2148840"/>
            <a:ext cx="4572000" cy="1188720"/>
          </a:xfrm>
          <a:prstGeom prst="rect">
            <a:avLst/>
          </a:prstGeom>
          <a:noFill/>
        </p:spPr>
        <p:txBody>
          <a:bodyPr wrap="square" lIns="0" tIns="0" rIns="0" bIns="0" anchor="t">
            <a:spAutoFit/>
          </a:bodyPr>
          <a:lstStyle/>
          <a:p>
            <a:pPr algn="ctr">
              <a:lnSpc>
                <a:spcPct val="110000"/>
              </a:lnSpc>
              <a:spcAft>
                <a:spcPts val="400"/>
              </a:spcAft>
            </a:pPr>
            <a:r>
              <a:rPr sz="8800" b="1" i="0" dirty="0">
                <a:solidFill>
                  <a:srgbClr val="3B7EA1"/>
                </a:solidFill>
                <a:latin typeface="Consolas"/>
              </a:rPr>
              <a:t>+0.0648</a:t>
            </a:r>
          </a:p>
        </p:txBody>
      </p:sp>
      <p:sp>
        <p:nvSpPr>
          <p:cNvPr id="13" name="TextBox 12"/>
          <p:cNvSpPr txBox="1"/>
          <p:nvPr/>
        </p:nvSpPr>
        <p:spPr>
          <a:xfrm>
            <a:off x="6766560" y="3429000"/>
            <a:ext cx="4572000" cy="273408"/>
          </a:xfrm>
          <a:prstGeom prst="rect">
            <a:avLst/>
          </a:prstGeom>
          <a:noFill/>
        </p:spPr>
        <p:txBody>
          <a:bodyPr wrap="square" lIns="0" tIns="0" rIns="0" bIns="0" anchor="t">
            <a:spAutoFit/>
          </a:bodyPr>
          <a:lstStyle/>
          <a:p>
            <a:pPr algn="ctr">
              <a:lnSpc>
                <a:spcPct val="110000"/>
              </a:lnSpc>
              <a:spcAft>
                <a:spcPts val="400"/>
              </a:spcAft>
            </a:pPr>
            <a:r>
              <a:rPr lang="en-US" sz="1700" b="1" dirty="0">
                <a:solidFill>
                  <a:srgbClr val="003262"/>
                </a:solidFill>
                <a:latin typeface="Calibri"/>
              </a:rPr>
              <a:t>The LLM read</a:t>
            </a:r>
            <a:endParaRPr sz="1700" b="1" i="0" dirty="0">
              <a:solidFill>
                <a:srgbClr val="003262"/>
              </a:solidFill>
              <a:latin typeface="Calibri"/>
            </a:endParaRPr>
          </a:p>
        </p:txBody>
      </p:sp>
      <p:sp>
        <p:nvSpPr>
          <p:cNvPr id="15" name="TextBox 14"/>
          <p:cNvSpPr txBox="1"/>
          <p:nvPr/>
        </p:nvSpPr>
        <p:spPr>
          <a:xfrm>
            <a:off x="5272887" y="2514600"/>
            <a:ext cx="1645920" cy="365760"/>
          </a:xfrm>
          <a:prstGeom prst="rect">
            <a:avLst/>
          </a:prstGeom>
          <a:noFill/>
        </p:spPr>
        <p:txBody>
          <a:bodyPr wrap="square" lIns="0" tIns="0" rIns="0" bIns="0" anchor="t">
            <a:spAutoFit/>
          </a:bodyPr>
          <a:lstStyle/>
          <a:p>
            <a:pPr algn="ctr">
              <a:lnSpc>
                <a:spcPct val="110000"/>
              </a:lnSpc>
              <a:spcAft>
                <a:spcPts val="400"/>
              </a:spcAft>
            </a:pPr>
            <a:r>
              <a:rPr sz="2000" b="1" i="0">
                <a:solidFill>
                  <a:srgbClr val="A8AFB8"/>
                </a:solidFill>
                <a:latin typeface="Calibri"/>
              </a:rPr>
              <a:t>vs</a:t>
            </a:r>
          </a:p>
        </p:txBody>
      </p:sp>
      <p:sp>
        <p:nvSpPr>
          <p:cNvPr id="18" name="TextBox 17"/>
          <p:cNvSpPr txBox="1"/>
          <p:nvPr/>
        </p:nvSpPr>
        <p:spPr>
          <a:xfrm>
            <a:off x="521745" y="3966525"/>
            <a:ext cx="11094415" cy="1159869"/>
          </a:xfrm>
          <a:prstGeom prst="rect">
            <a:avLst/>
          </a:prstGeom>
          <a:noFill/>
        </p:spPr>
        <p:txBody>
          <a:bodyPr wrap="square" lIns="0" tIns="0" rIns="0" bIns="0" anchor="t">
            <a:spAutoFit/>
          </a:bodyPr>
          <a:lstStyle/>
          <a:p>
            <a:pPr>
              <a:lnSpc>
                <a:spcPct val="125000"/>
              </a:lnSpc>
              <a:spcAft>
                <a:spcPts val="400"/>
              </a:spcAft>
            </a:pPr>
            <a:r>
              <a:rPr lang="en-GB" sz="1400" b="1" dirty="0">
                <a:solidFill>
                  <a:srgbClr val="1A1A1A"/>
                </a:solidFill>
              </a:rPr>
              <a:t>How we grade either of them: </a:t>
            </a:r>
            <a:r>
              <a:rPr lang="en-GB" sz="1400" dirty="0">
                <a:solidFill>
                  <a:srgbClr val="1A1A1A"/>
                </a:solidFill>
              </a:rPr>
              <a:t>we ask whether the driver actually moved the way the analyst said it would, over the next quarter — and we compare that to flipping a coin. 313 weekly meetings, real history, 2019 to 2024.</a:t>
            </a:r>
            <a:endParaRPr lang="en-US" sz="1400" b="0" i="0" dirty="0">
              <a:solidFill>
                <a:schemeClr val="accent1">
                  <a:lumMod val="75000"/>
                </a:schemeClr>
              </a:solidFill>
              <a:latin typeface="Calibri"/>
            </a:endParaRPr>
          </a:p>
          <a:p>
            <a:pPr algn="l">
              <a:lnSpc>
                <a:spcPct val="125000"/>
              </a:lnSpc>
              <a:spcAft>
                <a:spcPts val="400"/>
              </a:spcAft>
            </a:pPr>
            <a:r>
              <a:rPr lang="en-US" sz="1400" b="0" i="0" dirty="0">
                <a:latin typeface="Calibri"/>
              </a:rPr>
              <a:t>It didn’t add significant edge</a:t>
            </a:r>
            <a:r>
              <a:rPr sz="1400" b="0" i="0" dirty="0">
                <a:latin typeface="Calibri"/>
              </a:rPr>
              <a:t>— and it disagreed with the formula on only 84 calls out of 1,252.</a:t>
            </a:r>
            <a:endParaRPr lang="en-US" sz="1400" dirty="0">
              <a:latin typeface="Calibri"/>
            </a:endParaRPr>
          </a:p>
          <a:p>
            <a:pPr algn="l">
              <a:lnSpc>
                <a:spcPct val="125000"/>
              </a:lnSpc>
              <a:spcAft>
                <a:spcPts val="400"/>
              </a:spcAft>
            </a:pPr>
            <a:r>
              <a:rPr lang="en-US" sz="1400" b="1" i="0" dirty="0">
                <a:latin typeface="Calibri"/>
              </a:rPr>
              <a:t>Hyp</a:t>
            </a:r>
            <a:r>
              <a:rPr lang="en-US" sz="1400" b="1" dirty="0">
                <a:latin typeface="Calibri"/>
              </a:rPr>
              <a:t>othesis: LLM just restate the deterministic output -&gt; known limits of LLMs reasoning on quantitative data  </a:t>
            </a:r>
            <a:endParaRPr sz="1400" b="1" i="0" dirty="0">
              <a:latin typeface="Calibri"/>
            </a:endParaRPr>
          </a:p>
        </p:txBody>
      </p:sp>
      <p:sp>
        <p:nvSpPr>
          <p:cNvPr id="19" name="Rectangle 18"/>
          <p:cNvSpPr/>
          <p:nvPr/>
        </p:nvSpPr>
        <p:spPr>
          <a:xfrm>
            <a:off x="521746" y="5290074"/>
            <a:ext cx="11094415" cy="50292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2000" dirty="0"/>
          </a:p>
        </p:txBody>
      </p:sp>
      <p:sp>
        <p:nvSpPr>
          <p:cNvPr id="20" name="Rectangle 19"/>
          <p:cNvSpPr/>
          <p:nvPr/>
        </p:nvSpPr>
        <p:spPr>
          <a:xfrm>
            <a:off x="521746" y="5290074"/>
            <a:ext cx="50292" cy="50292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22914" y="5310509"/>
            <a:ext cx="10728655" cy="462050"/>
          </a:xfrm>
          <a:prstGeom prst="rect">
            <a:avLst/>
          </a:prstGeom>
          <a:noFill/>
        </p:spPr>
        <p:txBody>
          <a:bodyPr wrap="square" lIns="0" tIns="0" rIns="0" bIns="0" anchor="ctr">
            <a:spAutoFit/>
          </a:bodyPr>
          <a:lstStyle/>
          <a:p>
            <a:pPr algn="l">
              <a:lnSpc>
                <a:spcPct val="110000"/>
              </a:lnSpc>
              <a:spcAft>
                <a:spcPts val="400"/>
              </a:spcAft>
            </a:pPr>
            <a:r>
              <a:rPr sz="1400" b="0" i="0" dirty="0">
                <a:solidFill>
                  <a:srgbClr val="1A1A1A"/>
                </a:solidFill>
                <a:latin typeface="Calibri"/>
              </a:rPr>
              <a:t>If the expensive part of the analyst isn't where the edge comes from, then the lever is somewhere else — and the only other thing an analyst has is </a:t>
            </a:r>
            <a:r>
              <a:rPr sz="1400" b="1" i="0" dirty="0">
                <a:solidFill>
                  <a:srgbClr val="1A1A1A"/>
                </a:solidFill>
                <a:latin typeface="Calibri"/>
              </a:rPr>
              <a:t>what it reads</a:t>
            </a:r>
            <a:r>
              <a:rPr sz="1400" b="0" i="0" dirty="0">
                <a:solidFill>
                  <a:srgbClr val="1A1A1A"/>
                </a:solidFill>
                <a:latin typeface="Calibri"/>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94415" cy="418576"/>
          </a:xfrm>
          <a:prstGeom prst="rect">
            <a:avLst/>
          </a:prstGeom>
          <a:noFill/>
        </p:spPr>
        <p:txBody>
          <a:bodyPr wrap="square" lIns="0" tIns="0" rIns="0" bIns="0" anchor="t">
            <a:spAutoFit/>
          </a:bodyPr>
          <a:lstStyle/>
          <a:p>
            <a:pPr algn="l">
              <a:lnSpc>
                <a:spcPct val="105000"/>
              </a:lnSpc>
              <a:spcAft>
                <a:spcPts val="400"/>
              </a:spcAft>
            </a:pPr>
            <a:r>
              <a:rPr lang="en-US" sz="2700" b="1" dirty="0">
                <a:solidFill>
                  <a:srgbClr val="003262"/>
                </a:solidFill>
                <a:latin typeface="Calibri"/>
              </a:rPr>
              <a:t>We </a:t>
            </a:r>
            <a:r>
              <a:rPr sz="2700" b="1" i="0" dirty="0">
                <a:solidFill>
                  <a:srgbClr val="003262"/>
                </a:solidFill>
                <a:latin typeface="Calibri"/>
              </a:rPr>
              <a:t>changed what it reads, not what it is</a:t>
            </a:r>
          </a:p>
        </p:txBody>
      </p:sp>
      <p:sp>
        <p:nvSpPr>
          <p:cNvPr id="3" name="Rectangle 2"/>
          <p:cNvSpPr/>
          <p:nvPr/>
        </p:nvSpPr>
        <p:spPr>
          <a:xfrm>
            <a:off x="548640" y="1225296"/>
            <a:ext cx="1371600" cy="50292"/>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548640" y="6345936"/>
            <a:ext cx="11094415" cy="9525"/>
          </a:xfrm>
          <a:prstGeom prst="rect">
            <a:avLst/>
          </a:prstGeom>
          <a:solidFill>
            <a:srgbClr val="DDD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48640" y="6419088"/>
            <a:ext cx="2194560" cy="329184"/>
          </a:xfrm>
          <a:prstGeom prst="rect">
            <a:avLst/>
          </a:prstGeom>
          <a:noFill/>
        </p:spPr>
        <p:txBody>
          <a:bodyPr wrap="square" lIns="0" tIns="0" rIns="0" bIns="0" anchor="ctr">
            <a:spAutoFit/>
          </a:bodyPr>
          <a:lstStyle/>
          <a:p>
            <a:pPr algn="l">
              <a:lnSpc>
                <a:spcPct val="110000"/>
              </a:lnSpc>
              <a:spcAft>
                <a:spcPts val="400"/>
              </a:spcAft>
            </a:pPr>
            <a:r>
              <a:rPr sz="1500" b="1" i="0">
                <a:solidFill>
                  <a:srgbClr val="003262"/>
                </a:solidFill>
                <a:latin typeface="Calibri"/>
              </a:rPr>
              <a:t>Berkeley</a:t>
            </a:r>
            <a:r>
              <a:rPr sz="1300" b="0" i="0">
                <a:solidFill>
                  <a:srgbClr val="FDB515"/>
                </a:solidFill>
                <a:latin typeface="Calibri"/>
              </a:rPr>
              <a:t>  |  </a:t>
            </a:r>
            <a:r>
              <a:rPr sz="1100" b="1" i="0">
                <a:solidFill>
                  <a:srgbClr val="3B7EA1"/>
                </a:solidFill>
                <a:latin typeface="Calibri"/>
              </a:rPr>
              <a:t>MFE</a:t>
            </a:r>
          </a:p>
        </p:txBody>
      </p:sp>
      <p:sp>
        <p:nvSpPr>
          <p:cNvPr id="6" name="TextBox 5"/>
          <p:cNvSpPr txBox="1"/>
          <p:nvPr/>
        </p:nvSpPr>
        <p:spPr>
          <a:xfrm>
            <a:off x="9814255" y="6419088"/>
            <a:ext cx="1828800" cy="329184"/>
          </a:xfrm>
          <a:prstGeom prst="rect">
            <a:avLst/>
          </a:prstGeom>
          <a:noFill/>
        </p:spPr>
        <p:txBody>
          <a:bodyPr wrap="square" lIns="0" tIns="0" rIns="0" bIns="0" anchor="ctr">
            <a:spAutoFit/>
          </a:bodyPr>
          <a:lstStyle/>
          <a:p>
            <a:pPr algn="r">
              <a:lnSpc>
                <a:spcPct val="110000"/>
              </a:lnSpc>
              <a:spcAft>
                <a:spcPts val="400"/>
              </a:spcAft>
            </a:pPr>
            <a:r>
              <a:rPr sz="1300" b="1" i="0">
                <a:solidFill>
                  <a:srgbClr val="1A1A1A"/>
                </a:solidFill>
                <a:latin typeface="Calibri"/>
              </a:rPr>
              <a:t>BLACKROCK</a:t>
            </a:r>
          </a:p>
        </p:txBody>
      </p:sp>
      <p:sp>
        <p:nvSpPr>
          <p:cNvPr id="7" name="TextBox 6"/>
          <p:cNvSpPr txBox="1"/>
          <p:nvPr/>
        </p:nvSpPr>
        <p:spPr>
          <a:xfrm>
            <a:off x="5730087" y="6446520"/>
            <a:ext cx="731520" cy="274320"/>
          </a:xfrm>
          <a:prstGeom prst="rect">
            <a:avLst/>
          </a:prstGeom>
          <a:noFill/>
        </p:spPr>
        <p:txBody>
          <a:bodyPr wrap="square" lIns="0" tIns="0" rIns="0" bIns="0" anchor="ctr">
            <a:spAutoFit/>
          </a:bodyPr>
          <a:lstStyle/>
          <a:p>
            <a:pPr algn="ctr">
              <a:lnSpc>
                <a:spcPct val="110000"/>
              </a:lnSpc>
              <a:spcAft>
                <a:spcPts val="400"/>
              </a:spcAft>
            </a:pPr>
            <a:r>
              <a:rPr sz="1000" b="0" i="0">
                <a:solidFill>
                  <a:srgbClr val="6E6E6E"/>
                </a:solidFill>
                <a:latin typeface="Calibri"/>
              </a:rPr>
              <a:t>8</a:t>
            </a:r>
          </a:p>
        </p:txBody>
      </p:sp>
      <p:sp>
        <p:nvSpPr>
          <p:cNvPr id="8" name="TextBox 7"/>
          <p:cNvSpPr txBox="1"/>
          <p:nvPr/>
        </p:nvSpPr>
        <p:spPr>
          <a:xfrm>
            <a:off x="548640" y="1463040"/>
            <a:ext cx="11094415" cy="518604"/>
          </a:xfrm>
          <a:prstGeom prst="rect">
            <a:avLst/>
          </a:prstGeom>
          <a:noFill/>
        </p:spPr>
        <p:txBody>
          <a:bodyPr wrap="square" lIns="0" tIns="0" rIns="0" bIns="0" anchor="t">
            <a:spAutoFit/>
          </a:bodyPr>
          <a:lstStyle/>
          <a:p>
            <a:pPr algn="l">
              <a:lnSpc>
                <a:spcPct val="125000"/>
              </a:lnSpc>
              <a:spcAft>
                <a:spcPts val="400"/>
              </a:spcAft>
            </a:pPr>
            <a:r>
              <a:rPr sz="1400" b="1" i="0" dirty="0">
                <a:latin typeface="Calibri"/>
              </a:rPr>
              <a:t>A CPI print is the past. </a:t>
            </a:r>
            <a:r>
              <a:rPr sz="1400" b="0" i="0" dirty="0">
                <a:latin typeface="Calibri"/>
              </a:rPr>
              <a:t>The Fed says what it is going to do — in words, out loud — before it ever shows up in the data. So we gave the same model three different things to read, and changed nothing else.</a:t>
            </a:r>
          </a:p>
        </p:txBody>
      </p:sp>
      <p:sp>
        <p:nvSpPr>
          <p:cNvPr id="9" name="Rectangle 8"/>
          <p:cNvSpPr/>
          <p:nvPr/>
        </p:nvSpPr>
        <p:spPr>
          <a:xfrm>
            <a:off x="548640" y="2286000"/>
            <a:ext cx="3520440" cy="178308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548640" y="2286000"/>
            <a:ext cx="3520440" cy="64008"/>
          </a:xfrm>
          <a:prstGeom prst="rect">
            <a:avLst/>
          </a:prstGeom>
          <a:solidFill>
            <a:srgbClr val="3B7E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777240" y="2514600"/>
            <a:ext cx="3063240" cy="310896"/>
          </a:xfrm>
          <a:prstGeom prst="rect">
            <a:avLst/>
          </a:prstGeom>
          <a:noFill/>
        </p:spPr>
        <p:txBody>
          <a:bodyPr wrap="square" lIns="0" tIns="0" rIns="0" bIns="0" anchor="t">
            <a:spAutoFit/>
          </a:bodyPr>
          <a:lstStyle/>
          <a:p>
            <a:pPr algn="l">
              <a:lnSpc>
                <a:spcPct val="110000"/>
              </a:lnSpc>
              <a:spcAft>
                <a:spcPts val="400"/>
              </a:spcAft>
            </a:pPr>
            <a:r>
              <a:rPr sz="2100" b="1" i="0" dirty="0">
                <a:solidFill>
                  <a:srgbClr val="3B7EA1"/>
                </a:solidFill>
                <a:latin typeface="Calibri"/>
              </a:rPr>
              <a:t>NUMBERS</a:t>
            </a:r>
          </a:p>
        </p:txBody>
      </p:sp>
      <p:sp>
        <p:nvSpPr>
          <p:cNvPr id="12" name="TextBox 11"/>
          <p:cNvSpPr txBox="1"/>
          <p:nvPr/>
        </p:nvSpPr>
        <p:spPr>
          <a:xfrm>
            <a:off x="777240" y="2907792"/>
            <a:ext cx="3063240" cy="219456"/>
          </a:xfrm>
          <a:prstGeom prst="rect">
            <a:avLst/>
          </a:prstGeom>
          <a:noFill/>
        </p:spPr>
        <p:txBody>
          <a:bodyPr wrap="square" lIns="0" tIns="0" rIns="0" bIns="0" anchor="t">
            <a:spAutoFit/>
          </a:bodyPr>
          <a:lstStyle/>
          <a:p>
            <a:pPr algn="l">
              <a:lnSpc>
                <a:spcPct val="110000"/>
              </a:lnSpc>
              <a:spcAft>
                <a:spcPts val="400"/>
              </a:spcAft>
            </a:pPr>
            <a:r>
              <a:rPr sz="1150" b="1" i="0" dirty="0">
                <a:solidFill>
                  <a:srgbClr val="6E6E6E"/>
                </a:solidFill>
                <a:latin typeface="Calibri"/>
              </a:rPr>
              <a:t>what it read before</a:t>
            </a:r>
          </a:p>
        </p:txBody>
      </p:sp>
      <p:sp>
        <p:nvSpPr>
          <p:cNvPr id="13" name="TextBox 12"/>
          <p:cNvSpPr txBox="1"/>
          <p:nvPr/>
        </p:nvSpPr>
        <p:spPr>
          <a:xfrm>
            <a:off x="777240" y="3218688"/>
            <a:ext cx="3063240" cy="548640"/>
          </a:xfrm>
          <a:prstGeom prst="rect">
            <a:avLst/>
          </a:prstGeom>
          <a:noFill/>
        </p:spPr>
        <p:txBody>
          <a:bodyPr wrap="square" lIns="0" tIns="0" rIns="0" bIns="0" anchor="t">
            <a:spAutoFit/>
          </a:bodyPr>
          <a:lstStyle/>
          <a:p>
            <a:pPr algn="l">
              <a:lnSpc>
                <a:spcPct val="125000"/>
              </a:lnSpc>
              <a:spcAft>
                <a:spcPts val="400"/>
              </a:spcAft>
            </a:pPr>
            <a:r>
              <a:rPr sz="1200" b="0" i="0">
                <a:solidFill>
                  <a:srgbClr val="1A1A1A"/>
                </a:solidFill>
                <a:latin typeface="Calibri"/>
              </a:rPr>
              <a:t>The measurement: prices are up 3.1% on the year, and accelerating.</a:t>
            </a:r>
          </a:p>
        </p:txBody>
      </p:sp>
      <p:sp>
        <p:nvSpPr>
          <p:cNvPr id="15" name="Rectangle 14"/>
          <p:cNvSpPr/>
          <p:nvPr/>
        </p:nvSpPr>
        <p:spPr>
          <a:xfrm>
            <a:off x="4334256" y="2286000"/>
            <a:ext cx="3520440" cy="178308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4334256" y="2286000"/>
            <a:ext cx="3520440" cy="64008"/>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4562856" y="2514600"/>
            <a:ext cx="3063240" cy="310896"/>
          </a:xfrm>
          <a:prstGeom prst="rect">
            <a:avLst/>
          </a:prstGeom>
          <a:noFill/>
        </p:spPr>
        <p:txBody>
          <a:bodyPr wrap="square" lIns="0" tIns="0" rIns="0" bIns="0" anchor="t">
            <a:spAutoFit/>
          </a:bodyPr>
          <a:lstStyle/>
          <a:p>
            <a:pPr algn="l">
              <a:lnSpc>
                <a:spcPct val="110000"/>
              </a:lnSpc>
              <a:spcAft>
                <a:spcPts val="400"/>
              </a:spcAft>
            </a:pPr>
            <a:r>
              <a:rPr sz="2100" b="1" i="0">
                <a:solidFill>
                  <a:srgbClr val="0E7C6B"/>
                </a:solidFill>
                <a:latin typeface="Calibri"/>
              </a:rPr>
              <a:t>WORDS</a:t>
            </a:r>
          </a:p>
        </p:txBody>
      </p:sp>
      <p:sp>
        <p:nvSpPr>
          <p:cNvPr id="18" name="TextBox 17"/>
          <p:cNvSpPr txBox="1"/>
          <p:nvPr/>
        </p:nvSpPr>
        <p:spPr>
          <a:xfrm>
            <a:off x="4562856" y="2907792"/>
            <a:ext cx="3063240" cy="219456"/>
          </a:xfrm>
          <a:prstGeom prst="rect">
            <a:avLst/>
          </a:prstGeom>
          <a:noFill/>
        </p:spPr>
        <p:txBody>
          <a:bodyPr wrap="square" lIns="0" tIns="0" rIns="0" bIns="0" anchor="t">
            <a:spAutoFit/>
          </a:bodyPr>
          <a:lstStyle/>
          <a:p>
            <a:pPr algn="l">
              <a:lnSpc>
                <a:spcPct val="110000"/>
              </a:lnSpc>
              <a:spcAft>
                <a:spcPts val="400"/>
              </a:spcAft>
            </a:pPr>
            <a:r>
              <a:rPr sz="1150" b="1" i="0">
                <a:solidFill>
                  <a:srgbClr val="6E6E6E"/>
                </a:solidFill>
                <a:latin typeface="Calibri"/>
              </a:rPr>
              <a:t>the Fed's own statement</a:t>
            </a:r>
          </a:p>
        </p:txBody>
      </p:sp>
      <p:sp>
        <p:nvSpPr>
          <p:cNvPr id="19" name="TextBox 18"/>
          <p:cNvSpPr txBox="1"/>
          <p:nvPr/>
        </p:nvSpPr>
        <p:spPr>
          <a:xfrm>
            <a:off x="4562856" y="3218688"/>
            <a:ext cx="3063240" cy="548640"/>
          </a:xfrm>
          <a:prstGeom prst="rect">
            <a:avLst/>
          </a:prstGeom>
          <a:noFill/>
        </p:spPr>
        <p:txBody>
          <a:bodyPr wrap="square" lIns="0" tIns="0" rIns="0" bIns="0" anchor="t">
            <a:spAutoFit/>
          </a:bodyPr>
          <a:lstStyle/>
          <a:p>
            <a:pPr algn="l">
              <a:lnSpc>
                <a:spcPct val="125000"/>
              </a:lnSpc>
              <a:spcAft>
                <a:spcPts val="400"/>
              </a:spcAft>
            </a:pPr>
            <a:r>
              <a:rPr sz="1200" b="0" i="0">
                <a:solidFill>
                  <a:srgbClr val="1A1A1A"/>
                </a:solidFill>
                <a:latin typeface="Calibri"/>
              </a:rPr>
              <a:t>The latest FOMC statement, and nothing else. No numbers at all.</a:t>
            </a:r>
          </a:p>
        </p:txBody>
      </p:sp>
      <p:sp>
        <p:nvSpPr>
          <p:cNvPr id="21" name="Rectangle 20"/>
          <p:cNvSpPr/>
          <p:nvPr/>
        </p:nvSpPr>
        <p:spPr>
          <a:xfrm>
            <a:off x="8119872" y="2286000"/>
            <a:ext cx="3520440" cy="178308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8119872" y="2286000"/>
            <a:ext cx="3520440" cy="64008"/>
          </a:xfrm>
          <a:prstGeom prst="rect">
            <a:avLst/>
          </a:prstGeom>
          <a:solidFill>
            <a:srgbClr val="C48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8348472" y="2514600"/>
            <a:ext cx="3063240" cy="310896"/>
          </a:xfrm>
          <a:prstGeom prst="rect">
            <a:avLst/>
          </a:prstGeom>
          <a:noFill/>
        </p:spPr>
        <p:txBody>
          <a:bodyPr wrap="square" lIns="0" tIns="0" rIns="0" bIns="0" anchor="t">
            <a:spAutoFit/>
          </a:bodyPr>
          <a:lstStyle/>
          <a:p>
            <a:pPr algn="l">
              <a:lnSpc>
                <a:spcPct val="110000"/>
              </a:lnSpc>
              <a:spcAft>
                <a:spcPts val="400"/>
              </a:spcAft>
            </a:pPr>
            <a:r>
              <a:rPr sz="2100" b="1" i="0">
                <a:solidFill>
                  <a:srgbClr val="C4820E"/>
                </a:solidFill>
                <a:latin typeface="Calibri"/>
              </a:rPr>
              <a:t>BOTH</a:t>
            </a:r>
          </a:p>
        </p:txBody>
      </p:sp>
      <p:sp>
        <p:nvSpPr>
          <p:cNvPr id="24" name="TextBox 23"/>
          <p:cNvSpPr txBox="1"/>
          <p:nvPr/>
        </p:nvSpPr>
        <p:spPr>
          <a:xfrm>
            <a:off x="8348472" y="2907792"/>
            <a:ext cx="3063240" cy="219456"/>
          </a:xfrm>
          <a:prstGeom prst="rect">
            <a:avLst/>
          </a:prstGeom>
          <a:noFill/>
        </p:spPr>
        <p:txBody>
          <a:bodyPr wrap="square" lIns="0" tIns="0" rIns="0" bIns="0" anchor="t">
            <a:spAutoFit/>
          </a:bodyPr>
          <a:lstStyle/>
          <a:p>
            <a:pPr algn="l">
              <a:lnSpc>
                <a:spcPct val="110000"/>
              </a:lnSpc>
              <a:spcAft>
                <a:spcPts val="400"/>
              </a:spcAft>
            </a:pPr>
            <a:r>
              <a:rPr sz="1150" b="1" i="0">
                <a:solidFill>
                  <a:srgbClr val="6E6E6E"/>
                </a:solidFill>
                <a:latin typeface="Calibri"/>
              </a:rPr>
              <a:t>the number and the story</a:t>
            </a:r>
          </a:p>
        </p:txBody>
      </p:sp>
      <p:sp>
        <p:nvSpPr>
          <p:cNvPr id="25" name="TextBox 24"/>
          <p:cNvSpPr txBox="1"/>
          <p:nvPr/>
        </p:nvSpPr>
        <p:spPr>
          <a:xfrm>
            <a:off x="8348472" y="3218688"/>
            <a:ext cx="3063240" cy="548640"/>
          </a:xfrm>
          <a:prstGeom prst="rect">
            <a:avLst/>
          </a:prstGeom>
          <a:noFill/>
        </p:spPr>
        <p:txBody>
          <a:bodyPr wrap="square" lIns="0" tIns="0" rIns="0" bIns="0" anchor="t">
            <a:spAutoFit/>
          </a:bodyPr>
          <a:lstStyle/>
          <a:p>
            <a:pPr algn="l">
              <a:lnSpc>
                <a:spcPct val="125000"/>
              </a:lnSpc>
              <a:spcAft>
                <a:spcPts val="400"/>
              </a:spcAft>
            </a:pPr>
            <a:r>
              <a:rPr sz="1200" b="0" i="0">
                <a:solidFill>
                  <a:srgbClr val="1A1A1A"/>
                </a:solidFill>
                <a:latin typeface="Calibri"/>
              </a:rPr>
              <a:t>The measurement and the statement, together.</a:t>
            </a:r>
          </a:p>
        </p:txBody>
      </p:sp>
      <p:sp>
        <p:nvSpPr>
          <p:cNvPr id="27" name="Rectangle 26"/>
          <p:cNvSpPr/>
          <p:nvPr/>
        </p:nvSpPr>
        <p:spPr>
          <a:xfrm>
            <a:off x="548640" y="4343400"/>
            <a:ext cx="11094415" cy="73152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ectangle 27"/>
          <p:cNvSpPr/>
          <p:nvPr/>
        </p:nvSpPr>
        <p:spPr>
          <a:xfrm>
            <a:off x="548640" y="4343400"/>
            <a:ext cx="50292" cy="73152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749808" y="4425696"/>
            <a:ext cx="10728655" cy="566928"/>
          </a:xfrm>
          <a:prstGeom prst="rect">
            <a:avLst/>
          </a:prstGeom>
          <a:noFill/>
        </p:spPr>
        <p:txBody>
          <a:bodyPr wrap="square" lIns="0" tIns="0" rIns="0" bIns="0" anchor="ctr">
            <a:spAutoFit/>
          </a:bodyPr>
          <a:lstStyle/>
          <a:p>
            <a:pPr algn="l">
              <a:lnSpc>
                <a:spcPct val="110000"/>
              </a:lnSpc>
              <a:spcAft>
                <a:spcPts val="400"/>
              </a:spcAft>
            </a:pPr>
            <a:r>
              <a:rPr sz="1150" b="1" i="0">
                <a:solidFill>
                  <a:srgbClr val="1A1A1A"/>
                </a:solidFill>
                <a:latin typeface="Calibri"/>
              </a:rPr>
              <a:t>One knob, and we tested that it really is one knob. </a:t>
            </a:r>
            <a:r>
              <a:rPr sz="1150" b="0" i="0">
                <a:solidFill>
                  <a:srgbClr val="1A1A1A"/>
                </a:solidFill>
                <a:latin typeface="Calibri"/>
              </a:rPr>
              <a:t>Same instructions, same analysts, same 313 meetings, same scoring — the three runs differ in nothing but the thing the model reads. We have an offline test that checks each one gets exactly what it should and nothing more, including that it is never handed a statement published after the meeting.</a:t>
            </a:r>
          </a:p>
        </p:txBody>
      </p:sp>
      <p:sp>
        <p:nvSpPr>
          <p:cNvPr id="30" name="TextBox 29"/>
          <p:cNvSpPr txBox="1"/>
          <p:nvPr/>
        </p:nvSpPr>
        <p:spPr>
          <a:xfrm>
            <a:off x="548640" y="5303520"/>
            <a:ext cx="11094415" cy="267189"/>
          </a:xfrm>
          <a:prstGeom prst="rect">
            <a:avLst/>
          </a:prstGeom>
          <a:noFill/>
        </p:spPr>
        <p:txBody>
          <a:bodyPr wrap="square" lIns="0" tIns="0" rIns="0" bIns="0" anchor="t">
            <a:spAutoFit/>
          </a:bodyPr>
          <a:lstStyle/>
          <a:p>
            <a:pPr algn="l">
              <a:lnSpc>
                <a:spcPct val="125000"/>
              </a:lnSpc>
              <a:spcAft>
                <a:spcPts val="400"/>
              </a:spcAft>
            </a:pPr>
            <a:r>
              <a:rPr sz="1500" b="1" i="0" dirty="0">
                <a:solidFill>
                  <a:srgbClr val="003262"/>
                </a:solidFill>
                <a:latin typeface="Calibri"/>
              </a:rPr>
              <a:t>Same brain in all three. </a:t>
            </a:r>
            <a:r>
              <a:rPr sz="1500" b="0" i="0" dirty="0">
                <a:solidFill>
                  <a:srgbClr val="003262"/>
                </a:solidFill>
                <a:latin typeface="Calibri"/>
              </a:rPr>
              <a:t>So anything that moves is the input.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94415" cy="548640"/>
          </a:xfrm>
          <a:prstGeom prst="rect">
            <a:avLst/>
          </a:prstGeom>
          <a:noFill/>
        </p:spPr>
        <p:txBody>
          <a:bodyPr wrap="square" lIns="0" tIns="0" rIns="0" bIns="0" anchor="t">
            <a:spAutoFit/>
          </a:bodyPr>
          <a:lstStyle/>
          <a:p>
            <a:pPr algn="l">
              <a:lnSpc>
                <a:spcPct val="105000"/>
              </a:lnSpc>
              <a:spcAft>
                <a:spcPts val="400"/>
              </a:spcAft>
            </a:pPr>
            <a:r>
              <a:rPr sz="2700" b="1" i="0">
                <a:solidFill>
                  <a:srgbClr val="003262"/>
                </a:solidFill>
                <a:latin typeface="Calibri"/>
              </a:rPr>
              <a:t>Words help — exactly where the Fed does the talking</a:t>
            </a:r>
          </a:p>
        </p:txBody>
      </p:sp>
      <p:sp>
        <p:nvSpPr>
          <p:cNvPr id="3" name="Rectangle 2"/>
          <p:cNvSpPr/>
          <p:nvPr/>
        </p:nvSpPr>
        <p:spPr>
          <a:xfrm>
            <a:off x="548640" y="1225296"/>
            <a:ext cx="1371600" cy="50292"/>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548640" y="6345936"/>
            <a:ext cx="11094415" cy="9525"/>
          </a:xfrm>
          <a:prstGeom prst="rect">
            <a:avLst/>
          </a:prstGeom>
          <a:solidFill>
            <a:srgbClr val="DDD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48640" y="6419088"/>
            <a:ext cx="2194560" cy="329184"/>
          </a:xfrm>
          <a:prstGeom prst="rect">
            <a:avLst/>
          </a:prstGeom>
          <a:noFill/>
        </p:spPr>
        <p:txBody>
          <a:bodyPr wrap="square" lIns="0" tIns="0" rIns="0" bIns="0" anchor="ctr">
            <a:spAutoFit/>
          </a:bodyPr>
          <a:lstStyle/>
          <a:p>
            <a:pPr algn="l">
              <a:lnSpc>
                <a:spcPct val="110000"/>
              </a:lnSpc>
              <a:spcAft>
                <a:spcPts val="400"/>
              </a:spcAft>
            </a:pPr>
            <a:r>
              <a:rPr sz="1500" b="1" i="0">
                <a:solidFill>
                  <a:srgbClr val="003262"/>
                </a:solidFill>
                <a:latin typeface="Calibri"/>
              </a:rPr>
              <a:t>Berkeley</a:t>
            </a:r>
            <a:r>
              <a:rPr sz="1300" b="0" i="0">
                <a:solidFill>
                  <a:srgbClr val="FDB515"/>
                </a:solidFill>
                <a:latin typeface="Calibri"/>
              </a:rPr>
              <a:t>  |  </a:t>
            </a:r>
            <a:r>
              <a:rPr sz="1100" b="1" i="0">
                <a:solidFill>
                  <a:srgbClr val="3B7EA1"/>
                </a:solidFill>
                <a:latin typeface="Calibri"/>
              </a:rPr>
              <a:t>MFE</a:t>
            </a:r>
          </a:p>
        </p:txBody>
      </p:sp>
      <p:sp>
        <p:nvSpPr>
          <p:cNvPr id="6" name="TextBox 5"/>
          <p:cNvSpPr txBox="1"/>
          <p:nvPr/>
        </p:nvSpPr>
        <p:spPr>
          <a:xfrm>
            <a:off x="9814255" y="6419088"/>
            <a:ext cx="1828800" cy="329184"/>
          </a:xfrm>
          <a:prstGeom prst="rect">
            <a:avLst/>
          </a:prstGeom>
          <a:noFill/>
        </p:spPr>
        <p:txBody>
          <a:bodyPr wrap="square" lIns="0" tIns="0" rIns="0" bIns="0" anchor="ctr">
            <a:spAutoFit/>
          </a:bodyPr>
          <a:lstStyle/>
          <a:p>
            <a:pPr algn="r">
              <a:lnSpc>
                <a:spcPct val="110000"/>
              </a:lnSpc>
              <a:spcAft>
                <a:spcPts val="400"/>
              </a:spcAft>
            </a:pPr>
            <a:r>
              <a:rPr sz="1300" b="1" i="0">
                <a:solidFill>
                  <a:srgbClr val="1A1A1A"/>
                </a:solidFill>
                <a:latin typeface="Calibri"/>
              </a:rPr>
              <a:t>BLACKROCK</a:t>
            </a:r>
          </a:p>
        </p:txBody>
      </p:sp>
      <p:sp>
        <p:nvSpPr>
          <p:cNvPr id="7" name="TextBox 6"/>
          <p:cNvSpPr txBox="1"/>
          <p:nvPr/>
        </p:nvSpPr>
        <p:spPr>
          <a:xfrm>
            <a:off x="5730087" y="6446520"/>
            <a:ext cx="731520" cy="274320"/>
          </a:xfrm>
          <a:prstGeom prst="rect">
            <a:avLst/>
          </a:prstGeom>
          <a:noFill/>
        </p:spPr>
        <p:txBody>
          <a:bodyPr wrap="square" lIns="0" tIns="0" rIns="0" bIns="0" anchor="ctr">
            <a:spAutoFit/>
          </a:bodyPr>
          <a:lstStyle/>
          <a:p>
            <a:pPr algn="ctr">
              <a:lnSpc>
                <a:spcPct val="110000"/>
              </a:lnSpc>
              <a:spcAft>
                <a:spcPts val="400"/>
              </a:spcAft>
            </a:pPr>
            <a:r>
              <a:rPr sz="1000" b="0" i="0">
                <a:solidFill>
                  <a:srgbClr val="6E6E6E"/>
                </a:solidFill>
                <a:latin typeface="Calibri"/>
              </a:rPr>
              <a:t>9</a:t>
            </a:r>
          </a:p>
        </p:txBody>
      </p:sp>
      <p:sp>
        <p:nvSpPr>
          <p:cNvPr id="8" name="TextBox 7"/>
          <p:cNvSpPr txBox="1"/>
          <p:nvPr/>
        </p:nvSpPr>
        <p:spPr>
          <a:xfrm>
            <a:off x="548640" y="1463040"/>
            <a:ext cx="11094415" cy="274320"/>
          </a:xfrm>
          <a:prstGeom prst="rect">
            <a:avLst/>
          </a:prstGeom>
          <a:noFill/>
        </p:spPr>
        <p:txBody>
          <a:bodyPr wrap="square" lIns="0" tIns="0" rIns="0" bIns="0" anchor="t">
            <a:spAutoFit/>
          </a:bodyPr>
          <a:lstStyle/>
          <a:p>
            <a:pPr algn="l">
              <a:lnSpc>
                <a:spcPct val="110000"/>
              </a:lnSpc>
              <a:spcAft>
                <a:spcPts val="400"/>
              </a:spcAft>
            </a:pPr>
            <a:r>
              <a:rPr sz="1100" b="1" i="0">
                <a:solidFill>
                  <a:srgbClr val="6E6E6E"/>
                </a:solidFill>
                <a:latin typeface="Calibri"/>
              </a:rPr>
              <a:t>HOW OFTEN IT CALLED THE DIRECTION RIGHT  ·  same model, only the reading changes</a:t>
            </a:r>
          </a:p>
        </p:txBody>
      </p:sp>
      <p:sp>
        <p:nvSpPr>
          <p:cNvPr id="9" name="TextBox 8"/>
          <p:cNvSpPr txBox="1"/>
          <p:nvPr/>
        </p:nvSpPr>
        <p:spPr>
          <a:xfrm>
            <a:off x="548640" y="2029968"/>
            <a:ext cx="2103120" cy="237744"/>
          </a:xfrm>
          <a:prstGeom prst="rect">
            <a:avLst/>
          </a:prstGeom>
          <a:noFill/>
        </p:spPr>
        <p:txBody>
          <a:bodyPr wrap="square" lIns="0" tIns="0" rIns="0" bIns="0" anchor="t">
            <a:spAutoFit/>
          </a:bodyPr>
          <a:lstStyle/>
          <a:p>
            <a:pPr algn="l">
              <a:lnSpc>
                <a:spcPct val="110000"/>
              </a:lnSpc>
              <a:spcAft>
                <a:spcPts val="400"/>
              </a:spcAft>
            </a:pPr>
            <a:r>
              <a:rPr sz="1300" b="1" i="0">
                <a:solidFill>
                  <a:srgbClr val="003262"/>
                </a:solidFill>
                <a:latin typeface="Calibri"/>
              </a:rPr>
              <a:t>Inflation</a:t>
            </a:r>
          </a:p>
        </p:txBody>
      </p:sp>
      <p:sp>
        <p:nvSpPr>
          <p:cNvPr id="10" name="Rectangle 9"/>
          <p:cNvSpPr/>
          <p:nvPr/>
        </p:nvSpPr>
        <p:spPr>
          <a:xfrm>
            <a:off x="2834640" y="2144077"/>
            <a:ext cx="6766560" cy="9525"/>
          </a:xfrm>
          <a:prstGeom prst="rect">
            <a:avLst/>
          </a:prstGeom>
          <a:solidFill>
            <a:srgbClr val="DDD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4805252" y="2121408"/>
            <a:ext cx="201809" cy="54864"/>
          </a:xfrm>
          <a:prstGeom prst="rect">
            <a:avLst/>
          </a:prstGeom>
          <a:solidFill>
            <a:srgbClr val="9B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4920193" y="2061972"/>
            <a:ext cx="173736" cy="173736"/>
          </a:xfrm>
          <a:prstGeom prst="ellipse">
            <a:avLst/>
          </a:prstGeom>
          <a:solidFill>
            <a:srgbClr val="3B7E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4595581" y="1764792"/>
            <a:ext cx="822960" cy="219456"/>
          </a:xfrm>
          <a:prstGeom prst="rect">
            <a:avLst/>
          </a:prstGeom>
          <a:noFill/>
        </p:spPr>
        <p:txBody>
          <a:bodyPr wrap="square" lIns="0" tIns="0" rIns="0" bIns="0" anchor="t">
            <a:spAutoFit/>
          </a:bodyPr>
          <a:lstStyle/>
          <a:p>
            <a:pPr algn="ctr">
              <a:lnSpc>
                <a:spcPct val="110000"/>
              </a:lnSpc>
              <a:spcAft>
                <a:spcPts val="400"/>
              </a:spcAft>
            </a:pPr>
            <a:r>
              <a:rPr sz="1000" b="1" i="0">
                <a:solidFill>
                  <a:srgbClr val="3B7EA1"/>
                </a:solidFill>
                <a:latin typeface="Consolas"/>
              </a:rPr>
              <a:t>0.533</a:t>
            </a:r>
          </a:p>
        </p:txBody>
      </p:sp>
      <p:sp>
        <p:nvSpPr>
          <p:cNvPr id="14" name="Oval 13"/>
          <p:cNvSpPr/>
          <p:nvPr/>
        </p:nvSpPr>
        <p:spPr>
          <a:xfrm>
            <a:off x="4718384" y="2061972"/>
            <a:ext cx="173736" cy="173736"/>
          </a:xfrm>
          <a:prstGeom prst="ellipse">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393772" y="2295144"/>
            <a:ext cx="822960" cy="219456"/>
          </a:xfrm>
          <a:prstGeom prst="rect">
            <a:avLst/>
          </a:prstGeom>
          <a:noFill/>
        </p:spPr>
        <p:txBody>
          <a:bodyPr wrap="square" lIns="0" tIns="0" rIns="0" bIns="0" anchor="t">
            <a:spAutoFit/>
          </a:bodyPr>
          <a:lstStyle/>
          <a:p>
            <a:pPr algn="ctr">
              <a:lnSpc>
                <a:spcPct val="110000"/>
              </a:lnSpc>
              <a:spcAft>
                <a:spcPts val="400"/>
              </a:spcAft>
            </a:pPr>
            <a:r>
              <a:rPr sz="1000" b="1" i="0">
                <a:solidFill>
                  <a:srgbClr val="0E7C6B"/>
                </a:solidFill>
                <a:latin typeface="Consolas"/>
              </a:rPr>
              <a:t>0.516</a:t>
            </a:r>
          </a:p>
        </p:txBody>
      </p:sp>
      <p:sp>
        <p:nvSpPr>
          <p:cNvPr id="16" name="TextBox 15"/>
          <p:cNvSpPr txBox="1"/>
          <p:nvPr/>
        </p:nvSpPr>
        <p:spPr>
          <a:xfrm>
            <a:off x="9738360" y="2039112"/>
            <a:ext cx="2103120" cy="237744"/>
          </a:xfrm>
          <a:prstGeom prst="rect">
            <a:avLst/>
          </a:prstGeom>
          <a:noFill/>
        </p:spPr>
        <p:txBody>
          <a:bodyPr wrap="square" lIns="0" tIns="0" rIns="0" bIns="0" anchor="t">
            <a:spAutoFit/>
          </a:bodyPr>
          <a:lstStyle/>
          <a:p>
            <a:pPr algn="l">
              <a:lnSpc>
                <a:spcPct val="110000"/>
              </a:lnSpc>
              <a:spcAft>
                <a:spcPts val="400"/>
              </a:spcAft>
            </a:pPr>
            <a:r>
              <a:rPr sz="1050" b="0" i="0">
                <a:solidFill>
                  <a:srgbClr val="9B2226"/>
                </a:solidFill>
                <a:latin typeface="Calibri"/>
              </a:rPr>
              <a:t>words made it worse</a:t>
            </a:r>
          </a:p>
        </p:txBody>
      </p:sp>
      <p:sp>
        <p:nvSpPr>
          <p:cNvPr id="17" name="TextBox 16"/>
          <p:cNvSpPr txBox="1"/>
          <p:nvPr/>
        </p:nvSpPr>
        <p:spPr>
          <a:xfrm>
            <a:off x="548640" y="2743200"/>
            <a:ext cx="2103120" cy="237744"/>
          </a:xfrm>
          <a:prstGeom prst="rect">
            <a:avLst/>
          </a:prstGeom>
          <a:noFill/>
        </p:spPr>
        <p:txBody>
          <a:bodyPr wrap="square" lIns="0" tIns="0" rIns="0" bIns="0" anchor="t">
            <a:spAutoFit/>
          </a:bodyPr>
          <a:lstStyle/>
          <a:p>
            <a:pPr algn="l">
              <a:lnSpc>
                <a:spcPct val="110000"/>
              </a:lnSpc>
              <a:spcAft>
                <a:spcPts val="400"/>
              </a:spcAft>
            </a:pPr>
            <a:r>
              <a:rPr sz="1300" b="1" i="0">
                <a:solidFill>
                  <a:srgbClr val="003262"/>
                </a:solidFill>
                <a:latin typeface="Calibri"/>
              </a:rPr>
              <a:t>Jobs</a:t>
            </a:r>
          </a:p>
        </p:txBody>
      </p:sp>
      <p:sp>
        <p:nvSpPr>
          <p:cNvPr id="18" name="Rectangle 17"/>
          <p:cNvSpPr/>
          <p:nvPr/>
        </p:nvSpPr>
        <p:spPr>
          <a:xfrm>
            <a:off x="2834640" y="2857309"/>
            <a:ext cx="6766560" cy="9525"/>
          </a:xfrm>
          <a:prstGeom prst="rect">
            <a:avLst/>
          </a:prstGeom>
          <a:solidFill>
            <a:srgbClr val="DDD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3238259" y="2834640"/>
            <a:ext cx="154325" cy="54864"/>
          </a:xfrm>
          <a:prstGeom prst="rect">
            <a:avLst/>
          </a:prstGeom>
          <a:solidFill>
            <a:srgbClr val="9B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3305716" y="2775204"/>
            <a:ext cx="173736" cy="173736"/>
          </a:xfrm>
          <a:prstGeom prst="ellipse">
            <a:avLst/>
          </a:prstGeom>
          <a:solidFill>
            <a:srgbClr val="3B7E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2981104" y="2478024"/>
            <a:ext cx="822960" cy="219456"/>
          </a:xfrm>
          <a:prstGeom prst="rect">
            <a:avLst/>
          </a:prstGeom>
          <a:noFill/>
        </p:spPr>
        <p:txBody>
          <a:bodyPr wrap="square" lIns="0" tIns="0" rIns="0" bIns="0" anchor="t">
            <a:spAutoFit/>
          </a:bodyPr>
          <a:lstStyle/>
          <a:p>
            <a:pPr algn="ctr">
              <a:lnSpc>
                <a:spcPct val="110000"/>
              </a:lnSpc>
              <a:spcAft>
                <a:spcPts val="400"/>
              </a:spcAft>
            </a:pPr>
            <a:r>
              <a:rPr sz="1000" b="1" i="0">
                <a:solidFill>
                  <a:srgbClr val="3B7EA1"/>
                </a:solidFill>
                <a:latin typeface="Consolas"/>
              </a:rPr>
              <a:t>0.397</a:t>
            </a:r>
          </a:p>
        </p:txBody>
      </p:sp>
      <p:sp>
        <p:nvSpPr>
          <p:cNvPr id="22" name="Oval 21"/>
          <p:cNvSpPr/>
          <p:nvPr/>
        </p:nvSpPr>
        <p:spPr>
          <a:xfrm>
            <a:off x="3151391" y="2775204"/>
            <a:ext cx="173736" cy="173736"/>
          </a:xfrm>
          <a:prstGeom prst="ellipse">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2826779" y="3008376"/>
            <a:ext cx="822960" cy="219456"/>
          </a:xfrm>
          <a:prstGeom prst="rect">
            <a:avLst/>
          </a:prstGeom>
          <a:noFill/>
        </p:spPr>
        <p:txBody>
          <a:bodyPr wrap="square" lIns="0" tIns="0" rIns="0" bIns="0" anchor="t">
            <a:spAutoFit/>
          </a:bodyPr>
          <a:lstStyle/>
          <a:p>
            <a:pPr algn="ctr">
              <a:lnSpc>
                <a:spcPct val="110000"/>
              </a:lnSpc>
              <a:spcAft>
                <a:spcPts val="400"/>
              </a:spcAft>
            </a:pPr>
            <a:r>
              <a:rPr sz="1000" b="1" i="0">
                <a:solidFill>
                  <a:srgbClr val="0E7C6B"/>
                </a:solidFill>
                <a:latin typeface="Consolas"/>
              </a:rPr>
              <a:t>0.384</a:t>
            </a:r>
          </a:p>
        </p:txBody>
      </p:sp>
      <p:sp>
        <p:nvSpPr>
          <p:cNvPr id="24" name="TextBox 23"/>
          <p:cNvSpPr txBox="1"/>
          <p:nvPr/>
        </p:nvSpPr>
        <p:spPr>
          <a:xfrm>
            <a:off x="9738360" y="2752344"/>
            <a:ext cx="2103120" cy="237744"/>
          </a:xfrm>
          <a:prstGeom prst="rect">
            <a:avLst/>
          </a:prstGeom>
          <a:noFill/>
        </p:spPr>
        <p:txBody>
          <a:bodyPr wrap="square" lIns="0" tIns="0" rIns="0" bIns="0" anchor="t">
            <a:spAutoFit/>
          </a:bodyPr>
          <a:lstStyle/>
          <a:p>
            <a:pPr algn="l">
              <a:lnSpc>
                <a:spcPct val="110000"/>
              </a:lnSpc>
              <a:spcAft>
                <a:spcPts val="400"/>
              </a:spcAft>
            </a:pPr>
            <a:r>
              <a:rPr sz="1050" b="0" i="0">
                <a:solidFill>
                  <a:srgbClr val="9B2226"/>
                </a:solidFill>
                <a:latin typeface="Calibri"/>
              </a:rPr>
              <a:t>words made it worse</a:t>
            </a:r>
          </a:p>
        </p:txBody>
      </p:sp>
      <p:sp>
        <p:nvSpPr>
          <p:cNvPr id="25" name="TextBox 24"/>
          <p:cNvSpPr txBox="1"/>
          <p:nvPr/>
        </p:nvSpPr>
        <p:spPr>
          <a:xfrm>
            <a:off x="548640" y="3456432"/>
            <a:ext cx="2103120" cy="237744"/>
          </a:xfrm>
          <a:prstGeom prst="rect">
            <a:avLst/>
          </a:prstGeom>
          <a:noFill/>
        </p:spPr>
        <p:txBody>
          <a:bodyPr wrap="square" lIns="0" tIns="0" rIns="0" bIns="0" anchor="t">
            <a:spAutoFit/>
          </a:bodyPr>
          <a:lstStyle/>
          <a:p>
            <a:pPr algn="l">
              <a:lnSpc>
                <a:spcPct val="110000"/>
              </a:lnSpc>
              <a:spcAft>
                <a:spcPts val="400"/>
              </a:spcAft>
            </a:pPr>
            <a:r>
              <a:rPr sz="1300" b="1" i="0">
                <a:solidFill>
                  <a:srgbClr val="003262"/>
                </a:solidFill>
                <a:latin typeface="Calibri"/>
              </a:rPr>
              <a:t>Balance sheet</a:t>
            </a:r>
          </a:p>
        </p:txBody>
      </p:sp>
      <p:sp>
        <p:nvSpPr>
          <p:cNvPr id="26" name="Rectangle 25"/>
          <p:cNvSpPr/>
          <p:nvPr/>
        </p:nvSpPr>
        <p:spPr>
          <a:xfrm>
            <a:off x="2834640" y="3570541"/>
            <a:ext cx="6766560" cy="9525"/>
          </a:xfrm>
          <a:prstGeom prst="rect">
            <a:avLst/>
          </a:prstGeom>
          <a:solidFill>
            <a:srgbClr val="DDD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Rectangle 26"/>
          <p:cNvSpPr/>
          <p:nvPr/>
        </p:nvSpPr>
        <p:spPr>
          <a:xfrm>
            <a:off x="8604022" y="3547872"/>
            <a:ext cx="581686" cy="54864"/>
          </a:xfrm>
          <a:prstGeom prst="rect">
            <a:avLst/>
          </a:prstGeom>
          <a:solidFill>
            <a:srgbClr val="1E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Oval 27"/>
          <p:cNvSpPr/>
          <p:nvPr/>
        </p:nvSpPr>
        <p:spPr>
          <a:xfrm>
            <a:off x="8517154" y="3488436"/>
            <a:ext cx="173736" cy="173736"/>
          </a:xfrm>
          <a:prstGeom prst="ellipse">
            <a:avLst/>
          </a:prstGeom>
          <a:solidFill>
            <a:srgbClr val="3B7E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8192542" y="3191256"/>
            <a:ext cx="822960" cy="219456"/>
          </a:xfrm>
          <a:prstGeom prst="rect">
            <a:avLst/>
          </a:prstGeom>
          <a:noFill/>
        </p:spPr>
        <p:txBody>
          <a:bodyPr wrap="square" lIns="0" tIns="0" rIns="0" bIns="0" anchor="t">
            <a:spAutoFit/>
          </a:bodyPr>
          <a:lstStyle/>
          <a:p>
            <a:pPr algn="ctr">
              <a:lnSpc>
                <a:spcPct val="110000"/>
              </a:lnSpc>
              <a:spcAft>
                <a:spcPts val="400"/>
              </a:spcAft>
            </a:pPr>
            <a:r>
              <a:rPr sz="1000" b="1" i="0">
                <a:solidFill>
                  <a:srgbClr val="3B7EA1"/>
                </a:solidFill>
                <a:latin typeface="Consolas"/>
              </a:rPr>
              <a:t>0.836</a:t>
            </a:r>
          </a:p>
        </p:txBody>
      </p:sp>
      <p:sp>
        <p:nvSpPr>
          <p:cNvPr id="30" name="Oval 29"/>
          <p:cNvSpPr/>
          <p:nvPr/>
        </p:nvSpPr>
        <p:spPr>
          <a:xfrm>
            <a:off x="9098841" y="3488436"/>
            <a:ext cx="173736" cy="173736"/>
          </a:xfrm>
          <a:prstGeom prst="ellipse">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8774229" y="3721608"/>
            <a:ext cx="822960" cy="219456"/>
          </a:xfrm>
          <a:prstGeom prst="rect">
            <a:avLst/>
          </a:prstGeom>
          <a:noFill/>
        </p:spPr>
        <p:txBody>
          <a:bodyPr wrap="square" lIns="0" tIns="0" rIns="0" bIns="0" anchor="t">
            <a:spAutoFit/>
          </a:bodyPr>
          <a:lstStyle/>
          <a:p>
            <a:pPr algn="ctr">
              <a:lnSpc>
                <a:spcPct val="110000"/>
              </a:lnSpc>
              <a:spcAft>
                <a:spcPts val="400"/>
              </a:spcAft>
            </a:pPr>
            <a:r>
              <a:rPr sz="1000" b="1" i="0">
                <a:solidFill>
                  <a:srgbClr val="0E7C6B"/>
                </a:solidFill>
                <a:latin typeface="Consolas"/>
              </a:rPr>
              <a:t>0.885</a:t>
            </a:r>
          </a:p>
        </p:txBody>
      </p:sp>
      <p:sp>
        <p:nvSpPr>
          <p:cNvPr id="32" name="TextBox 31"/>
          <p:cNvSpPr txBox="1"/>
          <p:nvPr/>
        </p:nvSpPr>
        <p:spPr>
          <a:xfrm>
            <a:off x="9738360" y="3465576"/>
            <a:ext cx="2103120" cy="237744"/>
          </a:xfrm>
          <a:prstGeom prst="rect">
            <a:avLst/>
          </a:prstGeom>
          <a:noFill/>
        </p:spPr>
        <p:txBody>
          <a:bodyPr wrap="square" lIns="0" tIns="0" rIns="0" bIns="0" anchor="t">
            <a:spAutoFit/>
          </a:bodyPr>
          <a:lstStyle/>
          <a:p>
            <a:pPr algn="l">
              <a:lnSpc>
                <a:spcPct val="110000"/>
              </a:lnSpc>
              <a:spcAft>
                <a:spcPts val="400"/>
              </a:spcAft>
            </a:pPr>
            <a:r>
              <a:rPr sz="1050" b="0" i="0">
                <a:solidFill>
                  <a:srgbClr val="1E6B3A"/>
                </a:solidFill>
                <a:latin typeface="Calibri"/>
              </a:rPr>
              <a:t>the Fed announces QT in words</a:t>
            </a:r>
          </a:p>
        </p:txBody>
      </p:sp>
      <p:sp>
        <p:nvSpPr>
          <p:cNvPr id="33" name="TextBox 32"/>
          <p:cNvSpPr txBox="1"/>
          <p:nvPr/>
        </p:nvSpPr>
        <p:spPr>
          <a:xfrm>
            <a:off x="548640" y="4169664"/>
            <a:ext cx="2103120" cy="237744"/>
          </a:xfrm>
          <a:prstGeom prst="rect">
            <a:avLst/>
          </a:prstGeom>
          <a:noFill/>
        </p:spPr>
        <p:txBody>
          <a:bodyPr wrap="square" lIns="0" tIns="0" rIns="0" bIns="0" anchor="t">
            <a:spAutoFit/>
          </a:bodyPr>
          <a:lstStyle/>
          <a:p>
            <a:pPr algn="l">
              <a:lnSpc>
                <a:spcPct val="110000"/>
              </a:lnSpc>
              <a:spcAft>
                <a:spcPts val="400"/>
              </a:spcAft>
            </a:pPr>
            <a:r>
              <a:rPr sz="1300" b="1" i="0">
                <a:solidFill>
                  <a:srgbClr val="003262"/>
                </a:solidFill>
                <a:latin typeface="Calibri"/>
              </a:rPr>
              <a:t>Term premium</a:t>
            </a:r>
          </a:p>
        </p:txBody>
      </p:sp>
      <p:sp>
        <p:nvSpPr>
          <p:cNvPr id="34" name="Rectangle 33"/>
          <p:cNvSpPr/>
          <p:nvPr/>
        </p:nvSpPr>
        <p:spPr>
          <a:xfrm>
            <a:off x="2834640" y="4283773"/>
            <a:ext cx="6766560" cy="9525"/>
          </a:xfrm>
          <a:prstGeom prst="rect">
            <a:avLst/>
          </a:prstGeom>
          <a:solidFill>
            <a:srgbClr val="DDD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Rectangle 34"/>
          <p:cNvSpPr/>
          <p:nvPr/>
        </p:nvSpPr>
        <p:spPr>
          <a:xfrm>
            <a:off x="4532215" y="4261104"/>
            <a:ext cx="593557" cy="54864"/>
          </a:xfrm>
          <a:prstGeom prst="rect">
            <a:avLst/>
          </a:prstGeom>
          <a:solidFill>
            <a:srgbClr val="1E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Oval 35"/>
          <p:cNvSpPr/>
          <p:nvPr/>
        </p:nvSpPr>
        <p:spPr>
          <a:xfrm>
            <a:off x="4445347" y="4201668"/>
            <a:ext cx="173736" cy="173736"/>
          </a:xfrm>
          <a:prstGeom prst="ellipse">
            <a:avLst/>
          </a:prstGeom>
          <a:solidFill>
            <a:srgbClr val="3B7E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4120735" y="3904488"/>
            <a:ext cx="822960" cy="219456"/>
          </a:xfrm>
          <a:prstGeom prst="rect">
            <a:avLst/>
          </a:prstGeom>
          <a:noFill/>
        </p:spPr>
        <p:txBody>
          <a:bodyPr wrap="square" lIns="0" tIns="0" rIns="0" bIns="0" anchor="t">
            <a:spAutoFit/>
          </a:bodyPr>
          <a:lstStyle/>
          <a:p>
            <a:pPr algn="ctr">
              <a:lnSpc>
                <a:spcPct val="110000"/>
              </a:lnSpc>
              <a:spcAft>
                <a:spcPts val="400"/>
              </a:spcAft>
            </a:pPr>
            <a:r>
              <a:rPr sz="1000" b="1" i="0">
                <a:solidFill>
                  <a:srgbClr val="3B7EA1"/>
                </a:solidFill>
                <a:latin typeface="Consolas"/>
              </a:rPr>
              <a:t>0.493</a:t>
            </a:r>
          </a:p>
        </p:txBody>
      </p:sp>
      <p:sp>
        <p:nvSpPr>
          <p:cNvPr id="38" name="Oval 37"/>
          <p:cNvSpPr/>
          <p:nvPr/>
        </p:nvSpPr>
        <p:spPr>
          <a:xfrm>
            <a:off x="5038905" y="4201668"/>
            <a:ext cx="173736" cy="173736"/>
          </a:xfrm>
          <a:prstGeom prst="ellipse">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4714293" y="4434840"/>
            <a:ext cx="822960" cy="219456"/>
          </a:xfrm>
          <a:prstGeom prst="rect">
            <a:avLst/>
          </a:prstGeom>
          <a:noFill/>
        </p:spPr>
        <p:txBody>
          <a:bodyPr wrap="square" lIns="0" tIns="0" rIns="0" bIns="0" anchor="t">
            <a:spAutoFit/>
          </a:bodyPr>
          <a:lstStyle/>
          <a:p>
            <a:pPr algn="ctr">
              <a:lnSpc>
                <a:spcPct val="110000"/>
              </a:lnSpc>
              <a:spcAft>
                <a:spcPts val="400"/>
              </a:spcAft>
            </a:pPr>
            <a:r>
              <a:rPr sz="1000" b="1" i="0">
                <a:solidFill>
                  <a:srgbClr val="0E7C6B"/>
                </a:solidFill>
                <a:latin typeface="Consolas"/>
              </a:rPr>
              <a:t>0.543</a:t>
            </a:r>
          </a:p>
        </p:txBody>
      </p:sp>
      <p:sp>
        <p:nvSpPr>
          <p:cNvPr id="40" name="TextBox 39"/>
          <p:cNvSpPr txBox="1"/>
          <p:nvPr/>
        </p:nvSpPr>
        <p:spPr>
          <a:xfrm>
            <a:off x="9738360" y="4178808"/>
            <a:ext cx="2103120" cy="237744"/>
          </a:xfrm>
          <a:prstGeom prst="rect">
            <a:avLst/>
          </a:prstGeom>
          <a:noFill/>
        </p:spPr>
        <p:txBody>
          <a:bodyPr wrap="square" lIns="0" tIns="0" rIns="0" bIns="0" anchor="t">
            <a:spAutoFit/>
          </a:bodyPr>
          <a:lstStyle/>
          <a:p>
            <a:pPr algn="l">
              <a:lnSpc>
                <a:spcPct val="110000"/>
              </a:lnSpc>
              <a:spcAft>
                <a:spcPts val="400"/>
              </a:spcAft>
            </a:pPr>
            <a:r>
              <a:rPr sz="1050" b="0" i="0">
                <a:solidFill>
                  <a:srgbClr val="1E6B3A"/>
                </a:solidFill>
                <a:latin typeface="Calibri"/>
              </a:rPr>
              <a:t>a coin flip becomes a real call</a:t>
            </a:r>
          </a:p>
        </p:txBody>
      </p:sp>
      <p:sp>
        <p:nvSpPr>
          <p:cNvPr id="41" name="Rectangle 40"/>
          <p:cNvSpPr/>
          <p:nvPr/>
        </p:nvSpPr>
        <p:spPr>
          <a:xfrm>
            <a:off x="4615313" y="1938528"/>
            <a:ext cx="9525" cy="2514600"/>
          </a:xfrm>
          <a:prstGeom prst="rect">
            <a:avLst/>
          </a:prstGeom>
          <a:solidFill>
            <a:srgbClr val="A8A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3563753" y="1737360"/>
            <a:ext cx="960120" cy="201168"/>
          </a:xfrm>
          <a:prstGeom prst="rect">
            <a:avLst/>
          </a:prstGeom>
          <a:noFill/>
        </p:spPr>
        <p:txBody>
          <a:bodyPr wrap="square" lIns="0" tIns="0" rIns="0" bIns="0" anchor="t">
            <a:spAutoFit/>
          </a:bodyPr>
          <a:lstStyle/>
          <a:p>
            <a:pPr algn="r">
              <a:lnSpc>
                <a:spcPct val="110000"/>
              </a:lnSpc>
              <a:spcAft>
                <a:spcPts val="400"/>
              </a:spcAft>
            </a:pPr>
            <a:r>
              <a:rPr sz="950" b="0" i="0">
                <a:solidFill>
                  <a:srgbClr val="6E6E6E"/>
                </a:solidFill>
                <a:latin typeface="Calibri"/>
              </a:rPr>
              <a:t>coin flip →</a:t>
            </a:r>
          </a:p>
        </p:txBody>
      </p:sp>
      <p:sp>
        <p:nvSpPr>
          <p:cNvPr id="43" name="Oval 42"/>
          <p:cNvSpPr/>
          <p:nvPr/>
        </p:nvSpPr>
        <p:spPr>
          <a:xfrm>
            <a:off x="2834640" y="4681728"/>
            <a:ext cx="146304" cy="146304"/>
          </a:xfrm>
          <a:prstGeom prst="ellipse">
            <a:avLst/>
          </a:prstGeom>
          <a:solidFill>
            <a:srgbClr val="3B7E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3072384" y="4645152"/>
            <a:ext cx="1920240" cy="219456"/>
          </a:xfrm>
          <a:prstGeom prst="rect">
            <a:avLst/>
          </a:prstGeom>
          <a:noFill/>
        </p:spPr>
        <p:txBody>
          <a:bodyPr wrap="square" lIns="0" tIns="0" rIns="0" bIns="0" anchor="t">
            <a:spAutoFit/>
          </a:bodyPr>
          <a:lstStyle/>
          <a:p>
            <a:pPr algn="l">
              <a:lnSpc>
                <a:spcPct val="110000"/>
              </a:lnSpc>
              <a:spcAft>
                <a:spcPts val="400"/>
              </a:spcAft>
            </a:pPr>
            <a:r>
              <a:rPr sz="1100" b="1" i="0">
                <a:solidFill>
                  <a:srgbClr val="3B7EA1"/>
                </a:solidFill>
                <a:latin typeface="Calibri"/>
              </a:rPr>
              <a:t>reading the numbers</a:t>
            </a:r>
          </a:p>
        </p:txBody>
      </p:sp>
      <p:sp>
        <p:nvSpPr>
          <p:cNvPr id="45" name="Oval 44"/>
          <p:cNvSpPr/>
          <p:nvPr/>
        </p:nvSpPr>
        <p:spPr>
          <a:xfrm>
            <a:off x="5029200" y="4681728"/>
            <a:ext cx="146304" cy="146304"/>
          </a:xfrm>
          <a:prstGeom prst="ellipse">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5266944" y="4645152"/>
            <a:ext cx="1920240" cy="219456"/>
          </a:xfrm>
          <a:prstGeom prst="rect">
            <a:avLst/>
          </a:prstGeom>
          <a:noFill/>
        </p:spPr>
        <p:txBody>
          <a:bodyPr wrap="square" lIns="0" tIns="0" rIns="0" bIns="0" anchor="t">
            <a:spAutoFit/>
          </a:bodyPr>
          <a:lstStyle/>
          <a:p>
            <a:pPr algn="l">
              <a:lnSpc>
                <a:spcPct val="110000"/>
              </a:lnSpc>
              <a:spcAft>
                <a:spcPts val="400"/>
              </a:spcAft>
            </a:pPr>
            <a:r>
              <a:rPr sz="1100" b="1" i="0">
                <a:solidFill>
                  <a:srgbClr val="0E7C6B"/>
                </a:solidFill>
                <a:latin typeface="Calibri"/>
              </a:rPr>
              <a:t>reading the Fed's words</a:t>
            </a:r>
          </a:p>
        </p:txBody>
      </p:sp>
      <p:sp>
        <p:nvSpPr>
          <p:cNvPr id="47" name="TextBox 46"/>
          <p:cNvSpPr txBox="1"/>
          <p:nvPr/>
        </p:nvSpPr>
        <p:spPr>
          <a:xfrm>
            <a:off x="548640" y="4983480"/>
            <a:ext cx="11094415" cy="731520"/>
          </a:xfrm>
          <a:prstGeom prst="rect">
            <a:avLst/>
          </a:prstGeom>
          <a:noFill/>
        </p:spPr>
        <p:txBody>
          <a:bodyPr wrap="square" lIns="0" tIns="0" rIns="0" bIns="0" anchor="t">
            <a:spAutoFit/>
          </a:bodyPr>
          <a:lstStyle/>
          <a:p>
            <a:pPr algn="l">
              <a:lnSpc>
                <a:spcPct val="125000"/>
              </a:lnSpc>
              <a:spcAft>
                <a:spcPts val="400"/>
              </a:spcAft>
            </a:pPr>
            <a:r>
              <a:rPr sz="1500" b="0" i="0">
                <a:solidFill>
                  <a:srgbClr val="003262"/>
                </a:solidFill>
                <a:latin typeface="Calibri"/>
              </a:rPr>
              <a:t>The pattern isn't “text is better.” It's </a:t>
            </a:r>
            <a:r>
              <a:rPr sz="1500" b="1" i="0">
                <a:solidFill>
                  <a:srgbClr val="003262"/>
                </a:solidFill>
                <a:latin typeface="Calibri"/>
              </a:rPr>
              <a:t>“text is better where text is the source.”</a:t>
            </a:r>
          </a:p>
          <a:p>
            <a:pPr algn="l">
              <a:lnSpc>
                <a:spcPct val="125000"/>
              </a:lnSpc>
              <a:spcAft>
                <a:spcPts val="400"/>
              </a:spcAft>
            </a:pPr>
            <a:r>
              <a:rPr sz="1300" b="0" i="0">
                <a:solidFill>
                  <a:srgbClr val="1A1A1A"/>
                </a:solidFill>
                <a:latin typeface="Calibri"/>
              </a:rPr>
              <a:t>The Fed announces what it will do to its balance sheet and to long rates. It does not announce next month's CPI.</a:t>
            </a:r>
          </a:p>
        </p:txBody>
      </p:sp>
      <p:sp>
        <p:nvSpPr>
          <p:cNvPr id="48" name="Rectangle 47"/>
          <p:cNvSpPr/>
          <p:nvPr/>
        </p:nvSpPr>
        <p:spPr>
          <a:xfrm>
            <a:off x="548640" y="5742432"/>
            <a:ext cx="11094415" cy="45720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Rectangle 48"/>
          <p:cNvSpPr/>
          <p:nvPr/>
        </p:nvSpPr>
        <p:spPr>
          <a:xfrm>
            <a:off x="548640" y="5742432"/>
            <a:ext cx="50292" cy="45720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TextBox 49"/>
          <p:cNvSpPr txBox="1"/>
          <p:nvPr/>
        </p:nvSpPr>
        <p:spPr>
          <a:xfrm>
            <a:off x="749808" y="5824728"/>
            <a:ext cx="10728655" cy="292608"/>
          </a:xfrm>
          <a:prstGeom prst="rect">
            <a:avLst/>
          </a:prstGeom>
          <a:noFill/>
        </p:spPr>
        <p:txBody>
          <a:bodyPr wrap="square" lIns="0" tIns="0" rIns="0" bIns="0" anchor="ctr">
            <a:spAutoFit/>
          </a:bodyPr>
          <a:lstStyle/>
          <a:p>
            <a:pPr algn="l">
              <a:lnSpc>
                <a:spcPct val="110000"/>
              </a:lnSpc>
              <a:spcAft>
                <a:spcPts val="400"/>
              </a:spcAft>
            </a:pPr>
            <a:r>
              <a:rPr sz="1150" b="1" i="0">
                <a:solidFill>
                  <a:srgbClr val="1A1A1A"/>
                </a:solidFill>
                <a:latin typeface="Calibri"/>
              </a:rPr>
              <a:t>Being honest about the evidence: </a:t>
            </a:r>
            <a:r>
              <a:rPr sz="1150" b="0" i="0">
                <a:solidFill>
                  <a:srgbClr val="1A1A1A"/>
                </a:solidFill>
                <a:latin typeface="Calibri"/>
              </a:rPr>
              <a:t>all three runs saw the same meetings, so we can check whether a gap is bigger than luck. Only the balance sheet clears that bar — the rest point the right way on 313 meetings, but are not yet proof.</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94415" cy="548640"/>
          </a:xfrm>
          <a:prstGeom prst="rect">
            <a:avLst/>
          </a:prstGeom>
          <a:noFill/>
        </p:spPr>
        <p:txBody>
          <a:bodyPr wrap="square" lIns="0" tIns="0" rIns="0" bIns="0" anchor="t">
            <a:spAutoFit/>
          </a:bodyPr>
          <a:lstStyle/>
          <a:p>
            <a:pPr algn="l">
              <a:lnSpc>
                <a:spcPct val="105000"/>
              </a:lnSpc>
              <a:spcAft>
                <a:spcPts val="400"/>
              </a:spcAft>
            </a:pPr>
            <a:r>
              <a:rPr sz="2700" b="1" i="0">
                <a:solidFill>
                  <a:srgbClr val="003262"/>
                </a:solidFill>
                <a:latin typeface="Calibri"/>
              </a:rPr>
              <a:t>But the words come with a bill</a:t>
            </a:r>
          </a:p>
        </p:txBody>
      </p:sp>
      <p:sp>
        <p:nvSpPr>
          <p:cNvPr id="3" name="Rectangle 2"/>
          <p:cNvSpPr/>
          <p:nvPr/>
        </p:nvSpPr>
        <p:spPr>
          <a:xfrm>
            <a:off x="548640" y="1225296"/>
            <a:ext cx="1371600" cy="50292"/>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548640" y="6345936"/>
            <a:ext cx="11094415" cy="9525"/>
          </a:xfrm>
          <a:prstGeom prst="rect">
            <a:avLst/>
          </a:prstGeom>
          <a:solidFill>
            <a:srgbClr val="DDD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48640" y="6419088"/>
            <a:ext cx="2194560" cy="329184"/>
          </a:xfrm>
          <a:prstGeom prst="rect">
            <a:avLst/>
          </a:prstGeom>
          <a:noFill/>
        </p:spPr>
        <p:txBody>
          <a:bodyPr wrap="square" lIns="0" tIns="0" rIns="0" bIns="0" anchor="ctr">
            <a:spAutoFit/>
          </a:bodyPr>
          <a:lstStyle/>
          <a:p>
            <a:pPr algn="l">
              <a:lnSpc>
                <a:spcPct val="110000"/>
              </a:lnSpc>
              <a:spcAft>
                <a:spcPts val="400"/>
              </a:spcAft>
            </a:pPr>
            <a:r>
              <a:rPr sz="1500" b="1" i="0">
                <a:solidFill>
                  <a:srgbClr val="003262"/>
                </a:solidFill>
                <a:latin typeface="Calibri"/>
              </a:rPr>
              <a:t>Berkeley</a:t>
            </a:r>
            <a:r>
              <a:rPr sz="1300" b="0" i="0">
                <a:solidFill>
                  <a:srgbClr val="FDB515"/>
                </a:solidFill>
                <a:latin typeface="Calibri"/>
              </a:rPr>
              <a:t>  |  </a:t>
            </a:r>
            <a:r>
              <a:rPr sz="1100" b="1" i="0">
                <a:solidFill>
                  <a:srgbClr val="3B7EA1"/>
                </a:solidFill>
                <a:latin typeface="Calibri"/>
              </a:rPr>
              <a:t>MFE</a:t>
            </a:r>
          </a:p>
        </p:txBody>
      </p:sp>
      <p:sp>
        <p:nvSpPr>
          <p:cNvPr id="6" name="TextBox 5"/>
          <p:cNvSpPr txBox="1"/>
          <p:nvPr/>
        </p:nvSpPr>
        <p:spPr>
          <a:xfrm>
            <a:off x="9814255" y="6419088"/>
            <a:ext cx="1828800" cy="329184"/>
          </a:xfrm>
          <a:prstGeom prst="rect">
            <a:avLst/>
          </a:prstGeom>
          <a:noFill/>
        </p:spPr>
        <p:txBody>
          <a:bodyPr wrap="square" lIns="0" tIns="0" rIns="0" bIns="0" anchor="ctr">
            <a:spAutoFit/>
          </a:bodyPr>
          <a:lstStyle/>
          <a:p>
            <a:pPr algn="r">
              <a:lnSpc>
                <a:spcPct val="110000"/>
              </a:lnSpc>
              <a:spcAft>
                <a:spcPts val="400"/>
              </a:spcAft>
            </a:pPr>
            <a:r>
              <a:rPr sz="1300" b="1" i="0">
                <a:solidFill>
                  <a:srgbClr val="1A1A1A"/>
                </a:solidFill>
                <a:latin typeface="Calibri"/>
              </a:rPr>
              <a:t>BLACKROCK</a:t>
            </a:r>
          </a:p>
        </p:txBody>
      </p:sp>
      <p:sp>
        <p:nvSpPr>
          <p:cNvPr id="7" name="TextBox 6"/>
          <p:cNvSpPr txBox="1"/>
          <p:nvPr/>
        </p:nvSpPr>
        <p:spPr>
          <a:xfrm>
            <a:off x="5730087" y="6446520"/>
            <a:ext cx="731520" cy="274320"/>
          </a:xfrm>
          <a:prstGeom prst="rect">
            <a:avLst/>
          </a:prstGeom>
          <a:noFill/>
        </p:spPr>
        <p:txBody>
          <a:bodyPr wrap="square" lIns="0" tIns="0" rIns="0" bIns="0" anchor="ctr">
            <a:spAutoFit/>
          </a:bodyPr>
          <a:lstStyle/>
          <a:p>
            <a:pPr algn="ctr">
              <a:lnSpc>
                <a:spcPct val="110000"/>
              </a:lnSpc>
              <a:spcAft>
                <a:spcPts val="400"/>
              </a:spcAft>
            </a:pPr>
            <a:r>
              <a:rPr sz="1000" b="0" i="0">
                <a:solidFill>
                  <a:srgbClr val="6E6E6E"/>
                </a:solidFill>
                <a:latin typeface="Calibri"/>
              </a:rPr>
              <a:t>10</a:t>
            </a:r>
          </a:p>
        </p:txBody>
      </p:sp>
      <p:sp>
        <p:nvSpPr>
          <p:cNvPr id="8" name="TextBox 7"/>
          <p:cNvSpPr txBox="1"/>
          <p:nvPr/>
        </p:nvSpPr>
        <p:spPr>
          <a:xfrm>
            <a:off x="548640" y="1463040"/>
            <a:ext cx="11094415" cy="457200"/>
          </a:xfrm>
          <a:prstGeom prst="rect">
            <a:avLst/>
          </a:prstGeom>
          <a:noFill/>
        </p:spPr>
        <p:txBody>
          <a:bodyPr wrap="square" lIns="0" tIns="0" rIns="0" bIns="0" anchor="t">
            <a:spAutoFit/>
          </a:bodyPr>
          <a:lstStyle/>
          <a:p>
            <a:pPr algn="l">
              <a:lnSpc>
                <a:spcPct val="125000"/>
              </a:lnSpc>
              <a:spcAft>
                <a:spcPts val="400"/>
              </a:spcAft>
            </a:pPr>
            <a:r>
              <a:rPr sz="1400" b="0" i="0">
                <a:solidFill>
                  <a:srgbClr val="6E6E6E"/>
                </a:solidFill>
                <a:latin typeface="Calibri"/>
              </a:rPr>
              <a:t>Two things went wrong, and both are worse than a lower hit rate.</a:t>
            </a:r>
          </a:p>
        </p:txBody>
      </p:sp>
      <p:sp>
        <p:nvSpPr>
          <p:cNvPr id="9" name="Rectangle 8"/>
          <p:cNvSpPr/>
          <p:nvPr/>
        </p:nvSpPr>
        <p:spPr>
          <a:xfrm>
            <a:off x="548640" y="1920240"/>
            <a:ext cx="5349240" cy="320040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548640" y="1920240"/>
            <a:ext cx="5349240" cy="64008"/>
          </a:xfrm>
          <a:prstGeom prst="rect">
            <a:avLst/>
          </a:prstGeom>
          <a:solidFill>
            <a:srgbClr val="9B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22960" y="2121408"/>
            <a:ext cx="4800600" cy="310896"/>
          </a:xfrm>
          <a:prstGeom prst="rect">
            <a:avLst/>
          </a:prstGeom>
          <a:noFill/>
        </p:spPr>
        <p:txBody>
          <a:bodyPr wrap="square" lIns="0" tIns="0" rIns="0" bIns="0" anchor="t">
            <a:spAutoFit/>
          </a:bodyPr>
          <a:lstStyle/>
          <a:p>
            <a:pPr algn="l">
              <a:lnSpc>
                <a:spcPct val="110000"/>
              </a:lnSpc>
              <a:spcAft>
                <a:spcPts val="400"/>
              </a:spcAft>
            </a:pPr>
            <a:r>
              <a:rPr sz="1700" b="1" i="0">
                <a:solidFill>
                  <a:srgbClr val="003262"/>
                </a:solidFill>
                <a:latin typeface="Calibri"/>
              </a:rPr>
              <a:t>Four specialists became one pundit</a:t>
            </a:r>
          </a:p>
        </p:txBody>
      </p:sp>
      <p:sp>
        <p:nvSpPr>
          <p:cNvPr id="12" name="TextBox 11"/>
          <p:cNvSpPr txBox="1"/>
          <p:nvPr/>
        </p:nvSpPr>
        <p:spPr>
          <a:xfrm>
            <a:off x="822960" y="2514600"/>
            <a:ext cx="4800600" cy="457200"/>
          </a:xfrm>
          <a:prstGeom prst="rect">
            <a:avLst/>
          </a:prstGeom>
          <a:noFill/>
        </p:spPr>
        <p:txBody>
          <a:bodyPr wrap="square" lIns="0" tIns="0" rIns="0" bIns="0" anchor="t">
            <a:spAutoFit/>
          </a:bodyPr>
          <a:lstStyle/>
          <a:p>
            <a:pPr algn="l">
              <a:lnSpc>
                <a:spcPct val="125000"/>
              </a:lnSpc>
              <a:spcAft>
                <a:spcPts val="400"/>
              </a:spcAft>
            </a:pPr>
            <a:r>
              <a:rPr sz="1200" b="0" i="0">
                <a:solidFill>
                  <a:srgbClr val="1A1A1A"/>
                </a:solidFill>
                <a:latin typeface="Calibri"/>
              </a:rPr>
              <a:t>Feed all four analysts the same statement and they all start saying the same thing — because they are all reading the same thing.</a:t>
            </a:r>
          </a:p>
        </p:txBody>
      </p:sp>
      <p:sp>
        <p:nvSpPr>
          <p:cNvPr id="13" name="TextBox 12"/>
          <p:cNvSpPr txBox="1"/>
          <p:nvPr/>
        </p:nvSpPr>
        <p:spPr>
          <a:xfrm>
            <a:off x="868680" y="3154680"/>
            <a:ext cx="1097280" cy="219456"/>
          </a:xfrm>
          <a:prstGeom prst="rect">
            <a:avLst/>
          </a:prstGeom>
          <a:noFill/>
        </p:spPr>
        <p:txBody>
          <a:bodyPr wrap="square" lIns="0" tIns="0" rIns="0" bIns="0" anchor="t">
            <a:spAutoFit/>
          </a:bodyPr>
          <a:lstStyle/>
          <a:p>
            <a:pPr algn="r">
              <a:lnSpc>
                <a:spcPct val="110000"/>
              </a:lnSpc>
              <a:spcAft>
                <a:spcPts val="400"/>
              </a:spcAft>
            </a:pPr>
            <a:r>
              <a:rPr sz="1000" b="0" i="0">
                <a:solidFill>
                  <a:srgbClr val="6E6E6E"/>
                </a:solidFill>
                <a:latin typeface="Calibri"/>
              </a:rPr>
              <a:t>inflation</a:t>
            </a:r>
          </a:p>
        </p:txBody>
      </p:sp>
      <p:sp>
        <p:nvSpPr>
          <p:cNvPr id="14" name="Right Arrow 13"/>
          <p:cNvSpPr/>
          <p:nvPr/>
        </p:nvSpPr>
        <p:spPr>
          <a:xfrm>
            <a:off x="2057400" y="3191256"/>
            <a:ext cx="685800" cy="146304"/>
          </a:xfrm>
          <a:prstGeom prst="rightArrow">
            <a:avLst/>
          </a:prstGeom>
          <a:solidFill>
            <a:srgbClr val="A8A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68680" y="3447288"/>
            <a:ext cx="1097280" cy="219456"/>
          </a:xfrm>
          <a:prstGeom prst="rect">
            <a:avLst/>
          </a:prstGeom>
          <a:noFill/>
        </p:spPr>
        <p:txBody>
          <a:bodyPr wrap="square" lIns="0" tIns="0" rIns="0" bIns="0" anchor="t">
            <a:spAutoFit/>
          </a:bodyPr>
          <a:lstStyle/>
          <a:p>
            <a:pPr algn="r">
              <a:lnSpc>
                <a:spcPct val="110000"/>
              </a:lnSpc>
              <a:spcAft>
                <a:spcPts val="400"/>
              </a:spcAft>
            </a:pPr>
            <a:r>
              <a:rPr sz="1000" b="0" i="0">
                <a:solidFill>
                  <a:srgbClr val="6E6E6E"/>
                </a:solidFill>
                <a:latin typeface="Calibri"/>
              </a:rPr>
              <a:t>jobs</a:t>
            </a:r>
          </a:p>
        </p:txBody>
      </p:sp>
      <p:sp>
        <p:nvSpPr>
          <p:cNvPr id="16" name="Right Arrow 15"/>
          <p:cNvSpPr/>
          <p:nvPr/>
        </p:nvSpPr>
        <p:spPr>
          <a:xfrm>
            <a:off x="2057400" y="3483864"/>
            <a:ext cx="685800" cy="146304"/>
          </a:xfrm>
          <a:prstGeom prst="rightArrow">
            <a:avLst/>
          </a:prstGeom>
          <a:solidFill>
            <a:srgbClr val="A8A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68680" y="3739896"/>
            <a:ext cx="1097280" cy="219456"/>
          </a:xfrm>
          <a:prstGeom prst="rect">
            <a:avLst/>
          </a:prstGeom>
          <a:noFill/>
        </p:spPr>
        <p:txBody>
          <a:bodyPr wrap="square" lIns="0" tIns="0" rIns="0" bIns="0" anchor="t">
            <a:spAutoFit/>
          </a:bodyPr>
          <a:lstStyle/>
          <a:p>
            <a:pPr algn="r">
              <a:lnSpc>
                <a:spcPct val="110000"/>
              </a:lnSpc>
              <a:spcAft>
                <a:spcPts val="400"/>
              </a:spcAft>
            </a:pPr>
            <a:r>
              <a:rPr sz="1000" b="0" i="0">
                <a:solidFill>
                  <a:srgbClr val="6E6E6E"/>
                </a:solidFill>
                <a:latin typeface="Calibri"/>
              </a:rPr>
              <a:t>bal. sheet</a:t>
            </a:r>
          </a:p>
        </p:txBody>
      </p:sp>
      <p:sp>
        <p:nvSpPr>
          <p:cNvPr id="18" name="Right Arrow 17"/>
          <p:cNvSpPr/>
          <p:nvPr/>
        </p:nvSpPr>
        <p:spPr>
          <a:xfrm>
            <a:off x="2057400" y="3776472"/>
            <a:ext cx="685800" cy="146304"/>
          </a:xfrm>
          <a:prstGeom prst="rightArrow">
            <a:avLst/>
          </a:prstGeom>
          <a:solidFill>
            <a:srgbClr val="A8A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68680" y="4032504"/>
            <a:ext cx="1097280" cy="219456"/>
          </a:xfrm>
          <a:prstGeom prst="rect">
            <a:avLst/>
          </a:prstGeom>
          <a:noFill/>
        </p:spPr>
        <p:txBody>
          <a:bodyPr wrap="square" lIns="0" tIns="0" rIns="0" bIns="0" anchor="t">
            <a:spAutoFit/>
          </a:bodyPr>
          <a:lstStyle/>
          <a:p>
            <a:pPr algn="r">
              <a:lnSpc>
                <a:spcPct val="110000"/>
              </a:lnSpc>
              <a:spcAft>
                <a:spcPts val="400"/>
              </a:spcAft>
            </a:pPr>
            <a:r>
              <a:rPr sz="1000" b="0" i="0">
                <a:solidFill>
                  <a:srgbClr val="6E6E6E"/>
                </a:solidFill>
                <a:latin typeface="Calibri"/>
              </a:rPr>
              <a:t>term prem.</a:t>
            </a:r>
          </a:p>
        </p:txBody>
      </p:sp>
      <p:sp>
        <p:nvSpPr>
          <p:cNvPr id="20" name="Right Arrow 19"/>
          <p:cNvSpPr/>
          <p:nvPr/>
        </p:nvSpPr>
        <p:spPr>
          <a:xfrm>
            <a:off x="2057400" y="4069080"/>
            <a:ext cx="685800" cy="146304"/>
          </a:xfrm>
          <a:prstGeom prst="rightArrow">
            <a:avLst/>
          </a:prstGeom>
          <a:solidFill>
            <a:srgbClr val="A8A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2880360" y="3200400"/>
            <a:ext cx="1371600" cy="960120"/>
          </a:xfrm>
          <a:prstGeom prst="ellipse">
            <a:avLst/>
          </a:prstGeom>
          <a:solidFill>
            <a:srgbClr val="9B222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200" b="1">
                <a:solidFill>
                  <a:srgbClr val="FFFFFF"/>
                </a:solidFill>
                <a:latin typeface="Calibri"/>
              </a:rPr>
              <a:t>one
voice</a:t>
            </a:r>
          </a:p>
        </p:txBody>
      </p:sp>
      <p:sp>
        <p:nvSpPr>
          <p:cNvPr id="22" name="TextBox 21"/>
          <p:cNvSpPr txBox="1"/>
          <p:nvPr/>
        </p:nvSpPr>
        <p:spPr>
          <a:xfrm>
            <a:off x="4389120" y="3200400"/>
            <a:ext cx="1737360" cy="1005840"/>
          </a:xfrm>
          <a:prstGeom prst="rect">
            <a:avLst/>
          </a:prstGeom>
          <a:noFill/>
        </p:spPr>
        <p:txBody>
          <a:bodyPr wrap="square" lIns="0" tIns="0" rIns="0" bIns="0" anchor="t">
            <a:spAutoFit/>
          </a:bodyPr>
          <a:lstStyle/>
          <a:p>
            <a:pPr algn="l">
              <a:lnSpc>
                <a:spcPct val="120000"/>
              </a:lnSpc>
              <a:spcAft>
                <a:spcPts val="400"/>
              </a:spcAft>
            </a:pPr>
            <a:r>
              <a:rPr sz="1900" b="1" i="0">
                <a:solidFill>
                  <a:srgbClr val="9B2226"/>
                </a:solidFill>
                <a:latin typeface="Consolas"/>
              </a:rPr>
              <a:t>0.22 → 0.34</a:t>
            </a:r>
          </a:p>
          <a:p>
            <a:pPr algn="l">
              <a:lnSpc>
                <a:spcPct val="120000"/>
              </a:lnSpc>
              <a:spcAft>
                <a:spcPts val="400"/>
              </a:spcAft>
            </a:pPr>
            <a:r>
              <a:rPr sz="1000" b="0" i="0">
                <a:solidFill>
                  <a:srgbClr val="6E6E6E"/>
                </a:solidFill>
                <a:latin typeface="Calibri"/>
              </a:rPr>
              <a:t>how much the four analysts now move together</a:t>
            </a:r>
          </a:p>
        </p:txBody>
      </p:sp>
      <p:sp>
        <p:nvSpPr>
          <p:cNvPr id="23" name="TextBox 22"/>
          <p:cNvSpPr txBox="1"/>
          <p:nvPr/>
        </p:nvSpPr>
        <p:spPr>
          <a:xfrm>
            <a:off x="822960" y="4389120"/>
            <a:ext cx="4800600" cy="548640"/>
          </a:xfrm>
          <a:prstGeom prst="rect">
            <a:avLst/>
          </a:prstGeom>
          <a:noFill/>
        </p:spPr>
        <p:txBody>
          <a:bodyPr wrap="square" lIns="0" tIns="0" rIns="0" bIns="0" anchor="t">
            <a:spAutoFit/>
          </a:bodyPr>
          <a:lstStyle/>
          <a:p>
            <a:pPr algn="l">
              <a:lnSpc>
                <a:spcPct val="125000"/>
              </a:lnSpc>
              <a:spcAft>
                <a:spcPts val="400"/>
              </a:spcAft>
            </a:pPr>
            <a:r>
              <a:rPr sz="1200" b="0" i="0">
                <a:solidFill>
                  <a:srgbClr val="9B2226"/>
                </a:solidFill>
                <a:latin typeface="Calibri"/>
              </a:rPr>
              <a:t>The inflation analyst stops tracking inflation. Independence was the whole point of separating them — and the words quietly dissolve it.</a:t>
            </a:r>
          </a:p>
        </p:txBody>
      </p:sp>
      <p:sp>
        <p:nvSpPr>
          <p:cNvPr id="24" name="Rectangle 23"/>
          <p:cNvSpPr/>
          <p:nvPr/>
        </p:nvSpPr>
        <p:spPr>
          <a:xfrm>
            <a:off x="6309360" y="1920240"/>
            <a:ext cx="5330952" cy="320040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6309360" y="1920240"/>
            <a:ext cx="5330952" cy="64008"/>
          </a:xfrm>
          <a:prstGeom prst="rect">
            <a:avLst/>
          </a:prstGeom>
          <a:solidFill>
            <a:srgbClr val="9B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6583680" y="2121408"/>
            <a:ext cx="4782312" cy="310896"/>
          </a:xfrm>
          <a:prstGeom prst="rect">
            <a:avLst/>
          </a:prstGeom>
          <a:noFill/>
        </p:spPr>
        <p:txBody>
          <a:bodyPr wrap="square" lIns="0" tIns="0" rIns="0" bIns="0" anchor="t">
            <a:spAutoFit/>
          </a:bodyPr>
          <a:lstStyle/>
          <a:p>
            <a:pPr algn="l">
              <a:lnSpc>
                <a:spcPct val="110000"/>
              </a:lnSpc>
              <a:spcAft>
                <a:spcPts val="400"/>
              </a:spcAft>
            </a:pPr>
            <a:r>
              <a:rPr sz="1700" b="1" i="0">
                <a:solidFill>
                  <a:srgbClr val="003262"/>
                </a:solidFill>
                <a:latin typeface="Calibri"/>
              </a:rPr>
              <a:t>And it may be remembering, not reading</a:t>
            </a:r>
          </a:p>
        </p:txBody>
      </p:sp>
      <p:sp>
        <p:nvSpPr>
          <p:cNvPr id="27" name="TextBox 26"/>
          <p:cNvSpPr txBox="1"/>
          <p:nvPr/>
        </p:nvSpPr>
        <p:spPr>
          <a:xfrm>
            <a:off x="6583680" y="2514600"/>
            <a:ext cx="4782312" cy="457200"/>
          </a:xfrm>
          <a:prstGeom prst="rect">
            <a:avLst/>
          </a:prstGeom>
          <a:noFill/>
        </p:spPr>
        <p:txBody>
          <a:bodyPr wrap="square" lIns="0" tIns="0" rIns="0" bIns="0" anchor="t">
            <a:spAutoFit/>
          </a:bodyPr>
          <a:lstStyle/>
          <a:p>
            <a:pPr algn="l">
              <a:lnSpc>
                <a:spcPct val="125000"/>
              </a:lnSpc>
              <a:spcAft>
                <a:spcPts val="400"/>
              </a:spcAft>
            </a:pPr>
            <a:r>
              <a:rPr sz="1200" b="0" i="0">
                <a:solidFill>
                  <a:srgbClr val="1A1A1A"/>
                </a:solidFill>
                <a:latin typeface="Calibri"/>
              </a:rPr>
              <a:t>The formula cannot know the future. So we count how often the model overrules it — and whether overruling it turns out to be right.</a:t>
            </a:r>
          </a:p>
        </p:txBody>
      </p:sp>
      <p:sp>
        <p:nvSpPr>
          <p:cNvPr id="28" name="TextBox 27"/>
          <p:cNvSpPr txBox="1"/>
          <p:nvPr/>
        </p:nvSpPr>
        <p:spPr>
          <a:xfrm>
            <a:off x="6583680" y="3200400"/>
            <a:ext cx="1645920" cy="219456"/>
          </a:xfrm>
          <a:prstGeom prst="rect">
            <a:avLst/>
          </a:prstGeom>
          <a:noFill/>
        </p:spPr>
        <p:txBody>
          <a:bodyPr wrap="square" lIns="0" tIns="0" rIns="0" bIns="0" anchor="t">
            <a:spAutoFit/>
          </a:bodyPr>
          <a:lstStyle/>
          <a:p>
            <a:pPr algn="l">
              <a:lnSpc>
                <a:spcPct val="110000"/>
              </a:lnSpc>
              <a:spcAft>
                <a:spcPts val="400"/>
              </a:spcAft>
            </a:pPr>
            <a:r>
              <a:rPr sz="1050" b="0" i="0">
                <a:solidFill>
                  <a:srgbClr val="6E6E6E"/>
                </a:solidFill>
                <a:latin typeface="Calibri"/>
              </a:rPr>
              <a:t>reading numbers</a:t>
            </a:r>
          </a:p>
        </p:txBody>
      </p:sp>
      <p:sp>
        <p:nvSpPr>
          <p:cNvPr id="29" name="Rectangle 28"/>
          <p:cNvSpPr/>
          <p:nvPr/>
        </p:nvSpPr>
        <p:spPr>
          <a:xfrm>
            <a:off x="8321040" y="3200400"/>
            <a:ext cx="543977" cy="237744"/>
          </a:xfrm>
          <a:prstGeom prst="rect">
            <a:avLst/>
          </a:prstGeom>
          <a:solidFill>
            <a:srgbClr val="3B7E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8956457" y="3200400"/>
            <a:ext cx="731520" cy="237744"/>
          </a:xfrm>
          <a:prstGeom prst="rect">
            <a:avLst/>
          </a:prstGeom>
          <a:noFill/>
        </p:spPr>
        <p:txBody>
          <a:bodyPr wrap="square" lIns="0" tIns="0" rIns="0" bIns="0" anchor="ctr">
            <a:spAutoFit/>
          </a:bodyPr>
          <a:lstStyle/>
          <a:p>
            <a:pPr algn="l">
              <a:lnSpc>
                <a:spcPct val="110000"/>
              </a:lnSpc>
              <a:spcAft>
                <a:spcPts val="400"/>
              </a:spcAft>
            </a:pPr>
            <a:r>
              <a:rPr sz="1200" b="1" i="0">
                <a:solidFill>
                  <a:srgbClr val="3B7EA1"/>
                </a:solidFill>
                <a:latin typeface="Consolas"/>
              </a:rPr>
              <a:t>84</a:t>
            </a:r>
          </a:p>
        </p:txBody>
      </p:sp>
      <p:sp>
        <p:nvSpPr>
          <p:cNvPr id="31" name="TextBox 30"/>
          <p:cNvSpPr txBox="1"/>
          <p:nvPr/>
        </p:nvSpPr>
        <p:spPr>
          <a:xfrm>
            <a:off x="6583680" y="3767328"/>
            <a:ext cx="1645920" cy="219456"/>
          </a:xfrm>
          <a:prstGeom prst="rect">
            <a:avLst/>
          </a:prstGeom>
          <a:noFill/>
        </p:spPr>
        <p:txBody>
          <a:bodyPr wrap="square" lIns="0" tIns="0" rIns="0" bIns="0" anchor="t">
            <a:spAutoFit/>
          </a:bodyPr>
          <a:lstStyle/>
          <a:p>
            <a:pPr algn="l">
              <a:lnSpc>
                <a:spcPct val="110000"/>
              </a:lnSpc>
              <a:spcAft>
                <a:spcPts val="400"/>
              </a:spcAft>
            </a:pPr>
            <a:r>
              <a:rPr sz="1050" b="0" i="0">
                <a:solidFill>
                  <a:srgbClr val="6E6E6E"/>
                </a:solidFill>
                <a:latin typeface="Calibri"/>
              </a:rPr>
              <a:t>reading the Fed's words</a:t>
            </a:r>
          </a:p>
        </p:txBody>
      </p:sp>
      <p:sp>
        <p:nvSpPr>
          <p:cNvPr id="32" name="Rectangle 31"/>
          <p:cNvSpPr/>
          <p:nvPr/>
        </p:nvSpPr>
        <p:spPr>
          <a:xfrm>
            <a:off x="8321040" y="3767328"/>
            <a:ext cx="2286000" cy="237744"/>
          </a:xfrm>
          <a:prstGeom prst="rect">
            <a:avLst/>
          </a:prstGeom>
          <a:solidFill>
            <a:srgbClr val="9B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10698480" y="3767328"/>
            <a:ext cx="731520" cy="237744"/>
          </a:xfrm>
          <a:prstGeom prst="rect">
            <a:avLst/>
          </a:prstGeom>
          <a:noFill/>
        </p:spPr>
        <p:txBody>
          <a:bodyPr wrap="square" lIns="0" tIns="0" rIns="0" bIns="0" anchor="ctr">
            <a:spAutoFit/>
          </a:bodyPr>
          <a:lstStyle/>
          <a:p>
            <a:pPr algn="l">
              <a:lnSpc>
                <a:spcPct val="110000"/>
              </a:lnSpc>
              <a:spcAft>
                <a:spcPts val="400"/>
              </a:spcAft>
            </a:pPr>
            <a:r>
              <a:rPr sz="1200" b="1" i="0">
                <a:solidFill>
                  <a:srgbClr val="9B2226"/>
                </a:solidFill>
                <a:latin typeface="Consolas"/>
              </a:rPr>
              <a:t>353</a:t>
            </a:r>
          </a:p>
        </p:txBody>
      </p:sp>
      <p:sp>
        <p:nvSpPr>
          <p:cNvPr id="34" name="TextBox 33"/>
          <p:cNvSpPr txBox="1"/>
          <p:nvPr/>
        </p:nvSpPr>
        <p:spPr>
          <a:xfrm>
            <a:off x="6583680" y="4389120"/>
            <a:ext cx="4782312" cy="548640"/>
          </a:xfrm>
          <a:prstGeom prst="rect">
            <a:avLst/>
          </a:prstGeom>
          <a:noFill/>
        </p:spPr>
        <p:txBody>
          <a:bodyPr wrap="square" lIns="0" tIns="0" rIns="0" bIns="0" anchor="t">
            <a:spAutoFit/>
          </a:bodyPr>
          <a:lstStyle/>
          <a:p>
            <a:pPr algn="l">
              <a:lnSpc>
                <a:spcPct val="125000"/>
              </a:lnSpc>
              <a:spcAft>
                <a:spcPts val="400"/>
              </a:spcAft>
            </a:pPr>
            <a:r>
              <a:rPr sz="1200" b="0" i="0">
                <a:solidFill>
                  <a:srgbClr val="9B2226"/>
                </a:solidFill>
                <a:latin typeface="Calibri"/>
              </a:rPr>
              <a:t>4.2× as many overrules — and it gains most on exactly the two drivers where it “won”. FOMC statements are famous, dated documents. It may simply recall how yields moved next.</a:t>
            </a:r>
          </a:p>
        </p:txBody>
      </p:sp>
      <p:sp>
        <p:nvSpPr>
          <p:cNvPr id="35" name="TextBox 34"/>
          <p:cNvSpPr txBox="1"/>
          <p:nvPr/>
        </p:nvSpPr>
        <p:spPr>
          <a:xfrm>
            <a:off x="548640" y="5303520"/>
            <a:ext cx="11094415" cy="457200"/>
          </a:xfrm>
          <a:prstGeom prst="rect">
            <a:avLst/>
          </a:prstGeom>
          <a:noFill/>
        </p:spPr>
        <p:txBody>
          <a:bodyPr wrap="square" lIns="0" tIns="0" rIns="0" bIns="0" anchor="t">
            <a:spAutoFit/>
          </a:bodyPr>
          <a:lstStyle/>
          <a:p>
            <a:pPr algn="l">
              <a:lnSpc>
                <a:spcPct val="125000"/>
              </a:lnSpc>
              <a:spcAft>
                <a:spcPts val="400"/>
              </a:spcAft>
            </a:pPr>
            <a:r>
              <a:rPr sz="1300" b="1" i="0">
                <a:solidFill>
                  <a:srgbClr val="003262"/>
                </a:solidFill>
                <a:latin typeface="Calibri"/>
              </a:rPr>
              <a:t>We cannot rule this out yet, and we say so: </a:t>
            </a:r>
            <a:r>
              <a:rPr sz="1300" b="0" i="0">
                <a:solidFill>
                  <a:srgbClr val="003262"/>
                </a:solidFill>
                <a:latin typeface="Calibri"/>
              </a:rPr>
              <a:t>our test window ends before the model's training does, so there is no clean stretch of history it could not have seen. This is a smoke alarm, not a verdict.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94415" cy="548640"/>
          </a:xfrm>
          <a:prstGeom prst="rect">
            <a:avLst/>
          </a:prstGeom>
          <a:noFill/>
        </p:spPr>
        <p:txBody>
          <a:bodyPr wrap="square" lIns="0" tIns="0" rIns="0" bIns="0" anchor="t">
            <a:spAutoFit/>
          </a:bodyPr>
          <a:lstStyle/>
          <a:p>
            <a:pPr algn="l">
              <a:lnSpc>
                <a:spcPct val="105000"/>
              </a:lnSpc>
              <a:spcAft>
                <a:spcPts val="400"/>
              </a:spcAft>
            </a:pPr>
            <a:r>
              <a:rPr sz="2700" b="1" i="0">
                <a:solidFill>
                  <a:srgbClr val="003262"/>
                </a:solidFill>
                <a:latin typeface="Calibri"/>
              </a:rPr>
              <a:t>Give it both: the number anchors, the words inform</a:t>
            </a:r>
          </a:p>
        </p:txBody>
      </p:sp>
      <p:sp>
        <p:nvSpPr>
          <p:cNvPr id="3" name="Rectangle 2"/>
          <p:cNvSpPr/>
          <p:nvPr/>
        </p:nvSpPr>
        <p:spPr>
          <a:xfrm>
            <a:off x="548640" y="1225296"/>
            <a:ext cx="1371600" cy="50292"/>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548640" y="6345936"/>
            <a:ext cx="11094415" cy="9525"/>
          </a:xfrm>
          <a:prstGeom prst="rect">
            <a:avLst/>
          </a:prstGeom>
          <a:solidFill>
            <a:srgbClr val="DDD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48640" y="6419088"/>
            <a:ext cx="2194560" cy="329184"/>
          </a:xfrm>
          <a:prstGeom prst="rect">
            <a:avLst/>
          </a:prstGeom>
          <a:noFill/>
        </p:spPr>
        <p:txBody>
          <a:bodyPr wrap="square" lIns="0" tIns="0" rIns="0" bIns="0" anchor="ctr">
            <a:spAutoFit/>
          </a:bodyPr>
          <a:lstStyle/>
          <a:p>
            <a:pPr algn="l">
              <a:lnSpc>
                <a:spcPct val="110000"/>
              </a:lnSpc>
              <a:spcAft>
                <a:spcPts val="400"/>
              </a:spcAft>
            </a:pPr>
            <a:r>
              <a:rPr sz="1500" b="1" i="0">
                <a:solidFill>
                  <a:srgbClr val="003262"/>
                </a:solidFill>
                <a:latin typeface="Calibri"/>
              </a:rPr>
              <a:t>Berkeley</a:t>
            </a:r>
            <a:r>
              <a:rPr sz="1300" b="0" i="0">
                <a:solidFill>
                  <a:srgbClr val="FDB515"/>
                </a:solidFill>
                <a:latin typeface="Calibri"/>
              </a:rPr>
              <a:t>  |  </a:t>
            </a:r>
            <a:r>
              <a:rPr sz="1100" b="1" i="0">
                <a:solidFill>
                  <a:srgbClr val="3B7EA1"/>
                </a:solidFill>
                <a:latin typeface="Calibri"/>
              </a:rPr>
              <a:t>MFE</a:t>
            </a:r>
          </a:p>
        </p:txBody>
      </p:sp>
      <p:sp>
        <p:nvSpPr>
          <p:cNvPr id="6" name="TextBox 5"/>
          <p:cNvSpPr txBox="1"/>
          <p:nvPr/>
        </p:nvSpPr>
        <p:spPr>
          <a:xfrm>
            <a:off x="9814255" y="6419088"/>
            <a:ext cx="1828800" cy="329184"/>
          </a:xfrm>
          <a:prstGeom prst="rect">
            <a:avLst/>
          </a:prstGeom>
          <a:noFill/>
        </p:spPr>
        <p:txBody>
          <a:bodyPr wrap="square" lIns="0" tIns="0" rIns="0" bIns="0" anchor="ctr">
            <a:spAutoFit/>
          </a:bodyPr>
          <a:lstStyle/>
          <a:p>
            <a:pPr algn="r">
              <a:lnSpc>
                <a:spcPct val="110000"/>
              </a:lnSpc>
              <a:spcAft>
                <a:spcPts val="400"/>
              </a:spcAft>
            </a:pPr>
            <a:r>
              <a:rPr sz="1300" b="1" i="0">
                <a:solidFill>
                  <a:srgbClr val="1A1A1A"/>
                </a:solidFill>
                <a:latin typeface="Calibri"/>
              </a:rPr>
              <a:t>BLACKROCK</a:t>
            </a:r>
          </a:p>
        </p:txBody>
      </p:sp>
      <p:sp>
        <p:nvSpPr>
          <p:cNvPr id="7" name="TextBox 6"/>
          <p:cNvSpPr txBox="1"/>
          <p:nvPr/>
        </p:nvSpPr>
        <p:spPr>
          <a:xfrm>
            <a:off x="5730087" y="6446520"/>
            <a:ext cx="731520" cy="274320"/>
          </a:xfrm>
          <a:prstGeom prst="rect">
            <a:avLst/>
          </a:prstGeom>
          <a:noFill/>
        </p:spPr>
        <p:txBody>
          <a:bodyPr wrap="square" lIns="0" tIns="0" rIns="0" bIns="0" anchor="ctr">
            <a:spAutoFit/>
          </a:bodyPr>
          <a:lstStyle/>
          <a:p>
            <a:pPr algn="ctr">
              <a:lnSpc>
                <a:spcPct val="110000"/>
              </a:lnSpc>
              <a:spcAft>
                <a:spcPts val="400"/>
              </a:spcAft>
            </a:pPr>
            <a:r>
              <a:rPr sz="1000" b="0" i="0">
                <a:solidFill>
                  <a:srgbClr val="6E6E6E"/>
                </a:solidFill>
                <a:latin typeface="Calibri"/>
              </a:rPr>
              <a:t>11</a:t>
            </a:r>
          </a:p>
        </p:txBody>
      </p:sp>
      <p:graphicFrame>
        <p:nvGraphicFramePr>
          <p:cNvPr id="8" name="Table 7"/>
          <p:cNvGraphicFramePr>
            <a:graphicFrameLocks noGrp="1"/>
          </p:cNvGraphicFramePr>
          <p:nvPr>
            <p:extLst>
              <p:ext uri="{D42A27DB-BD31-4B8C-83A1-F6EECF244321}">
                <p14:modId xmlns:p14="http://schemas.microsoft.com/office/powerpoint/2010/main" val="4208877694"/>
              </p:ext>
            </p:extLst>
          </p:nvPr>
        </p:nvGraphicFramePr>
        <p:xfrm>
          <a:off x="548640" y="2369368"/>
          <a:ext cx="10552038" cy="1920240"/>
        </p:xfrm>
        <a:graphic>
          <a:graphicData uri="http://schemas.openxmlformats.org/drawingml/2006/table">
            <a:tbl>
              <a:tblPr firstRow="1">
                <a:tableStyleId>{5C22544A-7EE6-4342-B048-85BDC9FD1C3A}</a:tableStyleId>
              </a:tblPr>
              <a:tblGrid>
                <a:gridCol w="1898396">
                  <a:extLst>
                    <a:ext uri="{9D8B030D-6E8A-4147-A177-3AD203B41FA5}">
                      <a16:colId xmlns:a16="http://schemas.microsoft.com/office/drawing/2014/main" val="20000"/>
                    </a:ext>
                  </a:extLst>
                </a:gridCol>
                <a:gridCol w="2662659">
                  <a:extLst>
                    <a:ext uri="{9D8B030D-6E8A-4147-A177-3AD203B41FA5}">
                      <a16:colId xmlns:a16="http://schemas.microsoft.com/office/drawing/2014/main" val="20001"/>
                    </a:ext>
                  </a:extLst>
                </a:gridCol>
                <a:gridCol w="3106436">
                  <a:extLst>
                    <a:ext uri="{9D8B030D-6E8A-4147-A177-3AD203B41FA5}">
                      <a16:colId xmlns:a16="http://schemas.microsoft.com/office/drawing/2014/main" val="20002"/>
                    </a:ext>
                  </a:extLst>
                </a:gridCol>
                <a:gridCol w="2884547">
                  <a:extLst>
                    <a:ext uri="{9D8B030D-6E8A-4147-A177-3AD203B41FA5}">
                      <a16:colId xmlns:a16="http://schemas.microsoft.com/office/drawing/2014/main" val="20003"/>
                    </a:ext>
                  </a:extLst>
                </a:gridCol>
              </a:tblGrid>
              <a:tr h="384048">
                <a:tc>
                  <a:txBody>
                    <a:bodyPr/>
                    <a:lstStyle/>
                    <a:p>
                      <a:pPr algn="l"/>
                      <a:endParaRPr/>
                    </a:p>
                  </a:txBody>
                  <a:tcPr marL="64008" marR="64008" marT="18288" marB="18288" anchor="ctr">
                    <a:solidFill>
                      <a:srgbClr val="003262"/>
                    </a:solidFill>
                  </a:tcPr>
                </a:tc>
                <a:tc>
                  <a:txBody>
                    <a:bodyPr/>
                    <a:lstStyle/>
                    <a:p>
                      <a:pPr algn="ctr"/>
                      <a:r>
                        <a:rPr sz="1250" b="1" dirty="0">
                          <a:solidFill>
                            <a:srgbClr val="FFFFFF"/>
                          </a:solidFill>
                          <a:latin typeface="Calibri"/>
                        </a:rPr>
                        <a:t>Better than a coin flip</a:t>
                      </a:r>
                    </a:p>
                  </a:txBody>
                  <a:tcPr marL="64008" marR="64008" marT="18288" marB="18288" anchor="ctr">
                    <a:solidFill>
                      <a:srgbClr val="003262"/>
                    </a:solidFill>
                  </a:tcPr>
                </a:tc>
                <a:tc>
                  <a:txBody>
                    <a:bodyPr/>
                    <a:lstStyle/>
                    <a:p>
                      <a:pPr algn="ctr"/>
                      <a:r>
                        <a:rPr sz="1250" b="1">
                          <a:solidFill>
                            <a:srgbClr val="FFFFFF"/>
                          </a:solidFill>
                          <a:latin typeface="Calibri"/>
                        </a:rPr>
                        <a:t>Still four separate minds?</a:t>
                      </a:r>
                    </a:p>
                  </a:txBody>
                  <a:tcPr marL="64008" marR="64008" marT="18288" marB="18288" anchor="ctr">
                    <a:solidFill>
                      <a:srgbClr val="003262"/>
                    </a:solidFill>
                  </a:tcPr>
                </a:tc>
                <a:tc>
                  <a:txBody>
                    <a:bodyPr/>
                    <a:lstStyle/>
                    <a:p>
                      <a:pPr algn="ctr"/>
                      <a:r>
                        <a:rPr sz="1250" b="1">
                          <a:solidFill>
                            <a:srgbClr val="FFFFFF"/>
                          </a:solidFill>
                          <a:latin typeface="Calibri"/>
                        </a:rPr>
                        <a:t>Suspicious hindsight?</a:t>
                      </a:r>
                    </a:p>
                  </a:txBody>
                  <a:tcPr marL="64008" marR="64008" marT="18288" marB="18288" anchor="ctr">
                    <a:solidFill>
                      <a:srgbClr val="003262"/>
                    </a:solidFill>
                  </a:tcPr>
                </a:tc>
                <a:extLst>
                  <a:ext uri="{0D108BD9-81ED-4DB2-BD59-A6C34878D82A}">
                    <a16:rowId xmlns:a16="http://schemas.microsoft.com/office/drawing/2014/main" val="10000"/>
                  </a:ext>
                </a:extLst>
              </a:tr>
              <a:tr h="384048">
                <a:tc>
                  <a:txBody>
                    <a:bodyPr/>
                    <a:lstStyle/>
                    <a:p>
                      <a:pPr algn="l"/>
                      <a:r>
                        <a:rPr lang="en-GB" sz="1250" b="0" dirty="0">
                          <a:solidFill>
                            <a:srgbClr val="1A1A1A"/>
                          </a:solidFill>
                          <a:latin typeface="Calibri"/>
                        </a:rPr>
                        <a:t>Deterministic formulas</a:t>
                      </a:r>
                      <a:endParaRPr sz="1250" b="0" dirty="0">
                        <a:solidFill>
                          <a:srgbClr val="1A1A1A"/>
                        </a:solidFill>
                        <a:latin typeface="Calibri"/>
                      </a:endParaRPr>
                    </a:p>
                  </a:txBody>
                  <a:tcPr marL="64008" marR="64008" marT="18288" marB="18288" anchor="ctr">
                    <a:solidFill>
                      <a:srgbClr val="FFFFFF"/>
                    </a:solidFill>
                  </a:tcPr>
                </a:tc>
                <a:tc>
                  <a:txBody>
                    <a:bodyPr/>
                    <a:lstStyle/>
                    <a:p>
                      <a:pPr algn="ctr"/>
                      <a:r>
                        <a:rPr sz="1250" b="0">
                          <a:solidFill>
                            <a:srgbClr val="6E6E6E"/>
                          </a:solidFill>
                          <a:latin typeface="Consolas"/>
                        </a:rPr>
                        <a:t>+0.065</a:t>
                      </a:r>
                    </a:p>
                  </a:txBody>
                  <a:tcPr marL="64008" marR="64008" marT="18288" marB="18288" anchor="ctr">
                    <a:solidFill>
                      <a:srgbClr val="FFFFFF"/>
                    </a:solidFill>
                  </a:tcPr>
                </a:tc>
                <a:tc>
                  <a:txBody>
                    <a:bodyPr/>
                    <a:lstStyle/>
                    <a:p>
                      <a:pPr algn="ctr"/>
                      <a:r>
                        <a:rPr sz="1250" b="0">
                          <a:solidFill>
                            <a:srgbClr val="1E6B3A"/>
                          </a:solidFill>
                          <a:latin typeface="Calibri"/>
                        </a:rPr>
                        <a:t>0.238   yes</a:t>
                      </a:r>
                    </a:p>
                  </a:txBody>
                  <a:tcPr marL="64008" marR="64008" marT="18288" marB="18288" anchor="ctr">
                    <a:solidFill>
                      <a:srgbClr val="FFFFFF"/>
                    </a:solidFill>
                  </a:tcPr>
                </a:tc>
                <a:tc>
                  <a:txBody>
                    <a:bodyPr/>
                    <a:lstStyle/>
                    <a:p>
                      <a:pPr algn="ctr"/>
                      <a:r>
                        <a:rPr sz="1250" b="0">
                          <a:solidFill>
                            <a:srgbClr val="1E6B3A"/>
                          </a:solidFill>
                          <a:latin typeface="Calibri"/>
                        </a:rPr>
                        <a:t>none — it can't</a:t>
                      </a:r>
                    </a:p>
                  </a:txBody>
                  <a:tcPr marL="64008" marR="64008" marT="18288" marB="18288" anchor="ctr">
                    <a:solidFill>
                      <a:srgbClr val="FFFFFF"/>
                    </a:solidFill>
                  </a:tcPr>
                </a:tc>
                <a:extLst>
                  <a:ext uri="{0D108BD9-81ED-4DB2-BD59-A6C34878D82A}">
                    <a16:rowId xmlns:a16="http://schemas.microsoft.com/office/drawing/2014/main" val="10001"/>
                  </a:ext>
                </a:extLst>
              </a:tr>
              <a:tr h="384048">
                <a:tc>
                  <a:txBody>
                    <a:bodyPr/>
                    <a:lstStyle/>
                    <a:p>
                      <a:pPr algn="l"/>
                      <a:r>
                        <a:rPr lang="en-US" sz="1250" b="0" dirty="0">
                          <a:solidFill>
                            <a:srgbClr val="1A1A1A"/>
                          </a:solidFill>
                          <a:latin typeface="Calibri"/>
                        </a:rPr>
                        <a:t> LLM on numbers</a:t>
                      </a:r>
                      <a:endParaRPr sz="1250" b="0" dirty="0">
                        <a:solidFill>
                          <a:srgbClr val="1A1A1A"/>
                        </a:solidFill>
                        <a:latin typeface="Calibri"/>
                      </a:endParaRPr>
                    </a:p>
                  </a:txBody>
                  <a:tcPr marL="64008" marR="64008" marT="18288" marB="18288" anchor="ctr">
                    <a:solidFill>
                      <a:srgbClr val="F3F5F8"/>
                    </a:solidFill>
                  </a:tcPr>
                </a:tc>
                <a:tc>
                  <a:txBody>
                    <a:bodyPr/>
                    <a:lstStyle/>
                    <a:p>
                      <a:pPr algn="ctr"/>
                      <a:r>
                        <a:rPr sz="1250" b="0">
                          <a:solidFill>
                            <a:srgbClr val="6E6E6E"/>
                          </a:solidFill>
                          <a:latin typeface="Consolas"/>
                        </a:rPr>
                        <a:t>+0.065</a:t>
                      </a:r>
                    </a:p>
                  </a:txBody>
                  <a:tcPr marL="64008" marR="64008" marT="18288" marB="18288" anchor="ctr">
                    <a:solidFill>
                      <a:srgbClr val="F3F5F8"/>
                    </a:solidFill>
                  </a:tcPr>
                </a:tc>
                <a:tc>
                  <a:txBody>
                    <a:bodyPr/>
                    <a:lstStyle/>
                    <a:p>
                      <a:pPr algn="ctr"/>
                      <a:r>
                        <a:rPr sz="1250" b="0">
                          <a:solidFill>
                            <a:srgbClr val="1E6B3A"/>
                          </a:solidFill>
                          <a:latin typeface="Calibri"/>
                        </a:rPr>
                        <a:t>0.221   yes</a:t>
                      </a:r>
                    </a:p>
                  </a:txBody>
                  <a:tcPr marL="64008" marR="64008" marT="18288" marB="18288" anchor="ctr">
                    <a:solidFill>
                      <a:srgbClr val="F3F5F8"/>
                    </a:solidFill>
                  </a:tcPr>
                </a:tc>
                <a:tc>
                  <a:txBody>
                    <a:bodyPr/>
                    <a:lstStyle/>
                    <a:p>
                      <a:pPr algn="ctr"/>
                      <a:r>
                        <a:rPr sz="1250" b="0">
                          <a:solidFill>
                            <a:srgbClr val="1E6B3A"/>
                          </a:solidFill>
                          <a:latin typeface="Calibri"/>
                        </a:rPr>
                        <a:t>84 overrules</a:t>
                      </a:r>
                    </a:p>
                  </a:txBody>
                  <a:tcPr marL="64008" marR="64008" marT="18288" marB="18288" anchor="ctr">
                    <a:solidFill>
                      <a:srgbClr val="F3F5F8"/>
                    </a:solidFill>
                  </a:tcPr>
                </a:tc>
                <a:extLst>
                  <a:ext uri="{0D108BD9-81ED-4DB2-BD59-A6C34878D82A}">
                    <a16:rowId xmlns:a16="http://schemas.microsoft.com/office/drawing/2014/main" val="10002"/>
                  </a:ext>
                </a:extLst>
              </a:tr>
              <a:tr h="384048">
                <a:tc>
                  <a:txBody>
                    <a:bodyPr/>
                    <a:lstStyle/>
                    <a:p>
                      <a:pPr algn="l"/>
                      <a:r>
                        <a:rPr lang="en-US" sz="1250" b="0" dirty="0">
                          <a:solidFill>
                            <a:srgbClr val="1A1A1A"/>
                          </a:solidFill>
                          <a:latin typeface="Calibri"/>
                        </a:rPr>
                        <a:t>LLM on text </a:t>
                      </a:r>
                      <a:endParaRPr sz="1250" b="0" dirty="0">
                        <a:solidFill>
                          <a:srgbClr val="1A1A1A"/>
                        </a:solidFill>
                        <a:latin typeface="Calibri"/>
                      </a:endParaRPr>
                    </a:p>
                  </a:txBody>
                  <a:tcPr marL="64008" marR="64008" marT="18288" marB="18288" anchor="ctr">
                    <a:solidFill>
                      <a:srgbClr val="FFFFFF"/>
                    </a:solidFill>
                  </a:tcPr>
                </a:tc>
                <a:tc>
                  <a:txBody>
                    <a:bodyPr/>
                    <a:lstStyle/>
                    <a:p>
                      <a:pPr algn="ctr"/>
                      <a:r>
                        <a:rPr sz="1250" b="0">
                          <a:solidFill>
                            <a:srgbClr val="0E7C6B"/>
                          </a:solidFill>
                          <a:latin typeface="Consolas"/>
                        </a:rPr>
                        <a:t>+0.082</a:t>
                      </a:r>
                    </a:p>
                  </a:txBody>
                  <a:tcPr marL="64008" marR="64008" marT="18288" marB="18288" anchor="ctr">
                    <a:solidFill>
                      <a:srgbClr val="FFFFFF"/>
                    </a:solidFill>
                  </a:tcPr>
                </a:tc>
                <a:tc>
                  <a:txBody>
                    <a:bodyPr/>
                    <a:lstStyle/>
                    <a:p>
                      <a:pPr algn="ctr"/>
                      <a:r>
                        <a:rPr sz="1250" b="0">
                          <a:solidFill>
                            <a:srgbClr val="9B2226"/>
                          </a:solidFill>
                          <a:latin typeface="Calibri"/>
                        </a:rPr>
                        <a:t>0.339   NO</a:t>
                      </a:r>
                    </a:p>
                  </a:txBody>
                  <a:tcPr marL="64008" marR="64008" marT="18288" marB="18288" anchor="ctr">
                    <a:solidFill>
                      <a:srgbClr val="FFFFFF"/>
                    </a:solidFill>
                  </a:tcPr>
                </a:tc>
                <a:tc>
                  <a:txBody>
                    <a:bodyPr/>
                    <a:lstStyle/>
                    <a:p>
                      <a:pPr algn="ctr"/>
                      <a:r>
                        <a:rPr sz="1250" b="0">
                          <a:solidFill>
                            <a:srgbClr val="9B2226"/>
                          </a:solidFill>
                          <a:latin typeface="Calibri"/>
                        </a:rPr>
                        <a:t>353 overrules</a:t>
                      </a:r>
                    </a:p>
                  </a:txBody>
                  <a:tcPr marL="64008" marR="64008" marT="18288" marB="18288" anchor="ctr">
                    <a:solidFill>
                      <a:srgbClr val="FFFFFF"/>
                    </a:solidFill>
                  </a:tcPr>
                </a:tc>
                <a:extLst>
                  <a:ext uri="{0D108BD9-81ED-4DB2-BD59-A6C34878D82A}">
                    <a16:rowId xmlns:a16="http://schemas.microsoft.com/office/drawing/2014/main" val="10003"/>
                  </a:ext>
                </a:extLst>
              </a:tr>
              <a:tr h="384048">
                <a:tc>
                  <a:txBody>
                    <a:bodyPr/>
                    <a:lstStyle/>
                    <a:p>
                      <a:pPr algn="l"/>
                      <a:r>
                        <a:rPr lang="en-US" sz="1250" b="0" dirty="0">
                          <a:solidFill>
                            <a:srgbClr val="1A1A1A"/>
                          </a:solidFill>
                          <a:latin typeface="Calibri"/>
                        </a:rPr>
                        <a:t>LLM on numbers and text</a:t>
                      </a:r>
                      <a:endParaRPr sz="1250" b="0" dirty="0">
                        <a:solidFill>
                          <a:srgbClr val="1A1A1A"/>
                        </a:solidFill>
                        <a:latin typeface="Calibri"/>
                      </a:endParaRPr>
                    </a:p>
                  </a:txBody>
                  <a:tcPr marL="64008" marR="64008" marT="18288" marB="18288" anchor="ctr">
                    <a:solidFill>
                      <a:srgbClr val="F3F5F8"/>
                    </a:solidFill>
                  </a:tcPr>
                </a:tc>
                <a:tc>
                  <a:txBody>
                    <a:bodyPr/>
                    <a:lstStyle/>
                    <a:p>
                      <a:pPr algn="ctr"/>
                      <a:r>
                        <a:rPr sz="1250" b="0" dirty="0">
                          <a:solidFill>
                            <a:srgbClr val="1E6B3A"/>
                          </a:solidFill>
                          <a:latin typeface="Consolas"/>
                        </a:rPr>
                        <a:t>+0.086</a:t>
                      </a:r>
                    </a:p>
                  </a:txBody>
                  <a:tcPr marL="64008" marR="64008" marT="18288" marB="18288" anchor="ctr">
                    <a:solidFill>
                      <a:srgbClr val="F3F5F8"/>
                    </a:solidFill>
                  </a:tcPr>
                </a:tc>
                <a:tc>
                  <a:txBody>
                    <a:bodyPr/>
                    <a:lstStyle/>
                    <a:p>
                      <a:pPr algn="ctr"/>
                      <a:r>
                        <a:rPr sz="1250" b="0">
                          <a:solidFill>
                            <a:srgbClr val="1E6B3A"/>
                          </a:solidFill>
                          <a:latin typeface="Calibri"/>
                        </a:rPr>
                        <a:t>0.246   yes</a:t>
                      </a:r>
                    </a:p>
                  </a:txBody>
                  <a:tcPr marL="64008" marR="64008" marT="18288" marB="18288" anchor="ctr">
                    <a:solidFill>
                      <a:srgbClr val="F3F5F8"/>
                    </a:solidFill>
                  </a:tcPr>
                </a:tc>
                <a:tc>
                  <a:txBody>
                    <a:bodyPr/>
                    <a:lstStyle/>
                    <a:p>
                      <a:pPr algn="ctr"/>
                      <a:r>
                        <a:rPr sz="1250" b="0" dirty="0">
                          <a:solidFill>
                            <a:srgbClr val="1E6B3A"/>
                          </a:solidFill>
                          <a:latin typeface="Calibri"/>
                        </a:rPr>
                        <a:t>117 overrules</a:t>
                      </a:r>
                    </a:p>
                  </a:txBody>
                  <a:tcPr marL="64008" marR="64008" marT="18288" marB="18288" anchor="ctr">
                    <a:solidFill>
                      <a:srgbClr val="F3F5F8"/>
                    </a:solidFill>
                  </a:tcPr>
                </a:tc>
                <a:extLst>
                  <a:ext uri="{0D108BD9-81ED-4DB2-BD59-A6C34878D82A}">
                    <a16:rowId xmlns:a16="http://schemas.microsoft.com/office/drawing/2014/main" val="10004"/>
                  </a:ext>
                </a:extLst>
              </a:tr>
            </a:tbl>
          </a:graphicData>
        </a:graphic>
      </p:graphicFrame>
      <p:sp>
        <p:nvSpPr>
          <p:cNvPr id="12" name="TextBox 11"/>
          <p:cNvSpPr txBox="1"/>
          <p:nvPr/>
        </p:nvSpPr>
        <p:spPr>
          <a:xfrm>
            <a:off x="548640" y="5897880"/>
            <a:ext cx="11094415" cy="274320"/>
          </a:xfrm>
          <a:prstGeom prst="rect">
            <a:avLst/>
          </a:prstGeom>
          <a:noFill/>
        </p:spPr>
        <p:txBody>
          <a:bodyPr wrap="square" lIns="0" tIns="0" rIns="0" bIns="0" anchor="t">
            <a:spAutoFit/>
          </a:bodyPr>
          <a:lstStyle/>
          <a:p>
            <a:pPr algn="l">
              <a:lnSpc>
                <a:spcPct val="110000"/>
              </a:lnSpc>
              <a:spcAft>
                <a:spcPts val="400"/>
              </a:spcAft>
            </a:pPr>
            <a:r>
              <a:rPr sz="1150" b="0" i="0">
                <a:solidFill>
                  <a:srgbClr val="6E6E6E"/>
                </a:solidFill>
                <a:latin typeface="Calibri"/>
              </a:rPr>
              <a:t>The whole experiment — three runs, 313 meetings each, 3,756 calls to Claude — cost </a:t>
            </a:r>
            <a:r>
              <a:rPr sz="1150" b="1" i="0">
                <a:solidFill>
                  <a:srgbClr val="003262"/>
                </a:solidFill>
                <a:latin typeface="Calibri"/>
              </a:rPr>
              <a:t>$4.25</a:t>
            </a:r>
            <a:r>
              <a:rPr sz="1150" b="0" i="0">
                <a:solidFill>
                  <a:srgbClr val="6E6E6E"/>
                </a:solidFill>
                <a:latin typeface="Calibri"/>
              </a:rPr>
              <a:t>.  Everything we have measured so far cost $7.31.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94415" cy="548640"/>
          </a:xfrm>
          <a:prstGeom prst="rect">
            <a:avLst/>
          </a:prstGeom>
          <a:noFill/>
        </p:spPr>
        <p:txBody>
          <a:bodyPr wrap="square" lIns="0" tIns="0" rIns="0" bIns="0" anchor="t">
            <a:spAutoFit/>
          </a:bodyPr>
          <a:lstStyle/>
          <a:p>
            <a:pPr algn="l">
              <a:lnSpc>
                <a:spcPct val="105000"/>
              </a:lnSpc>
              <a:spcAft>
                <a:spcPts val="400"/>
              </a:spcAft>
            </a:pPr>
            <a:r>
              <a:rPr sz="2700" b="1" i="0">
                <a:solidFill>
                  <a:srgbClr val="003262"/>
                </a:solidFill>
                <a:latin typeface="Calibri"/>
              </a:rPr>
              <a:t>The PM knows one thing the analysts don't</a:t>
            </a:r>
          </a:p>
        </p:txBody>
      </p:sp>
      <p:sp>
        <p:nvSpPr>
          <p:cNvPr id="3" name="Rectangle 2"/>
          <p:cNvSpPr/>
          <p:nvPr/>
        </p:nvSpPr>
        <p:spPr>
          <a:xfrm>
            <a:off x="548640" y="1225296"/>
            <a:ext cx="1371600" cy="50292"/>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548640" y="6345936"/>
            <a:ext cx="11094415" cy="9525"/>
          </a:xfrm>
          <a:prstGeom prst="rect">
            <a:avLst/>
          </a:prstGeom>
          <a:solidFill>
            <a:srgbClr val="DDD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48640" y="6419088"/>
            <a:ext cx="2194560" cy="329184"/>
          </a:xfrm>
          <a:prstGeom prst="rect">
            <a:avLst/>
          </a:prstGeom>
          <a:noFill/>
        </p:spPr>
        <p:txBody>
          <a:bodyPr wrap="square" lIns="0" tIns="0" rIns="0" bIns="0" anchor="ctr">
            <a:spAutoFit/>
          </a:bodyPr>
          <a:lstStyle/>
          <a:p>
            <a:pPr algn="l">
              <a:lnSpc>
                <a:spcPct val="110000"/>
              </a:lnSpc>
              <a:spcAft>
                <a:spcPts val="400"/>
              </a:spcAft>
            </a:pPr>
            <a:r>
              <a:rPr sz="1500" b="1" i="0">
                <a:solidFill>
                  <a:srgbClr val="003262"/>
                </a:solidFill>
                <a:latin typeface="Calibri"/>
              </a:rPr>
              <a:t>Berkeley</a:t>
            </a:r>
            <a:r>
              <a:rPr sz="1300" b="0" i="0">
                <a:solidFill>
                  <a:srgbClr val="FDB515"/>
                </a:solidFill>
                <a:latin typeface="Calibri"/>
              </a:rPr>
              <a:t>  |  </a:t>
            </a:r>
            <a:r>
              <a:rPr sz="1100" b="1" i="0">
                <a:solidFill>
                  <a:srgbClr val="3B7EA1"/>
                </a:solidFill>
                <a:latin typeface="Calibri"/>
              </a:rPr>
              <a:t>MFE</a:t>
            </a:r>
          </a:p>
        </p:txBody>
      </p:sp>
      <p:sp>
        <p:nvSpPr>
          <p:cNvPr id="6" name="TextBox 5"/>
          <p:cNvSpPr txBox="1"/>
          <p:nvPr/>
        </p:nvSpPr>
        <p:spPr>
          <a:xfrm>
            <a:off x="9814255" y="6419088"/>
            <a:ext cx="1828800" cy="329184"/>
          </a:xfrm>
          <a:prstGeom prst="rect">
            <a:avLst/>
          </a:prstGeom>
          <a:noFill/>
        </p:spPr>
        <p:txBody>
          <a:bodyPr wrap="square" lIns="0" tIns="0" rIns="0" bIns="0" anchor="ctr">
            <a:spAutoFit/>
          </a:bodyPr>
          <a:lstStyle/>
          <a:p>
            <a:pPr algn="r">
              <a:lnSpc>
                <a:spcPct val="110000"/>
              </a:lnSpc>
              <a:spcAft>
                <a:spcPts val="400"/>
              </a:spcAft>
            </a:pPr>
            <a:r>
              <a:rPr sz="1300" b="1" i="0">
                <a:solidFill>
                  <a:srgbClr val="1A1A1A"/>
                </a:solidFill>
                <a:latin typeface="Calibri"/>
              </a:rPr>
              <a:t>BLACKROCK</a:t>
            </a:r>
          </a:p>
        </p:txBody>
      </p:sp>
      <p:sp>
        <p:nvSpPr>
          <p:cNvPr id="7" name="TextBox 6"/>
          <p:cNvSpPr txBox="1"/>
          <p:nvPr/>
        </p:nvSpPr>
        <p:spPr>
          <a:xfrm>
            <a:off x="5730087" y="6446520"/>
            <a:ext cx="731520" cy="274320"/>
          </a:xfrm>
          <a:prstGeom prst="rect">
            <a:avLst/>
          </a:prstGeom>
          <a:noFill/>
        </p:spPr>
        <p:txBody>
          <a:bodyPr wrap="square" lIns="0" tIns="0" rIns="0" bIns="0" anchor="ctr">
            <a:spAutoFit/>
          </a:bodyPr>
          <a:lstStyle/>
          <a:p>
            <a:pPr algn="ctr">
              <a:lnSpc>
                <a:spcPct val="110000"/>
              </a:lnSpc>
              <a:spcAft>
                <a:spcPts val="400"/>
              </a:spcAft>
            </a:pPr>
            <a:r>
              <a:rPr sz="1000" b="0" i="0">
                <a:solidFill>
                  <a:srgbClr val="6E6E6E"/>
                </a:solidFill>
                <a:latin typeface="Calibri"/>
              </a:rPr>
              <a:t>5</a:t>
            </a:r>
          </a:p>
        </p:txBody>
      </p:sp>
      <p:sp>
        <p:nvSpPr>
          <p:cNvPr id="8" name="TextBox 7"/>
          <p:cNvSpPr txBox="1"/>
          <p:nvPr/>
        </p:nvSpPr>
        <p:spPr>
          <a:xfrm>
            <a:off x="548640" y="1463040"/>
            <a:ext cx="11094415" cy="457200"/>
          </a:xfrm>
          <a:prstGeom prst="rect">
            <a:avLst/>
          </a:prstGeom>
          <a:noFill/>
        </p:spPr>
        <p:txBody>
          <a:bodyPr wrap="square" lIns="0" tIns="0" rIns="0" bIns="0" anchor="t">
            <a:spAutoFit/>
          </a:bodyPr>
          <a:lstStyle/>
          <a:p>
            <a:pPr algn="l">
              <a:lnSpc>
                <a:spcPct val="125000"/>
              </a:lnSpc>
              <a:spcAft>
                <a:spcPts val="400"/>
              </a:spcAft>
            </a:pPr>
            <a:r>
              <a:rPr sz="1400" b="0" i="0">
                <a:solidFill>
                  <a:srgbClr val="6E6E6E"/>
                </a:solidFill>
                <a:latin typeface="Calibri"/>
              </a:rPr>
              <a:t>Four analysts say four things about the world. None of them names a trade. The PM's job — and its whole edge — is knowing how those forces reach the market.</a:t>
            </a:r>
          </a:p>
        </p:txBody>
      </p:sp>
      <p:sp>
        <p:nvSpPr>
          <p:cNvPr id="9" name="Rectangle 8"/>
          <p:cNvSpPr/>
          <p:nvPr/>
        </p:nvSpPr>
        <p:spPr>
          <a:xfrm>
            <a:off x="548640" y="2286000"/>
            <a:ext cx="2468880" cy="438912"/>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13232" y="2368296"/>
            <a:ext cx="2194560" cy="274320"/>
          </a:xfrm>
          <a:prstGeom prst="rect">
            <a:avLst/>
          </a:prstGeom>
          <a:noFill/>
        </p:spPr>
        <p:txBody>
          <a:bodyPr wrap="square" lIns="0" tIns="0" rIns="0" bIns="0" anchor="ctr">
            <a:spAutoFit/>
          </a:bodyPr>
          <a:lstStyle/>
          <a:p>
            <a:pPr algn="l">
              <a:lnSpc>
                <a:spcPct val="110000"/>
              </a:lnSpc>
              <a:spcAft>
                <a:spcPts val="400"/>
              </a:spcAft>
            </a:pPr>
            <a:r>
              <a:rPr sz="1150" b="1" i="0">
                <a:solidFill>
                  <a:srgbClr val="003262"/>
                </a:solidFill>
                <a:latin typeface="Calibri"/>
              </a:rPr>
              <a:t>Inflation</a:t>
            </a:r>
            <a:r>
              <a:rPr sz="1150" b="0" i="0">
                <a:solidFill>
                  <a:srgbClr val="6E6E6E"/>
                </a:solidFill>
                <a:latin typeface="Calibri"/>
              </a:rPr>
              <a:t>  still hot</a:t>
            </a:r>
          </a:p>
        </p:txBody>
      </p:sp>
      <p:sp>
        <p:nvSpPr>
          <p:cNvPr id="11" name="Rectangle 10"/>
          <p:cNvSpPr/>
          <p:nvPr/>
        </p:nvSpPr>
        <p:spPr>
          <a:xfrm>
            <a:off x="548640" y="2834640"/>
            <a:ext cx="2468880" cy="438912"/>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13232" y="2916936"/>
            <a:ext cx="2194560" cy="274320"/>
          </a:xfrm>
          <a:prstGeom prst="rect">
            <a:avLst/>
          </a:prstGeom>
          <a:noFill/>
        </p:spPr>
        <p:txBody>
          <a:bodyPr wrap="square" lIns="0" tIns="0" rIns="0" bIns="0" anchor="ctr">
            <a:spAutoFit/>
          </a:bodyPr>
          <a:lstStyle/>
          <a:p>
            <a:pPr algn="l">
              <a:lnSpc>
                <a:spcPct val="110000"/>
              </a:lnSpc>
              <a:spcAft>
                <a:spcPts val="400"/>
              </a:spcAft>
            </a:pPr>
            <a:r>
              <a:rPr sz="1150" b="1" i="0">
                <a:solidFill>
                  <a:srgbClr val="003262"/>
                </a:solidFill>
                <a:latin typeface="Calibri"/>
              </a:rPr>
              <a:t>Jobs</a:t>
            </a:r>
            <a:r>
              <a:rPr sz="1150" b="0" i="0">
                <a:solidFill>
                  <a:srgbClr val="6E6E6E"/>
                </a:solidFill>
                <a:latin typeface="Calibri"/>
              </a:rPr>
              <a:t>  still tight</a:t>
            </a:r>
          </a:p>
        </p:txBody>
      </p:sp>
      <p:sp>
        <p:nvSpPr>
          <p:cNvPr id="13" name="Rectangle 12"/>
          <p:cNvSpPr/>
          <p:nvPr/>
        </p:nvSpPr>
        <p:spPr>
          <a:xfrm>
            <a:off x="548640" y="3383280"/>
            <a:ext cx="2468880" cy="438912"/>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13232" y="3465576"/>
            <a:ext cx="2194560" cy="274320"/>
          </a:xfrm>
          <a:prstGeom prst="rect">
            <a:avLst/>
          </a:prstGeom>
          <a:noFill/>
        </p:spPr>
        <p:txBody>
          <a:bodyPr wrap="square" lIns="0" tIns="0" rIns="0" bIns="0" anchor="ctr">
            <a:spAutoFit/>
          </a:bodyPr>
          <a:lstStyle/>
          <a:p>
            <a:pPr algn="l">
              <a:lnSpc>
                <a:spcPct val="110000"/>
              </a:lnSpc>
              <a:spcAft>
                <a:spcPts val="400"/>
              </a:spcAft>
            </a:pPr>
            <a:r>
              <a:rPr sz="1150" b="1" i="0">
                <a:solidFill>
                  <a:srgbClr val="003262"/>
                </a:solidFill>
                <a:latin typeface="Calibri"/>
              </a:rPr>
              <a:t>Balance sheet</a:t>
            </a:r>
            <a:r>
              <a:rPr sz="1150" b="0" i="0">
                <a:solidFill>
                  <a:srgbClr val="6E6E6E"/>
                </a:solidFill>
                <a:latin typeface="Calibri"/>
              </a:rPr>
              <a:t>  draining</a:t>
            </a:r>
          </a:p>
        </p:txBody>
      </p:sp>
      <p:sp>
        <p:nvSpPr>
          <p:cNvPr id="15" name="Rectangle 14"/>
          <p:cNvSpPr/>
          <p:nvPr/>
        </p:nvSpPr>
        <p:spPr>
          <a:xfrm>
            <a:off x="548640" y="3931920"/>
            <a:ext cx="2468880" cy="438912"/>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13232" y="4014216"/>
            <a:ext cx="2194560" cy="274320"/>
          </a:xfrm>
          <a:prstGeom prst="rect">
            <a:avLst/>
          </a:prstGeom>
          <a:noFill/>
        </p:spPr>
        <p:txBody>
          <a:bodyPr wrap="square" lIns="0" tIns="0" rIns="0" bIns="0" anchor="ctr">
            <a:spAutoFit/>
          </a:bodyPr>
          <a:lstStyle/>
          <a:p>
            <a:pPr algn="l">
              <a:lnSpc>
                <a:spcPct val="110000"/>
              </a:lnSpc>
              <a:spcAft>
                <a:spcPts val="400"/>
              </a:spcAft>
            </a:pPr>
            <a:r>
              <a:rPr sz="1150" b="1" i="0">
                <a:solidFill>
                  <a:srgbClr val="003262"/>
                </a:solidFill>
                <a:latin typeface="Calibri"/>
              </a:rPr>
              <a:t>Term premium</a:t>
            </a:r>
            <a:r>
              <a:rPr sz="1150" b="0" i="0">
                <a:solidFill>
                  <a:srgbClr val="6E6E6E"/>
                </a:solidFill>
                <a:latin typeface="Calibri"/>
              </a:rPr>
              <a:t>  rising</a:t>
            </a:r>
          </a:p>
        </p:txBody>
      </p:sp>
      <p:sp>
        <p:nvSpPr>
          <p:cNvPr id="17" name="Right Arrow 16"/>
          <p:cNvSpPr/>
          <p:nvPr/>
        </p:nvSpPr>
        <p:spPr>
          <a:xfrm>
            <a:off x="3154680" y="3108960"/>
            <a:ext cx="502920" cy="256032"/>
          </a:xfrm>
          <a:prstGeom prst="rightArrow">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3840480" y="2194560"/>
            <a:ext cx="3566160" cy="2651760"/>
          </a:xfrm>
          <a:prstGeom prst="rect">
            <a:avLst/>
          </a:prstGeom>
          <a:solidFill>
            <a:srgbClr val="FFFFFF"/>
          </a:solidFill>
          <a:ln w="12700">
            <a:solidFill>
              <a:srgbClr val="DDD5C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4023360" y="2331720"/>
            <a:ext cx="3200400" cy="457200"/>
          </a:xfrm>
          <a:prstGeom prst="rect">
            <a:avLst/>
          </a:prstGeom>
          <a:noFill/>
        </p:spPr>
        <p:txBody>
          <a:bodyPr wrap="square" lIns="0" tIns="0" rIns="0" bIns="0" anchor="t">
            <a:spAutoFit/>
          </a:bodyPr>
          <a:lstStyle/>
          <a:p>
            <a:pPr algn="l">
              <a:lnSpc>
                <a:spcPct val="120000"/>
              </a:lnSpc>
              <a:spcAft>
                <a:spcPts val="400"/>
              </a:spcAft>
            </a:pPr>
            <a:r>
              <a:rPr sz="1300" b="1" i="0">
                <a:solidFill>
                  <a:srgbClr val="003262"/>
                </a:solidFill>
                <a:latin typeface="Calibri"/>
              </a:rPr>
              <a:t>So policy stays tighter for longer.</a:t>
            </a:r>
          </a:p>
        </p:txBody>
      </p:sp>
      <p:sp>
        <p:nvSpPr>
          <p:cNvPr id="20" name="Rectangle 19"/>
          <p:cNvSpPr/>
          <p:nvPr/>
        </p:nvSpPr>
        <p:spPr>
          <a:xfrm>
            <a:off x="4160520" y="4069080"/>
            <a:ext cx="2926080" cy="9525"/>
          </a:xfrm>
          <a:prstGeom prst="rect">
            <a:avLst/>
          </a:prstGeom>
          <a:solidFill>
            <a:srgbClr val="A8A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Up Arrow 20"/>
          <p:cNvSpPr/>
          <p:nvPr/>
        </p:nvSpPr>
        <p:spPr>
          <a:xfrm>
            <a:off x="4846320" y="3017520"/>
            <a:ext cx="384048" cy="1051560"/>
          </a:xfrm>
          <a:prstGeom prst="upArrow">
            <a:avLst/>
          </a:prstGeom>
          <a:solidFill>
            <a:srgbClr val="9B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4617720" y="4142232"/>
            <a:ext cx="841248" cy="201168"/>
          </a:xfrm>
          <a:prstGeom prst="rect">
            <a:avLst/>
          </a:prstGeom>
          <a:noFill/>
        </p:spPr>
        <p:txBody>
          <a:bodyPr wrap="square" lIns="0" tIns="0" rIns="0" bIns="0" anchor="t">
            <a:spAutoFit/>
          </a:bodyPr>
          <a:lstStyle/>
          <a:p>
            <a:pPr algn="ctr">
              <a:lnSpc>
                <a:spcPct val="110000"/>
              </a:lnSpc>
              <a:spcAft>
                <a:spcPts val="400"/>
              </a:spcAft>
            </a:pPr>
            <a:r>
              <a:rPr sz="1050" b="1" i="0">
                <a:solidFill>
                  <a:srgbClr val="1A1A1A"/>
                </a:solidFill>
                <a:latin typeface="Calibri"/>
              </a:rPr>
              <a:t>2-year</a:t>
            </a:r>
          </a:p>
        </p:txBody>
      </p:sp>
      <p:sp>
        <p:nvSpPr>
          <p:cNvPr id="23" name="Up Arrow 22"/>
          <p:cNvSpPr/>
          <p:nvPr/>
        </p:nvSpPr>
        <p:spPr>
          <a:xfrm>
            <a:off x="6492240" y="3611880"/>
            <a:ext cx="384048" cy="457200"/>
          </a:xfrm>
          <a:prstGeom prst="upArrow">
            <a:avLst/>
          </a:prstGeom>
          <a:solidFill>
            <a:srgbClr val="3B7E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263640" y="4142232"/>
            <a:ext cx="841248" cy="201168"/>
          </a:xfrm>
          <a:prstGeom prst="rect">
            <a:avLst/>
          </a:prstGeom>
          <a:noFill/>
        </p:spPr>
        <p:txBody>
          <a:bodyPr wrap="square" lIns="0" tIns="0" rIns="0" bIns="0" anchor="t">
            <a:spAutoFit/>
          </a:bodyPr>
          <a:lstStyle/>
          <a:p>
            <a:pPr algn="ctr">
              <a:lnSpc>
                <a:spcPct val="110000"/>
              </a:lnSpc>
              <a:spcAft>
                <a:spcPts val="400"/>
              </a:spcAft>
            </a:pPr>
            <a:r>
              <a:rPr sz="1050" b="1" i="0">
                <a:solidFill>
                  <a:srgbClr val="1A1A1A"/>
                </a:solidFill>
                <a:latin typeface="Calibri"/>
              </a:rPr>
              <a:t>10-year</a:t>
            </a:r>
          </a:p>
        </p:txBody>
      </p:sp>
      <p:sp>
        <p:nvSpPr>
          <p:cNvPr id="25" name="TextBox 24"/>
          <p:cNvSpPr txBox="1"/>
          <p:nvPr/>
        </p:nvSpPr>
        <p:spPr>
          <a:xfrm>
            <a:off x="4023360" y="2788920"/>
            <a:ext cx="822960" cy="457200"/>
          </a:xfrm>
          <a:prstGeom prst="rect">
            <a:avLst/>
          </a:prstGeom>
          <a:noFill/>
        </p:spPr>
        <p:txBody>
          <a:bodyPr wrap="square" lIns="0" tIns="0" rIns="0" bIns="0" anchor="t">
            <a:spAutoFit/>
          </a:bodyPr>
          <a:lstStyle/>
          <a:p>
            <a:pPr algn="l">
              <a:lnSpc>
                <a:spcPct val="115000"/>
              </a:lnSpc>
              <a:spcAft>
                <a:spcPts val="400"/>
              </a:spcAft>
            </a:pPr>
            <a:r>
              <a:rPr sz="950" b="0" i="0">
                <a:solidFill>
                  <a:srgbClr val="6E6E6E"/>
                </a:solidFill>
                <a:latin typeface="Calibri"/>
              </a:rPr>
              <a:t>yields
pushed up</a:t>
            </a:r>
          </a:p>
        </p:txBody>
      </p:sp>
      <p:sp>
        <p:nvSpPr>
          <p:cNvPr id="26" name="TextBox 25"/>
          <p:cNvSpPr txBox="1"/>
          <p:nvPr/>
        </p:nvSpPr>
        <p:spPr>
          <a:xfrm>
            <a:off x="4023360" y="4434840"/>
            <a:ext cx="3200400" cy="365760"/>
          </a:xfrm>
          <a:prstGeom prst="rect">
            <a:avLst/>
          </a:prstGeom>
          <a:noFill/>
        </p:spPr>
        <p:txBody>
          <a:bodyPr wrap="square" lIns="0" tIns="0" rIns="0" bIns="0" anchor="t">
            <a:spAutoFit/>
          </a:bodyPr>
          <a:lstStyle/>
          <a:p>
            <a:pPr algn="l">
              <a:lnSpc>
                <a:spcPct val="120000"/>
              </a:lnSpc>
              <a:spcAft>
                <a:spcPts val="400"/>
              </a:spcAft>
            </a:pPr>
            <a:r>
              <a:rPr sz="1150" b="0" i="0">
                <a:solidFill>
                  <a:srgbClr val="1A1A1A"/>
                </a:solidFill>
                <a:latin typeface="Calibri"/>
              </a:rPr>
              <a:t>The front of the curve takes the hit. The long end moves less.</a:t>
            </a:r>
          </a:p>
        </p:txBody>
      </p:sp>
      <p:sp>
        <p:nvSpPr>
          <p:cNvPr id="27" name="Right Arrow 26"/>
          <p:cNvSpPr/>
          <p:nvPr/>
        </p:nvSpPr>
        <p:spPr>
          <a:xfrm>
            <a:off x="7543800" y="3108960"/>
            <a:ext cx="502920" cy="256032"/>
          </a:xfrm>
          <a:prstGeom prst="rightArrow">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ectangle 27"/>
          <p:cNvSpPr/>
          <p:nvPr/>
        </p:nvSpPr>
        <p:spPr>
          <a:xfrm>
            <a:off x="8229600" y="2194560"/>
            <a:ext cx="3410712" cy="265176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8458200" y="2377440"/>
            <a:ext cx="2971800" cy="1828800"/>
          </a:xfrm>
          <a:prstGeom prst="rect">
            <a:avLst/>
          </a:prstGeom>
          <a:noFill/>
        </p:spPr>
        <p:txBody>
          <a:bodyPr wrap="square" lIns="0" tIns="0" rIns="0" bIns="0" anchor="t">
            <a:spAutoFit/>
          </a:bodyPr>
          <a:lstStyle/>
          <a:p>
            <a:pPr algn="l">
              <a:lnSpc>
                <a:spcPct val="125000"/>
              </a:lnSpc>
              <a:spcAft>
                <a:spcPts val="700"/>
              </a:spcAft>
            </a:pPr>
            <a:r>
              <a:rPr sz="1100" b="1" i="0">
                <a:solidFill>
                  <a:srgbClr val="FDB515"/>
                </a:solidFill>
                <a:latin typeface="Calibri"/>
              </a:rPr>
              <a:t>One trade</a:t>
            </a:r>
          </a:p>
          <a:p>
            <a:pPr algn="l">
              <a:lnSpc>
                <a:spcPct val="125000"/>
              </a:lnSpc>
              <a:spcAft>
                <a:spcPts val="700"/>
              </a:spcAft>
            </a:pPr>
            <a:r>
              <a:rPr sz="2100" b="1" i="0">
                <a:solidFill>
                  <a:srgbClr val="FFFFFF"/>
                </a:solidFill>
                <a:latin typeface="Calibri"/>
              </a:rPr>
              <a:t>A 2s10s flattener</a:t>
            </a:r>
          </a:p>
          <a:p>
            <a:pPr algn="l">
              <a:lnSpc>
                <a:spcPct val="125000"/>
              </a:lnSpc>
              <a:spcAft>
                <a:spcPts val="700"/>
              </a:spcAft>
            </a:pPr>
            <a:r>
              <a:rPr sz="1150" b="0" i="0">
                <a:solidFill>
                  <a:srgbClr val="DDD5C7"/>
                </a:solidFill>
                <a:latin typeface="Calibri"/>
              </a:rPr>
              <a:t>Not “sell bonds”. Buy the 10-year, sell the 2-year, sized so that a general move in rates cancels out.</a:t>
            </a:r>
          </a:p>
          <a:p>
            <a:pPr algn="l">
              <a:lnSpc>
                <a:spcPct val="125000"/>
              </a:lnSpc>
              <a:spcAft>
                <a:spcPts val="700"/>
              </a:spcAft>
            </a:pPr>
            <a:r>
              <a:rPr sz="1150" b="0" i="0">
                <a:solidFill>
                  <a:srgbClr val="FFFFFF"/>
                </a:solidFill>
                <a:latin typeface="Calibri"/>
              </a:rPr>
              <a:t>Only the thing they actually believe — the gap between the two ends — pays or loses.</a:t>
            </a:r>
          </a:p>
        </p:txBody>
      </p:sp>
      <p:sp>
        <p:nvSpPr>
          <p:cNvPr id="30" name="TextBox 29"/>
          <p:cNvSpPr txBox="1"/>
          <p:nvPr/>
        </p:nvSpPr>
        <p:spPr>
          <a:xfrm>
            <a:off x="548640" y="5074920"/>
            <a:ext cx="11094415" cy="731520"/>
          </a:xfrm>
          <a:prstGeom prst="rect">
            <a:avLst/>
          </a:prstGeom>
          <a:noFill/>
        </p:spPr>
        <p:txBody>
          <a:bodyPr wrap="square" lIns="0" tIns="0" rIns="0" bIns="0" anchor="t">
            <a:spAutoFit/>
          </a:bodyPr>
          <a:lstStyle/>
          <a:p>
            <a:pPr algn="l">
              <a:lnSpc>
                <a:spcPct val="125000"/>
              </a:lnSpc>
              <a:spcAft>
                <a:spcPts val="400"/>
              </a:spcAft>
            </a:pPr>
            <a:r>
              <a:rPr sz="1350" b="0" i="0">
                <a:solidFill>
                  <a:srgbClr val="003262"/>
                </a:solidFill>
                <a:latin typeface="Calibri"/>
              </a:rPr>
              <a:t>This map is the PM's edge, and it is the part the analysts cannot hold — none of them can see more than one force. </a:t>
            </a:r>
            <a:r>
              <a:rPr sz="1350" b="1" i="0">
                <a:solidFill>
                  <a:srgbClr val="003262"/>
                </a:solidFill>
                <a:latin typeface="Calibri"/>
              </a:rPr>
              <a:t>And when they disagree with each other, the PM bets smaller.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94415" cy="548640"/>
          </a:xfrm>
          <a:prstGeom prst="rect">
            <a:avLst/>
          </a:prstGeom>
          <a:noFill/>
        </p:spPr>
        <p:txBody>
          <a:bodyPr wrap="square" lIns="0" tIns="0" rIns="0" bIns="0" anchor="t">
            <a:spAutoFit/>
          </a:bodyPr>
          <a:lstStyle/>
          <a:p>
            <a:pPr algn="l">
              <a:lnSpc>
                <a:spcPct val="105000"/>
              </a:lnSpc>
              <a:spcAft>
                <a:spcPts val="400"/>
              </a:spcAft>
            </a:pPr>
            <a:r>
              <a:rPr sz="2700" b="1" i="0">
                <a:solidFill>
                  <a:srgbClr val="003262"/>
                </a:solidFill>
                <a:latin typeface="Calibri"/>
              </a:rPr>
              <a:t>What we do next</a:t>
            </a:r>
          </a:p>
        </p:txBody>
      </p:sp>
      <p:sp>
        <p:nvSpPr>
          <p:cNvPr id="3" name="Rectangle 2"/>
          <p:cNvSpPr/>
          <p:nvPr/>
        </p:nvSpPr>
        <p:spPr>
          <a:xfrm>
            <a:off x="548640" y="1225296"/>
            <a:ext cx="1371600" cy="50292"/>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548640" y="6345936"/>
            <a:ext cx="11094415" cy="9525"/>
          </a:xfrm>
          <a:prstGeom prst="rect">
            <a:avLst/>
          </a:prstGeom>
          <a:solidFill>
            <a:srgbClr val="DDD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48640" y="6419088"/>
            <a:ext cx="2194560" cy="329184"/>
          </a:xfrm>
          <a:prstGeom prst="rect">
            <a:avLst/>
          </a:prstGeom>
          <a:noFill/>
        </p:spPr>
        <p:txBody>
          <a:bodyPr wrap="square" lIns="0" tIns="0" rIns="0" bIns="0" anchor="ctr">
            <a:spAutoFit/>
          </a:bodyPr>
          <a:lstStyle/>
          <a:p>
            <a:pPr algn="l">
              <a:lnSpc>
                <a:spcPct val="110000"/>
              </a:lnSpc>
              <a:spcAft>
                <a:spcPts val="400"/>
              </a:spcAft>
            </a:pPr>
            <a:r>
              <a:rPr sz="1500" b="1" i="0">
                <a:solidFill>
                  <a:srgbClr val="003262"/>
                </a:solidFill>
                <a:latin typeface="Calibri"/>
              </a:rPr>
              <a:t>Berkeley</a:t>
            </a:r>
            <a:r>
              <a:rPr sz="1300" b="0" i="0">
                <a:solidFill>
                  <a:srgbClr val="FDB515"/>
                </a:solidFill>
                <a:latin typeface="Calibri"/>
              </a:rPr>
              <a:t>  |  </a:t>
            </a:r>
            <a:r>
              <a:rPr sz="1100" b="1" i="0">
                <a:solidFill>
                  <a:srgbClr val="3B7EA1"/>
                </a:solidFill>
                <a:latin typeface="Calibri"/>
              </a:rPr>
              <a:t>MFE</a:t>
            </a:r>
          </a:p>
        </p:txBody>
      </p:sp>
      <p:sp>
        <p:nvSpPr>
          <p:cNvPr id="6" name="TextBox 5"/>
          <p:cNvSpPr txBox="1"/>
          <p:nvPr/>
        </p:nvSpPr>
        <p:spPr>
          <a:xfrm>
            <a:off x="9814255" y="6419088"/>
            <a:ext cx="1828800" cy="329184"/>
          </a:xfrm>
          <a:prstGeom prst="rect">
            <a:avLst/>
          </a:prstGeom>
          <a:noFill/>
        </p:spPr>
        <p:txBody>
          <a:bodyPr wrap="square" lIns="0" tIns="0" rIns="0" bIns="0" anchor="ctr">
            <a:spAutoFit/>
          </a:bodyPr>
          <a:lstStyle/>
          <a:p>
            <a:pPr algn="r">
              <a:lnSpc>
                <a:spcPct val="110000"/>
              </a:lnSpc>
              <a:spcAft>
                <a:spcPts val="400"/>
              </a:spcAft>
            </a:pPr>
            <a:r>
              <a:rPr sz="1300" b="1" i="0">
                <a:solidFill>
                  <a:srgbClr val="1A1A1A"/>
                </a:solidFill>
                <a:latin typeface="Calibri"/>
              </a:rPr>
              <a:t>BLACKROCK</a:t>
            </a:r>
          </a:p>
        </p:txBody>
      </p:sp>
      <p:sp>
        <p:nvSpPr>
          <p:cNvPr id="7" name="TextBox 6"/>
          <p:cNvSpPr txBox="1"/>
          <p:nvPr/>
        </p:nvSpPr>
        <p:spPr>
          <a:xfrm>
            <a:off x="5730087" y="6446520"/>
            <a:ext cx="731520" cy="274320"/>
          </a:xfrm>
          <a:prstGeom prst="rect">
            <a:avLst/>
          </a:prstGeom>
          <a:noFill/>
        </p:spPr>
        <p:txBody>
          <a:bodyPr wrap="square" lIns="0" tIns="0" rIns="0" bIns="0" anchor="ctr">
            <a:spAutoFit/>
          </a:bodyPr>
          <a:lstStyle/>
          <a:p>
            <a:pPr algn="ctr">
              <a:lnSpc>
                <a:spcPct val="110000"/>
              </a:lnSpc>
              <a:spcAft>
                <a:spcPts val="400"/>
              </a:spcAft>
            </a:pPr>
            <a:r>
              <a:rPr sz="1000" b="0" i="0">
                <a:solidFill>
                  <a:srgbClr val="6E6E6E"/>
                </a:solidFill>
                <a:latin typeface="Calibri"/>
              </a:rPr>
              <a:t>13</a:t>
            </a:r>
          </a:p>
        </p:txBody>
      </p:sp>
      <p:sp>
        <p:nvSpPr>
          <p:cNvPr id="8" name="Rectangle 7"/>
          <p:cNvSpPr/>
          <p:nvPr/>
        </p:nvSpPr>
        <p:spPr>
          <a:xfrm>
            <a:off x="548640" y="1737360"/>
            <a:ext cx="5349240" cy="118872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548640" y="1737360"/>
            <a:ext cx="50292" cy="1188720"/>
          </a:xfrm>
          <a:prstGeom prst="rect">
            <a:avLst/>
          </a:prstGeom>
          <a:solidFill>
            <a:srgbClr val="3B7E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77240" y="1874520"/>
            <a:ext cx="4892040" cy="241220"/>
          </a:xfrm>
          <a:prstGeom prst="rect">
            <a:avLst/>
          </a:prstGeom>
          <a:noFill/>
        </p:spPr>
        <p:txBody>
          <a:bodyPr wrap="square" lIns="0" tIns="0" rIns="0" bIns="0" anchor="t">
            <a:spAutoFit/>
          </a:bodyPr>
          <a:lstStyle/>
          <a:p>
            <a:pPr algn="l">
              <a:lnSpc>
                <a:spcPct val="110000"/>
              </a:lnSpc>
              <a:spcAft>
                <a:spcPts val="400"/>
              </a:spcAft>
            </a:pPr>
            <a:r>
              <a:rPr lang="en-US" sz="1500" b="1" i="0" dirty="0">
                <a:solidFill>
                  <a:srgbClr val="003262"/>
                </a:solidFill>
                <a:latin typeface="Calibri"/>
              </a:rPr>
              <a:t>Add</a:t>
            </a:r>
            <a:r>
              <a:rPr sz="1500" b="1" i="0" dirty="0">
                <a:solidFill>
                  <a:srgbClr val="003262"/>
                </a:solidFill>
                <a:latin typeface="Calibri"/>
              </a:rPr>
              <a:t> analysts</a:t>
            </a:r>
          </a:p>
        </p:txBody>
      </p:sp>
      <p:sp>
        <p:nvSpPr>
          <p:cNvPr id="11" name="TextBox 10"/>
          <p:cNvSpPr txBox="1"/>
          <p:nvPr/>
        </p:nvSpPr>
        <p:spPr>
          <a:xfrm>
            <a:off x="777240" y="2231136"/>
            <a:ext cx="4892040" cy="594360"/>
          </a:xfrm>
          <a:prstGeom prst="rect">
            <a:avLst/>
          </a:prstGeom>
          <a:noFill/>
        </p:spPr>
        <p:txBody>
          <a:bodyPr wrap="square" lIns="0" tIns="0" rIns="0" bIns="0" anchor="t">
            <a:spAutoFit/>
          </a:bodyPr>
          <a:lstStyle/>
          <a:p>
            <a:pPr algn="l">
              <a:lnSpc>
                <a:spcPct val="125000"/>
              </a:lnSpc>
              <a:spcAft>
                <a:spcPts val="400"/>
              </a:spcAft>
            </a:pPr>
            <a:r>
              <a:rPr sz="1200" b="0" i="0">
                <a:solidFill>
                  <a:srgbClr val="1A1A1A"/>
                </a:solidFill>
                <a:latin typeface="Calibri"/>
              </a:rPr>
              <a:t>Same slot, same boundary: watch one thing, say what it will do, never name a trade. If the design is right, that costs no change to the PM or the fund.</a:t>
            </a:r>
          </a:p>
        </p:txBody>
      </p:sp>
      <p:sp>
        <p:nvSpPr>
          <p:cNvPr id="12" name="Rectangle 11"/>
          <p:cNvSpPr/>
          <p:nvPr/>
        </p:nvSpPr>
        <p:spPr>
          <a:xfrm>
            <a:off x="6291072" y="1737360"/>
            <a:ext cx="5349240" cy="118872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6291072" y="1737360"/>
            <a:ext cx="50292" cy="118872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519672" y="1883664"/>
            <a:ext cx="4892040" cy="241220"/>
          </a:xfrm>
          <a:prstGeom prst="rect">
            <a:avLst/>
          </a:prstGeom>
          <a:noFill/>
        </p:spPr>
        <p:txBody>
          <a:bodyPr wrap="square" lIns="0" tIns="0" rIns="0" bIns="0" anchor="t">
            <a:spAutoFit/>
          </a:bodyPr>
          <a:lstStyle/>
          <a:p>
            <a:pPr algn="l">
              <a:lnSpc>
                <a:spcPct val="110000"/>
              </a:lnSpc>
              <a:spcAft>
                <a:spcPts val="400"/>
              </a:spcAft>
            </a:pPr>
            <a:r>
              <a:rPr lang="en-US" sz="1500" b="1" dirty="0">
                <a:solidFill>
                  <a:srgbClr val="003262"/>
                </a:solidFill>
                <a:latin typeface="Calibri"/>
              </a:rPr>
              <a:t>More </a:t>
            </a:r>
            <a:r>
              <a:rPr sz="1500" b="1" i="0" dirty="0">
                <a:solidFill>
                  <a:srgbClr val="003262"/>
                </a:solidFill>
                <a:latin typeface="Calibri"/>
              </a:rPr>
              <a:t>strateg</a:t>
            </a:r>
            <a:r>
              <a:rPr lang="en-US" sz="1500" b="1" dirty="0">
                <a:solidFill>
                  <a:srgbClr val="003262"/>
                </a:solidFill>
                <a:latin typeface="Calibri"/>
              </a:rPr>
              <a:t>ies</a:t>
            </a:r>
            <a:endParaRPr sz="1500" b="1" i="0" dirty="0">
              <a:solidFill>
                <a:srgbClr val="003262"/>
              </a:solidFill>
              <a:latin typeface="Calibri"/>
            </a:endParaRPr>
          </a:p>
        </p:txBody>
      </p:sp>
      <p:sp>
        <p:nvSpPr>
          <p:cNvPr id="15" name="TextBox 14"/>
          <p:cNvSpPr txBox="1"/>
          <p:nvPr/>
        </p:nvSpPr>
        <p:spPr>
          <a:xfrm>
            <a:off x="6519672" y="2231136"/>
            <a:ext cx="4892040" cy="594360"/>
          </a:xfrm>
          <a:prstGeom prst="rect">
            <a:avLst/>
          </a:prstGeom>
          <a:noFill/>
        </p:spPr>
        <p:txBody>
          <a:bodyPr wrap="square" lIns="0" tIns="0" rIns="0" bIns="0" anchor="t">
            <a:spAutoFit/>
          </a:bodyPr>
          <a:lstStyle/>
          <a:p>
            <a:pPr algn="l">
              <a:lnSpc>
                <a:spcPct val="125000"/>
              </a:lnSpc>
              <a:spcAft>
                <a:spcPts val="400"/>
              </a:spcAft>
            </a:pPr>
            <a:r>
              <a:rPr sz="1200" b="0" i="0">
                <a:solidFill>
                  <a:srgbClr val="1A1A1A"/>
                </a:solidFill>
                <a:latin typeface="Calibri"/>
              </a:rPr>
              <a:t>With one PM there is nothing to diversify and nothing to net. The whole bottom layer is written and idle until there are two books to weigh against each other.</a:t>
            </a:r>
          </a:p>
        </p:txBody>
      </p:sp>
      <p:sp>
        <p:nvSpPr>
          <p:cNvPr id="16" name="Rectangle 15"/>
          <p:cNvSpPr/>
          <p:nvPr/>
        </p:nvSpPr>
        <p:spPr>
          <a:xfrm>
            <a:off x="548640" y="3154680"/>
            <a:ext cx="5349240" cy="118872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548640" y="3154680"/>
            <a:ext cx="50292" cy="1188720"/>
          </a:xfrm>
          <a:prstGeom prst="rect">
            <a:avLst/>
          </a:prstGeom>
          <a:solidFill>
            <a:srgbClr val="3B7E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77240" y="3300984"/>
            <a:ext cx="4892040" cy="274320"/>
          </a:xfrm>
          <a:prstGeom prst="rect">
            <a:avLst/>
          </a:prstGeom>
          <a:noFill/>
        </p:spPr>
        <p:txBody>
          <a:bodyPr wrap="square" lIns="0" tIns="0" rIns="0" bIns="0" anchor="t">
            <a:spAutoFit/>
          </a:bodyPr>
          <a:lstStyle/>
          <a:p>
            <a:pPr algn="l">
              <a:lnSpc>
                <a:spcPct val="110000"/>
              </a:lnSpc>
              <a:spcAft>
                <a:spcPts val="400"/>
              </a:spcAft>
            </a:pPr>
            <a:r>
              <a:rPr sz="1500" b="1" i="0" dirty="0">
                <a:solidFill>
                  <a:srgbClr val="003262"/>
                </a:solidFill>
                <a:latin typeface="Calibri"/>
              </a:rPr>
              <a:t>Fix the analysts that don't work</a:t>
            </a:r>
          </a:p>
        </p:txBody>
      </p:sp>
      <p:sp>
        <p:nvSpPr>
          <p:cNvPr id="19" name="TextBox 18"/>
          <p:cNvSpPr txBox="1"/>
          <p:nvPr/>
        </p:nvSpPr>
        <p:spPr>
          <a:xfrm>
            <a:off x="777240" y="3648456"/>
            <a:ext cx="4892040" cy="594360"/>
          </a:xfrm>
          <a:prstGeom prst="rect">
            <a:avLst/>
          </a:prstGeom>
          <a:noFill/>
        </p:spPr>
        <p:txBody>
          <a:bodyPr wrap="square" lIns="0" tIns="0" rIns="0" bIns="0" anchor="t">
            <a:spAutoFit/>
          </a:bodyPr>
          <a:lstStyle/>
          <a:p>
            <a:pPr algn="l">
              <a:lnSpc>
                <a:spcPct val="125000"/>
              </a:lnSpc>
              <a:spcAft>
                <a:spcPts val="400"/>
              </a:spcAft>
            </a:pPr>
            <a:r>
              <a:rPr sz="1200" b="0" i="0" dirty="0">
                <a:solidFill>
                  <a:srgbClr val="1A1A1A"/>
                </a:solidFill>
                <a:latin typeface="Calibri"/>
              </a:rPr>
              <a:t>Labor is worse than a coin flip in every version we tried — the input isn't the problem there, the measurement is. Same for </a:t>
            </a:r>
            <a:r>
              <a:rPr sz="1200" b="0" i="0" dirty="0" err="1">
                <a:solidFill>
                  <a:srgbClr val="1A1A1A"/>
                </a:solidFill>
                <a:latin typeface="Calibri"/>
              </a:rPr>
              <a:t>breakevens</a:t>
            </a:r>
            <a:r>
              <a:rPr sz="1200" b="0" i="0" dirty="0">
                <a:solidFill>
                  <a:srgbClr val="1A1A1A"/>
                </a:solidFill>
                <a:latin typeface="Calibri"/>
              </a:rPr>
              <a:t>.</a:t>
            </a:r>
          </a:p>
        </p:txBody>
      </p:sp>
      <p:sp>
        <p:nvSpPr>
          <p:cNvPr id="20" name="Rectangle 19"/>
          <p:cNvSpPr/>
          <p:nvPr/>
        </p:nvSpPr>
        <p:spPr>
          <a:xfrm>
            <a:off x="6291072" y="3154680"/>
            <a:ext cx="5349240" cy="118872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6291072" y="3154680"/>
            <a:ext cx="50292" cy="1188720"/>
          </a:xfrm>
          <a:prstGeom prst="rect">
            <a:avLst/>
          </a:prstGeom>
          <a:solidFill>
            <a:srgbClr val="C48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519672" y="3300984"/>
            <a:ext cx="4892040" cy="274320"/>
          </a:xfrm>
          <a:prstGeom prst="rect">
            <a:avLst/>
          </a:prstGeom>
          <a:noFill/>
        </p:spPr>
        <p:txBody>
          <a:bodyPr wrap="square" lIns="0" tIns="0" rIns="0" bIns="0" anchor="t">
            <a:spAutoFit/>
          </a:bodyPr>
          <a:lstStyle/>
          <a:p>
            <a:pPr algn="l">
              <a:lnSpc>
                <a:spcPct val="110000"/>
              </a:lnSpc>
              <a:spcAft>
                <a:spcPts val="400"/>
              </a:spcAft>
            </a:pPr>
            <a:r>
              <a:rPr sz="1500" b="1" i="0">
                <a:solidFill>
                  <a:srgbClr val="003262"/>
                </a:solidFill>
                <a:latin typeface="Calibri"/>
              </a:rPr>
              <a:t>Then, finally, a backtest</a:t>
            </a:r>
          </a:p>
        </p:txBody>
      </p:sp>
      <p:sp>
        <p:nvSpPr>
          <p:cNvPr id="23" name="TextBox 22"/>
          <p:cNvSpPr txBox="1"/>
          <p:nvPr/>
        </p:nvSpPr>
        <p:spPr>
          <a:xfrm>
            <a:off x="6519672" y="3648456"/>
            <a:ext cx="4892040" cy="594360"/>
          </a:xfrm>
          <a:prstGeom prst="rect">
            <a:avLst/>
          </a:prstGeom>
          <a:noFill/>
        </p:spPr>
        <p:txBody>
          <a:bodyPr wrap="square" lIns="0" tIns="0" rIns="0" bIns="0" anchor="t">
            <a:spAutoFit/>
          </a:bodyPr>
          <a:lstStyle/>
          <a:p>
            <a:pPr algn="l">
              <a:lnSpc>
                <a:spcPct val="125000"/>
              </a:lnSpc>
              <a:spcAft>
                <a:spcPts val="400"/>
              </a:spcAft>
            </a:pPr>
            <a:r>
              <a:rPr sz="1200" b="0" i="0">
                <a:solidFill>
                  <a:srgbClr val="1A1A1A"/>
                </a:solidFill>
                <a:latin typeface="Calibri"/>
              </a:rPr>
              <a:t>Once we trust the beliefs, run the book on real history and find out whether good research survives contact with a trade.</a:t>
            </a:r>
          </a:p>
        </p:txBody>
      </p:sp>
      <p:sp>
        <p:nvSpPr>
          <p:cNvPr id="26" name="TextBox 25"/>
          <p:cNvSpPr txBox="1"/>
          <p:nvPr/>
        </p:nvSpPr>
        <p:spPr>
          <a:xfrm>
            <a:off x="548640" y="5897880"/>
            <a:ext cx="11094415" cy="274320"/>
          </a:xfrm>
          <a:prstGeom prst="rect">
            <a:avLst/>
          </a:prstGeom>
          <a:noFill/>
        </p:spPr>
        <p:txBody>
          <a:bodyPr wrap="square" lIns="0" tIns="0" rIns="0" bIns="0" anchor="t">
            <a:spAutoFit/>
          </a:bodyPr>
          <a:lstStyle/>
          <a:p>
            <a:pPr algn="l">
              <a:lnSpc>
                <a:spcPct val="110000"/>
              </a:lnSpc>
              <a:spcAft>
                <a:spcPts val="400"/>
              </a:spcAft>
            </a:pPr>
            <a:r>
              <a:rPr sz="1150" b="0" i="0">
                <a:solidFill>
                  <a:srgbClr val="6E6E6E"/>
                </a:solidFill>
                <a:latin typeface="Calibri"/>
              </a:rPr>
              <a:t>Appendix follows: the contracts, the transmission map, and every number behind the last six slides.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10896"/>
            <a:ext cx="11094415" cy="219456"/>
          </a:xfrm>
          <a:prstGeom prst="rect">
            <a:avLst/>
          </a:prstGeom>
          <a:noFill/>
        </p:spPr>
        <p:txBody>
          <a:bodyPr wrap="square" lIns="0" tIns="0" rIns="0" bIns="0" anchor="t">
            <a:spAutoFit/>
          </a:bodyPr>
          <a:lstStyle/>
          <a:p>
            <a:pPr algn="l">
              <a:lnSpc>
                <a:spcPct val="110000"/>
              </a:lnSpc>
              <a:spcAft>
                <a:spcPts val="400"/>
              </a:spcAft>
            </a:pPr>
            <a:r>
              <a:rPr sz="1050" b="1" i="0">
                <a:solidFill>
                  <a:srgbClr val="FDB515"/>
                </a:solidFill>
                <a:latin typeface="Calibri"/>
              </a:rPr>
              <a:t>APPENDIX</a:t>
            </a:r>
          </a:p>
        </p:txBody>
      </p:sp>
      <p:sp>
        <p:nvSpPr>
          <p:cNvPr id="3" name="TextBox 2"/>
          <p:cNvSpPr txBox="1"/>
          <p:nvPr/>
        </p:nvSpPr>
        <p:spPr>
          <a:xfrm>
            <a:off x="548640" y="603504"/>
            <a:ext cx="11094415" cy="548640"/>
          </a:xfrm>
          <a:prstGeom prst="rect">
            <a:avLst/>
          </a:prstGeom>
          <a:noFill/>
        </p:spPr>
        <p:txBody>
          <a:bodyPr wrap="square" lIns="0" tIns="0" rIns="0" bIns="0" anchor="t">
            <a:spAutoFit/>
          </a:bodyPr>
          <a:lstStyle/>
          <a:p>
            <a:pPr algn="l">
              <a:lnSpc>
                <a:spcPct val="105000"/>
              </a:lnSpc>
              <a:spcAft>
                <a:spcPts val="400"/>
              </a:spcAft>
            </a:pPr>
            <a:r>
              <a:rPr sz="2700" b="1" i="0">
                <a:solidFill>
                  <a:srgbClr val="003262"/>
                </a:solidFill>
                <a:latin typeface="Calibri"/>
              </a:rPr>
              <a:t>The three contracts</a:t>
            </a:r>
          </a:p>
        </p:txBody>
      </p:sp>
      <p:sp>
        <p:nvSpPr>
          <p:cNvPr id="4" name="Rectangle 3"/>
          <p:cNvSpPr/>
          <p:nvPr/>
        </p:nvSpPr>
        <p:spPr>
          <a:xfrm>
            <a:off x="548640" y="1225296"/>
            <a:ext cx="1371600" cy="50292"/>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548640" y="6345936"/>
            <a:ext cx="11094415" cy="9525"/>
          </a:xfrm>
          <a:prstGeom prst="rect">
            <a:avLst/>
          </a:prstGeom>
          <a:solidFill>
            <a:srgbClr val="DDD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640" y="6419088"/>
            <a:ext cx="2194560" cy="329184"/>
          </a:xfrm>
          <a:prstGeom prst="rect">
            <a:avLst/>
          </a:prstGeom>
          <a:noFill/>
        </p:spPr>
        <p:txBody>
          <a:bodyPr wrap="square" lIns="0" tIns="0" rIns="0" bIns="0" anchor="ctr">
            <a:spAutoFit/>
          </a:bodyPr>
          <a:lstStyle/>
          <a:p>
            <a:pPr algn="l">
              <a:lnSpc>
                <a:spcPct val="110000"/>
              </a:lnSpc>
              <a:spcAft>
                <a:spcPts val="400"/>
              </a:spcAft>
            </a:pPr>
            <a:r>
              <a:rPr sz="1500" b="1" i="0">
                <a:solidFill>
                  <a:srgbClr val="003262"/>
                </a:solidFill>
                <a:latin typeface="Calibri"/>
              </a:rPr>
              <a:t>Berkeley</a:t>
            </a:r>
            <a:r>
              <a:rPr sz="1300" b="0" i="0">
                <a:solidFill>
                  <a:srgbClr val="FDB515"/>
                </a:solidFill>
                <a:latin typeface="Calibri"/>
              </a:rPr>
              <a:t>  |  </a:t>
            </a:r>
            <a:r>
              <a:rPr sz="1100" b="1" i="0">
                <a:solidFill>
                  <a:srgbClr val="3B7EA1"/>
                </a:solidFill>
                <a:latin typeface="Calibri"/>
              </a:rPr>
              <a:t>MFE</a:t>
            </a:r>
          </a:p>
        </p:txBody>
      </p:sp>
      <p:sp>
        <p:nvSpPr>
          <p:cNvPr id="7" name="TextBox 6"/>
          <p:cNvSpPr txBox="1"/>
          <p:nvPr/>
        </p:nvSpPr>
        <p:spPr>
          <a:xfrm>
            <a:off x="9814255" y="6419088"/>
            <a:ext cx="1828800" cy="329184"/>
          </a:xfrm>
          <a:prstGeom prst="rect">
            <a:avLst/>
          </a:prstGeom>
          <a:noFill/>
        </p:spPr>
        <p:txBody>
          <a:bodyPr wrap="square" lIns="0" tIns="0" rIns="0" bIns="0" anchor="ctr">
            <a:spAutoFit/>
          </a:bodyPr>
          <a:lstStyle/>
          <a:p>
            <a:pPr algn="r">
              <a:lnSpc>
                <a:spcPct val="110000"/>
              </a:lnSpc>
              <a:spcAft>
                <a:spcPts val="400"/>
              </a:spcAft>
            </a:pPr>
            <a:r>
              <a:rPr sz="1300" b="1" i="0">
                <a:solidFill>
                  <a:srgbClr val="1A1A1A"/>
                </a:solidFill>
                <a:latin typeface="Calibri"/>
              </a:rPr>
              <a:t>BLACKROCK</a:t>
            </a:r>
          </a:p>
        </p:txBody>
      </p:sp>
      <p:sp>
        <p:nvSpPr>
          <p:cNvPr id="8" name="TextBox 7"/>
          <p:cNvSpPr txBox="1"/>
          <p:nvPr/>
        </p:nvSpPr>
        <p:spPr>
          <a:xfrm>
            <a:off x="5730087" y="6446520"/>
            <a:ext cx="731520" cy="274320"/>
          </a:xfrm>
          <a:prstGeom prst="rect">
            <a:avLst/>
          </a:prstGeom>
          <a:noFill/>
        </p:spPr>
        <p:txBody>
          <a:bodyPr wrap="square" lIns="0" tIns="0" rIns="0" bIns="0" anchor="ctr">
            <a:spAutoFit/>
          </a:bodyPr>
          <a:lstStyle/>
          <a:p>
            <a:pPr algn="ctr">
              <a:lnSpc>
                <a:spcPct val="110000"/>
              </a:lnSpc>
              <a:spcAft>
                <a:spcPts val="400"/>
              </a:spcAft>
            </a:pPr>
            <a:r>
              <a:rPr sz="1000" b="0" i="0">
                <a:solidFill>
                  <a:srgbClr val="6E6E6E"/>
                </a:solidFill>
                <a:latin typeface="Calibri"/>
              </a:rPr>
              <a:t>14</a:t>
            </a:r>
          </a:p>
        </p:txBody>
      </p:sp>
      <p:sp>
        <p:nvSpPr>
          <p:cNvPr id="9" name="TextBox 8"/>
          <p:cNvSpPr txBox="1"/>
          <p:nvPr/>
        </p:nvSpPr>
        <p:spPr>
          <a:xfrm>
            <a:off x="548640" y="1417320"/>
            <a:ext cx="11094415" cy="274320"/>
          </a:xfrm>
          <a:prstGeom prst="rect">
            <a:avLst/>
          </a:prstGeom>
          <a:noFill/>
        </p:spPr>
        <p:txBody>
          <a:bodyPr wrap="square" lIns="0" tIns="0" rIns="0" bIns="0" anchor="t">
            <a:spAutoFit/>
          </a:bodyPr>
          <a:lstStyle/>
          <a:p>
            <a:pPr algn="l">
              <a:lnSpc>
                <a:spcPct val="110000"/>
              </a:lnSpc>
              <a:spcAft>
                <a:spcPts val="400"/>
              </a:spcAft>
            </a:pPr>
            <a:r>
              <a:rPr sz="1200" b="0" i="0">
                <a:solidFill>
                  <a:srgbClr val="6E6E6E"/>
                </a:solidFill>
                <a:latin typeface="Calibri"/>
              </a:rPr>
              <a:t>The layers talk only through these. Any layer's method can be swapped without touching the others.</a:t>
            </a:r>
          </a:p>
        </p:txBody>
      </p:sp>
      <p:sp>
        <p:nvSpPr>
          <p:cNvPr id="10" name="Rectangle 9"/>
          <p:cNvSpPr/>
          <p:nvPr/>
        </p:nvSpPr>
        <p:spPr>
          <a:xfrm>
            <a:off x="548640" y="1828800"/>
            <a:ext cx="3520440" cy="3840480"/>
          </a:xfrm>
          <a:prstGeom prst="rect">
            <a:avLst/>
          </a:prstGeom>
          <a:solidFill>
            <a:srgbClr val="FFFFFF"/>
          </a:solidFill>
          <a:ln w="12700">
            <a:solidFill>
              <a:srgbClr val="DDD5C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548640" y="1828800"/>
            <a:ext cx="3520440" cy="50292"/>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31520" y="2011680"/>
            <a:ext cx="3154680" cy="274320"/>
          </a:xfrm>
          <a:prstGeom prst="rect">
            <a:avLst/>
          </a:prstGeom>
          <a:noFill/>
        </p:spPr>
        <p:txBody>
          <a:bodyPr wrap="square" lIns="0" tIns="0" rIns="0" bIns="0" anchor="t">
            <a:spAutoFit/>
          </a:bodyPr>
          <a:lstStyle/>
          <a:p>
            <a:pPr algn="l">
              <a:lnSpc>
                <a:spcPct val="110000"/>
              </a:lnSpc>
              <a:spcAft>
                <a:spcPts val="400"/>
              </a:spcAft>
            </a:pPr>
            <a:r>
              <a:rPr sz="1600" b="1" i="0">
                <a:solidFill>
                  <a:srgbClr val="003262"/>
                </a:solidFill>
                <a:latin typeface="Consolas"/>
              </a:rPr>
              <a:t>DriverView</a:t>
            </a:r>
          </a:p>
        </p:txBody>
      </p:sp>
      <p:sp>
        <p:nvSpPr>
          <p:cNvPr id="13" name="TextBox 12"/>
          <p:cNvSpPr txBox="1"/>
          <p:nvPr/>
        </p:nvSpPr>
        <p:spPr>
          <a:xfrm>
            <a:off x="731520" y="2340864"/>
            <a:ext cx="3154680" cy="182880"/>
          </a:xfrm>
          <a:prstGeom prst="rect">
            <a:avLst/>
          </a:prstGeom>
          <a:noFill/>
        </p:spPr>
        <p:txBody>
          <a:bodyPr wrap="square" lIns="0" tIns="0" rIns="0" bIns="0" anchor="t">
            <a:spAutoFit/>
          </a:bodyPr>
          <a:lstStyle/>
          <a:p>
            <a:pPr algn="l">
              <a:lnSpc>
                <a:spcPct val="110000"/>
              </a:lnSpc>
              <a:spcAft>
                <a:spcPts val="400"/>
              </a:spcAft>
            </a:pPr>
            <a:r>
              <a:rPr sz="900" b="1" i="0">
                <a:solidFill>
                  <a:srgbClr val="FDB515"/>
                </a:solidFill>
                <a:latin typeface="Calibri"/>
              </a:rPr>
              <a:t>ANALYST → PM</a:t>
            </a:r>
          </a:p>
        </p:txBody>
      </p:sp>
      <p:sp>
        <p:nvSpPr>
          <p:cNvPr id="14" name="TextBox 13"/>
          <p:cNvSpPr txBox="1"/>
          <p:nvPr/>
        </p:nvSpPr>
        <p:spPr>
          <a:xfrm>
            <a:off x="731520" y="2651760"/>
            <a:ext cx="3154680" cy="384048"/>
          </a:xfrm>
          <a:prstGeom prst="rect">
            <a:avLst/>
          </a:prstGeom>
          <a:noFill/>
        </p:spPr>
        <p:txBody>
          <a:bodyPr wrap="square" lIns="0" tIns="0" rIns="0" bIns="0" anchor="t">
            <a:spAutoFit/>
          </a:bodyPr>
          <a:lstStyle/>
          <a:p>
            <a:pPr algn="l">
              <a:lnSpc>
                <a:spcPct val="115000"/>
              </a:lnSpc>
              <a:spcAft>
                <a:spcPts val="400"/>
              </a:spcAft>
            </a:pPr>
            <a:r>
              <a:rPr sz="1000" b="1" i="0">
                <a:solidFill>
                  <a:srgbClr val="1A1A1A"/>
                </a:solidFill>
                <a:latin typeface="Consolas"/>
              </a:rPr>
              <a:t>driver</a:t>
            </a:r>
            <a:r>
              <a:rPr sz="950" b="0" i="0">
                <a:solidFill>
                  <a:srgbClr val="6E6E6E"/>
                </a:solidFill>
                <a:latin typeface="Calibri"/>
              </a:rPr>
              <a:t>   the one force: inflation, term_premium …</a:t>
            </a:r>
          </a:p>
        </p:txBody>
      </p:sp>
      <p:sp>
        <p:nvSpPr>
          <p:cNvPr id="15" name="TextBox 14"/>
          <p:cNvSpPr txBox="1"/>
          <p:nvPr/>
        </p:nvSpPr>
        <p:spPr>
          <a:xfrm>
            <a:off x="731520" y="3054096"/>
            <a:ext cx="3154680" cy="384048"/>
          </a:xfrm>
          <a:prstGeom prst="rect">
            <a:avLst/>
          </a:prstGeom>
          <a:noFill/>
        </p:spPr>
        <p:txBody>
          <a:bodyPr wrap="square" lIns="0" tIns="0" rIns="0" bIns="0" anchor="t">
            <a:spAutoFit/>
          </a:bodyPr>
          <a:lstStyle/>
          <a:p>
            <a:pPr algn="l">
              <a:lnSpc>
                <a:spcPct val="115000"/>
              </a:lnSpc>
              <a:spcAft>
                <a:spcPts val="400"/>
              </a:spcAft>
            </a:pPr>
            <a:r>
              <a:rPr sz="1000" b="1" i="0">
                <a:solidFill>
                  <a:srgbClr val="1A1A1A"/>
                </a:solidFill>
                <a:latin typeface="Consolas"/>
              </a:rPr>
              <a:t>asof</a:t>
            </a:r>
            <a:r>
              <a:rPr sz="950" b="0" i="0">
                <a:solidFill>
                  <a:srgbClr val="6E6E6E"/>
                </a:solidFill>
                <a:latin typeface="Calibri"/>
              </a:rPr>
              <a:t>   the moment the view was formed</a:t>
            </a:r>
          </a:p>
        </p:txBody>
      </p:sp>
      <p:sp>
        <p:nvSpPr>
          <p:cNvPr id="16" name="TextBox 15"/>
          <p:cNvSpPr txBox="1"/>
          <p:nvPr/>
        </p:nvSpPr>
        <p:spPr>
          <a:xfrm>
            <a:off x="731520" y="3456432"/>
            <a:ext cx="3154680" cy="384048"/>
          </a:xfrm>
          <a:prstGeom prst="rect">
            <a:avLst/>
          </a:prstGeom>
          <a:noFill/>
        </p:spPr>
        <p:txBody>
          <a:bodyPr wrap="square" lIns="0" tIns="0" rIns="0" bIns="0" anchor="t">
            <a:spAutoFit/>
          </a:bodyPr>
          <a:lstStyle/>
          <a:p>
            <a:pPr algn="l">
              <a:lnSpc>
                <a:spcPct val="115000"/>
              </a:lnSpc>
              <a:spcAft>
                <a:spcPts val="400"/>
              </a:spcAft>
            </a:pPr>
            <a:r>
              <a:rPr sz="1000" b="1" i="0">
                <a:solidFill>
                  <a:srgbClr val="1A1A1A"/>
                </a:solidFill>
                <a:latin typeface="Consolas"/>
              </a:rPr>
              <a:t>direction</a:t>
            </a:r>
            <a:r>
              <a:rPr sz="950" b="0" i="0">
                <a:solidFill>
                  <a:srgbClr val="6E6E6E"/>
                </a:solidFill>
                <a:latin typeface="Calibri"/>
              </a:rPr>
              <a:t>   up / down / flat — about the DRIVER</a:t>
            </a:r>
          </a:p>
        </p:txBody>
      </p:sp>
      <p:sp>
        <p:nvSpPr>
          <p:cNvPr id="17" name="TextBox 16"/>
          <p:cNvSpPr txBox="1"/>
          <p:nvPr/>
        </p:nvSpPr>
        <p:spPr>
          <a:xfrm>
            <a:off x="731520" y="3858768"/>
            <a:ext cx="3154680" cy="384048"/>
          </a:xfrm>
          <a:prstGeom prst="rect">
            <a:avLst/>
          </a:prstGeom>
          <a:noFill/>
        </p:spPr>
        <p:txBody>
          <a:bodyPr wrap="square" lIns="0" tIns="0" rIns="0" bIns="0" anchor="t">
            <a:spAutoFit/>
          </a:bodyPr>
          <a:lstStyle/>
          <a:p>
            <a:pPr algn="l">
              <a:lnSpc>
                <a:spcPct val="115000"/>
              </a:lnSpc>
              <a:spcAft>
                <a:spcPts val="400"/>
              </a:spcAft>
            </a:pPr>
            <a:r>
              <a:rPr sz="1000" b="1" i="0">
                <a:solidFill>
                  <a:srgbClr val="1A1A1A"/>
                </a:solidFill>
                <a:latin typeface="Consolas"/>
              </a:rPr>
              <a:t>conviction</a:t>
            </a:r>
            <a:r>
              <a:rPr sz="950" b="0" i="0">
                <a:solidFill>
                  <a:srgbClr val="6E6E6E"/>
                </a:solidFill>
                <a:latin typeface="Calibri"/>
              </a:rPr>
              <a:t>   0.0 → 1.0</a:t>
            </a:r>
          </a:p>
        </p:txBody>
      </p:sp>
      <p:sp>
        <p:nvSpPr>
          <p:cNvPr id="18" name="TextBox 17"/>
          <p:cNvSpPr txBox="1"/>
          <p:nvPr/>
        </p:nvSpPr>
        <p:spPr>
          <a:xfrm>
            <a:off x="731520" y="4261104"/>
            <a:ext cx="3154680" cy="384048"/>
          </a:xfrm>
          <a:prstGeom prst="rect">
            <a:avLst/>
          </a:prstGeom>
          <a:noFill/>
        </p:spPr>
        <p:txBody>
          <a:bodyPr wrap="square" lIns="0" tIns="0" rIns="0" bIns="0" anchor="t">
            <a:spAutoFit/>
          </a:bodyPr>
          <a:lstStyle/>
          <a:p>
            <a:pPr algn="l">
              <a:lnSpc>
                <a:spcPct val="115000"/>
              </a:lnSpc>
              <a:spcAft>
                <a:spcPts val="400"/>
              </a:spcAft>
            </a:pPr>
            <a:r>
              <a:rPr sz="1000" b="1" i="0">
                <a:solidFill>
                  <a:srgbClr val="1A1A1A"/>
                </a:solidFill>
                <a:latin typeface="Consolas"/>
              </a:rPr>
              <a:t>horizon_days</a:t>
            </a:r>
            <a:r>
              <a:rPr sz="950" b="0" i="0">
                <a:solidFill>
                  <a:srgbClr val="6E6E6E"/>
                </a:solidFill>
                <a:latin typeface="Calibri"/>
              </a:rPr>
              <a:t>   how long it should hold</a:t>
            </a:r>
          </a:p>
        </p:txBody>
      </p:sp>
      <p:sp>
        <p:nvSpPr>
          <p:cNvPr id="19" name="TextBox 18"/>
          <p:cNvSpPr txBox="1"/>
          <p:nvPr/>
        </p:nvSpPr>
        <p:spPr>
          <a:xfrm>
            <a:off x="731520" y="4663440"/>
            <a:ext cx="3154680" cy="384048"/>
          </a:xfrm>
          <a:prstGeom prst="rect">
            <a:avLst/>
          </a:prstGeom>
          <a:noFill/>
        </p:spPr>
        <p:txBody>
          <a:bodyPr wrap="square" lIns="0" tIns="0" rIns="0" bIns="0" anchor="t">
            <a:spAutoFit/>
          </a:bodyPr>
          <a:lstStyle/>
          <a:p>
            <a:pPr algn="l">
              <a:lnSpc>
                <a:spcPct val="115000"/>
              </a:lnSpc>
              <a:spcAft>
                <a:spcPts val="400"/>
              </a:spcAft>
            </a:pPr>
            <a:r>
              <a:rPr sz="1000" b="1" i="0">
                <a:solidFill>
                  <a:srgbClr val="1A1A1A"/>
                </a:solidFill>
                <a:latin typeface="Consolas"/>
              </a:rPr>
              <a:t>level</a:t>
            </a:r>
            <a:r>
              <a:rPr sz="950" b="0" i="0">
                <a:solidFill>
                  <a:srgbClr val="6E6E6E"/>
                </a:solidFill>
                <a:latin typeface="Calibri"/>
              </a:rPr>
              <a:t>   current reading — makes it scoreable</a:t>
            </a:r>
          </a:p>
        </p:txBody>
      </p:sp>
      <p:sp>
        <p:nvSpPr>
          <p:cNvPr id="20" name="TextBox 19"/>
          <p:cNvSpPr txBox="1"/>
          <p:nvPr/>
        </p:nvSpPr>
        <p:spPr>
          <a:xfrm>
            <a:off x="731520" y="5065776"/>
            <a:ext cx="3154680" cy="384048"/>
          </a:xfrm>
          <a:prstGeom prst="rect">
            <a:avLst/>
          </a:prstGeom>
          <a:noFill/>
        </p:spPr>
        <p:txBody>
          <a:bodyPr wrap="square" lIns="0" tIns="0" rIns="0" bIns="0" anchor="t">
            <a:spAutoFit/>
          </a:bodyPr>
          <a:lstStyle/>
          <a:p>
            <a:pPr algn="l">
              <a:lnSpc>
                <a:spcPct val="115000"/>
              </a:lnSpc>
              <a:spcAft>
                <a:spcPts val="400"/>
              </a:spcAft>
            </a:pPr>
            <a:r>
              <a:rPr sz="1000" b="1" i="0">
                <a:solidFill>
                  <a:srgbClr val="1A1A1A"/>
                </a:solidFill>
                <a:latin typeface="Consolas"/>
              </a:rPr>
              <a:t>reasoning</a:t>
            </a:r>
            <a:r>
              <a:rPr sz="950" b="0" i="0">
                <a:solidFill>
                  <a:srgbClr val="6E6E6E"/>
                </a:solidFill>
                <a:latin typeface="Calibri"/>
              </a:rPr>
              <a:t>   why</a:t>
            </a:r>
          </a:p>
        </p:txBody>
      </p:sp>
      <p:sp>
        <p:nvSpPr>
          <p:cNvPr id="21" name="Rectangle 20"/>
          <p:cNvSpPr/>
          <p:nvPr/>
        </p:nvSpPr>
        <p:spPr>
          <a:xfrm>
            <a:off x="4334256" y="1828800"/>
            <a:ext cx="3520440" cy="3840480"/>
          </a:xfrm>
          <a:prstGeom prst="rect">
            <a:avLst/>
          </a:prstGeom>
          <a:solidFill>
            <a:srgbClr val="FFFFFF"/>
          </a:solidFill>
          <a:ln w="12700">
            <a:solidFill>
              <a:srgbClr val="DDD5C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4334256" y="1828800"/>
            <a:ext cx="3520440" cy="50292"/>
          </a:xfrm>
          <a:prstGeom prst="rect">
            <a:avLst/>
          </a:prstGeom>
          <a:solidFill>
            <a:srgbClr val="3B7E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4517136" y="2011680"/>
            <a:ext cx="3154680" cy="274320"/>
          </a:xfrm>
          <a:prstGeom prst="rect">
            <a:avLst/>
          </a:prstGeom>
          <a:noFill/>
        </p:spPr>
        <p:txBody>
          <a:bodyPr wrap="square" lIns="0" tIns="0" rIns="0" bIns="0" anchor="t">
            <a:spAutoFit/>
          </a:bodyPr>
          <a:lstStyle/>
          <a:p>
            <a:pPr algn="l">
              <a:lnSpc>
                <a:spcPct val="110000"/>
              </a:lnSpc>
              <a:spcAft>
                <a:spcPts val="400"/>
              </a:spcAft>
            </a:pPr>
            <a:r>
              <a:rPr sz="1600" b="1" i="0">
                <a:solidFill>
                  <a:srgbClr val="3B7EA1"/>
                </a:solidFill>
                <a:latin typeface="Consolas"/>
              </a:rPr>
              <a:t>StrategyTrade</a:t>
            </a:r>
          </a:p>
        </p:txBody>
      </p:sp>
      <p:sp>
        <p:nvSpPr>
          <p:cNvPr id="24" name="TextBox 23"/>
          <p:cNvSpPr txBox="1"/>
          <p:nvPr/>
        </p:nvSpPr>
        <p:spPr>
          <a:xfrm>
            <a:off x="4517136" y="2340864"/>
            <a:ext cx="3154680" cy="182880"/>
          </a:xfrm>
          <a:prstGeom prst="rect">
            <a:avLst/>
          </a:prstGeom>
          <a:noFill/>
        </p:spPr>
        <p:txBody>
          <a:bodyPr wrap="square" lIns="0" tIns="0" rIns="0" bIns="0" anchor="t">
            <a:spAutoFit/>
          </a:bodyPr>
          <a:lstStyle/>
          <a:p>
            <a:pPr algn="l">
              <a:lnSpc>
                <a:spcPct val="110000"/>
              </a:lnSpc>
              <a:spcAft>
                <a:spcPts val="400"/>
              </a:spcAft>
            </a:pPr>
            <a:r>
              <a:rPr sz="900" b="1" i="0">
                <a:solidFill>
                  <a:srgbClr val="3B7EA1"/>
                </a:solidFill>
                <a:latin typeface="Calibri"/>
              </a:rPr>
              <a:t>PM → FUND</a:t>
            </a:r>
          </a:p>
        </p:txBody>
      </p:sp>
      <p:sp>
        <p:nvSpPr>
          <p:cNvPr id="25" name="TextBox 24"/>
          <p:cNvSpPr txBox="1"/>
          <p:nvPr/>
        </p:nvSpPr>
        <p:spPr>
          <a:xfrm>
            <a:off x="4517136" y="2651760"/>
            <a:ext cx="3154680" cy="384048"/>
          </a:xfrm>
          <a:prstGeom prst="rect">
            <a:avLst/>
          </a:prstGeom>
          <a:noFill/>
        </p:spPr>
        <p:txBody>
          <a:bodyPr wrap="square" lIns="0" tIns="0" rIns="0" bIns="0" anchor="t">
            <a:spAutoFit/>
          </a:bodyPr>
          <a:lstStyle/>
          <a:p>
            <a:pPr algn="l">
              <a:lnSpc>
                <a:spcPct val="115000"/>
              </a:lnSpc>
              <a:spcAft>
                <a:spcPts val="400"/>
              </a:spcAft>
            </a:pPr>
            <a:r>
              <a:rPr sz="1000" b="1" i="0">
                <a:solidFill>
                  <a:srgbClr val="1A1A1A"/>
                </a:solidFill>
                <a:latin typeface="Consolas"/>
              </a:rPr>
              <a:t>strategy</a:t>
            </a:r>
            <a:r>
              <a:rPr sz="950" b="0" i="0">
                <a:solidFill>
                  <a:srgbClr val="6E6E6E"/>
                </a:solidFill>
                <a:latin typeface="Calibri"/>
              </a:rPr>
              <a:t>   e.g. macro_rates</a:t>
            </a:r>
          </a:p>
        </p:txBody>
      </p:sp>
      <p:sp>
        <p:nvSpPr>
          <p:cNvPr id="26" name="TextBox 25"/>
          <p:cNvSpPr txBox="1"/>
          <p:nvPr/>
        </p:nvSpPr>
        <p:spPr>
          <a:xfrm>
            <a:off x="4517136" y="3054096"/>
            <a:ext cx="3154680" cy="384048"/>
          </a:xfrm>
          <a:prstGeom prst="rect">
            <a:avLst/>
          </a:prstGeom>
          <a:noFill/>
        </p:spPr>
        <p:txBody>
          <a:bodyPr wrap="square" lIns="0" tIns="0" rIns="0" bIns="0" anchor="t">
            <a:spAutoFit/>
          </a:bodyPr>
          <a:lstStyle/>
          <a:p>
            <a:pPr algn="l">
              <a:lnSpc>
                <a:spcPct val="115000"/>
              </a:lnSpc>
              <a:spcAft>
                <a:spcPts val="400"/>
              </a:spcAft>
            </a:pPr>
            <a:r>
              <a:rPr sz="1000" b="1" i="0">
                <a:solidFill>
                  <a:srgbClr val="1A1A1A"/>
                </a:solidFill>
                <a:latin typeface="Consolas"/>
              </a:rPr>
              <a:t>legs</a:t>
            </a:r>
            <a:r>
              <a:rPr sz="950" b="0" i="0">
                <a:solidFill>
                  <a:srgbClr val="6E6E6E"/>
                </a:solidFill>
                <a:latin typeface="Calibri"/>
              </a:rPr>
              <a:t>   instrument → signed weight</a:t>
            </a:r>
          </a:p>
        </p:txBody>
      </p:sp>
      <p:sp>
        <p:nvSpPr>
          <p:cNvPr id="27" name="TextBox 26"/>
          <p:cNvSpPr txBox="1"/>
          <p:nvPr/>
        </p:nvSpPr>
        <p:spPr>
          <a:xfrm>
            <a:off x="4517136" y="3456432"/>
            <a:ext cx="3154680" cy="384048"/>
          </a:xfrm>
          <a:prstGeom prst="rect">
            <a:avLst/>
          </a:prstGeom>
          <a:noFill/>
        </p:spPr>
        <p:txBody>
          <a:bodyPr wrap="square" lIns="0" tIns="0" rIns="0" bIns="0" anchor="t">
            <a:spAutoFit/>
          </a:bodyPr>
          <a:lstStyle/>
          <a:p>
            <a:pPr algn="l">
              <a:lnSpc>
                <a:spcPct val="115000"/>
              </a:lnSpc>
              <a:spcAft>
                <a:spcPts val="400"/>
              </a:spcAft>
            </a:pPr>
            <a:r>
              <a:rPr sz="1000" b="1" i="0">
                <a:solidFill>
                  <a:srgbClr val="1A1A1A"/>
                </a:solidFill>
                <a:latin typeface="Consolas"/>
              </a:rPr>
              <a:t>conviction</a:t>
            </a:r>
            <a:r>
              <a:rPr sz="950" b="0" i="0">
                <a:solidFill>
                  <a:srgbClr val="6E6E6E"/>
                </a:solidFill>
                <a:latin typeface="Calibri"/>
              </a:rPr>
              <a:t>   the PM's confidence in the TRADE</a:t>
            </a:r>
          </a:p>
        </p:txBody>
      </p:sp>
      <p:sp>
        <p:nvSpPr>
          <p:cNvPr id="28" name="TextBox 27"/>
          <p:cNvSpPr txBox="1"/>
          <p:nvPr/>
        </p:nvSpPr>
        <p:spPr>
          <a:xfrm>
            <a:off x="4517136" y="3858768"/>
            <a:ext cx="3154680" cy="384048"/>
          </a:xfrm>
          <a:prstGeom prst="rect">
            <a:avLst/>
          </a:prstGeom>
          <a:noFill/>
        </p:spPr>
        <p:txBody>
          <a:bodyPr wrap="square" lIns="0" tIns="0" rIns="0" bIns="0" anchor="t">
            <a:spAutoFit/>
          </a:bodyPr>
          <a:lstStyle/>
          <a:p>
            <a:pPr algn="l">
              <a:lnSpc>
                <a:spcPct val="115000"/>
              </a:lnSpc>
              <a:spcAft>
                <a:spcPts val="400"/>
              </a:spcAft>
            </a:pPr>
            <a:r>
              <a:rPr sz="1000" b="1" i="0">
                <a:solidFill>
                  <a:srgbClr val="1A1A1A"/>
                </a:solidFill>
                <a:latin typeface="Consolas"/>
              </a:rPr>
              <a:t>rationale</a:t>
            </a:r>
            <a:r>
              <a:rPr sz="950" b="0" i="0">
                <a:solidFill>
                  <a:srgbClr val="6E6E6E"/>
                </a:solidFill>
                <a:latin typeface="Calibri"/>
              </a:rPr>
              <a:t>   the transmission that produced it</a:t>
            </a:r>
          </a:p>
        </p:txBody>
      </p:sp>
      <p:sp>
        <p:nvSpPr>
          <p:cNvPr id="29" name="TextBox 28"/>
          <p:cNvSpPr txBox="1"/>
          <p:nvPr/>
        </p:nvSpPr>
        <p:spPr>
          <a:xfrm>
            <a:off x="4517136" y="4261104"/>
            <a:ext cx="3154680" cy="384048"/>
          </a:xfrm>
          <a:prstGeom prst="rect">
            <a:avLst/>
          </a:prstGeom>
          <a:noFill/>
        </p:spPr>
        <p:txBody>
          <a:bodyPr wrap="square" lIns="0" tIns="0" rIns="0" bIns="0" anchor="t">
            <a:spAutoFit/>
          </a:bodyPr>
          <a:lstStyle/>
          <a:p>
            <a:pPr algn="l">
              <a:lnSpc>
                <a:spcPct val="115000"/>
              </a:lnSpc>
              <a:spcAft>
                <a:spcPts val="400"/>
              </a:spcAft>
            </a:pPr>
            <a:r>
              <a:rPr sz="1000" b="1" i="0">
                <a:solidFill>
                  <a:srgbClr val="1A1A1A"/>
                </a:solidFill>
                <a:latin typeface="Consolas"/>
              </a:rPr>
              <a:t>risk</a:t>
            </a:r>
            <a:r>
              <a:rPr sz="950" b="0" i="0">
                <a:solidFill>
                  <a:srgbClr val="6E6E6E"/>
                </a:solidFill>
                <a:latin typeface="Calibri"/>
              </a:rPr>
              <a:t>   what it isolates, what it hedges, net duration</a:t>
            </a:r>
          </a:p>
        </p:txBody>
      </p:sp>
      <p:sp>
        <p:nvSpPr>
          <p:cNvPr id="30" name="Rectangle 29"/>
          <p:cNvSpPr/>
          <p:nvPr/>
        </p:nvSpPr>
        <p:spPr>
          <a:xfrm>
            <a:off x="8119872" y="1828800"/>
            <a:ext cx="3520440" cy="3840480"/>
          </a:xfrm>
          <a:prstGeom prst="rect">
            <a:avLst/>
          </a:prstGeom>
          <a:solidFill>
            <a:srgbClr val="FFFFFF"/>
          </a:solidFill>
          <a:ln w="12700">
            <a:solidFill>
              <a:srgbClr val="DDD5C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ectangle 30"/>
          <p:cNvSpPr/>
          <p:nvPr/>
        </p:nvSpPr>
        <p:spPr>
          <a:xfrm>
            <a:off x="8119872" y="1828800"/>
            <a:ext cx="3520440" cy="50292"/>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8302752" y="2011680"/>
            <a:ext cx="3154680" cy="274320"/>
          </a:xfrm>
          <a:prstGeom prst="rect">
            <a:avLst/>
          </a:prstGeom>
          <a:noFill/>
        </p:spPr>
        <p:txBody>
          <a:bodyPr wrap="square" lIns="0" tIns="0" rIns="0" bIns="0" anchor="t">
            <a:spAutoFit/>
          </a:bodyPr>
          <a:lstStyle/>
          <a:p>
            <a:pPr algn="l">
              <a:lnSpc>
                <a:spcPct val="110000"/>
              </a:lnSpc>
              <a:spcAft>
                <a:spcPts val="400"/>
              </a:spcAft>
            </a:pPr>
            <a:r>
              <a:rPr sz="1600" b="1" i="0">
                <a:solidFill>
                  <a:srgbClr val="003262"/>
                </a:solidFill>
                <a:latin typeface="Consolas"/>
              </a:rPr>
              <a:t>FundAllocation</a:t>
            </a:r>
          </a:p>
        </p:txBody>
      </p:sp>
      <p:sp>
        <p:nvSpPr>
          <p:cNvPr id="33" name="TextBox 32"/>
          <p:cNvSpPr txBox="1"/>
          <p:nvPr/>
        </p:nvSpPr>
        <p:spPr>
          <a:xfrm>
            <a:off x="8302752" y="2340864"/>
            <a:ext cx="3154680" cy="182880"/>
          </a:xfrm>
          <a:prstGeom prst="rect">
            <a:avLst/>
          </a:prstGeom>
          <a:noFill/>
        </p:spPr>
        <p:txBody>
          <a:bodyPr wrap="square" lIns="0" tIns="0" rIns="0" bIns="0" anchor="t">
            <a:spAutoFit/>
          </a:bodyPr>
          <a:lstStyle/>
          <a:p>
            <a:pPr algn="l">
              <a:lnSpc>
                <a:spcPct val="110000"/>
              </a:lnSpc>
              <a:spcAft>
                <a:spcPts val="400"/>
              </a:spcAft>
            </a:pPr>
            <a:r>
              <a:rPr sz="900" b="1" i="0">
                <a:solidFill>
                  <a:srgbClr val="FDB515"/>
                </a:solidFill>
                <a:latin typeface="Calibri"/>
              </a:rPr>
              <a:t>FUND → PM</a:t>
            </a:r>
          </a:p>
        </p:txBody>
      </p:sp>
      <p:sp>
        <p:nvSpPr>
          <p:cNvPr id="34" name="TextBox 33"/>
          <p:cNvSpPr txBox="1"/>
          <p:nvPr/>
        </p:nvSpPr>
        <p:spPr>
          <a:xfrm>
            <a:off x="8302752" y="2651760"/>
            <a:ext cx="3154680" cy="384048"/>
          </a:xfrm>
          <a:prstGeom prst="rect">
            <a:avLst/>
          </a:prstGeom>
          <a:noFill/>
        </p:spPr>
        <p:txBody>
          <a:bodyPr wrap="square" lIns="0" tIns="0" rIns="0" bIns="0" anchor="t">
            <a:spAutoFit/>
          </a:bodyPr>
          <a:lstStyle/>
          <a:p>
            <a:pPr algn="l">
              <a:lnSpc>
                <a:spcPct val="115000"/>
              </a:lnSpc>
              <a:spcAft>
                <a:spcPts val="400"/>
              </a:spcAft>
            </a:pPr>
            <a:r>
              <a:rPr sz="1000" b="1" i="0">
                <a:solidFill>
                  <a:srgbClr val="1A1A1A"/>
                </a:solidFill>
                <a:latin typeface="Consolas"/>
              </a:rPr>
              <a:t>capital</a:t>
            </a:r>
            <a:r>
              <a:rPr sz="950" b="0" i="0">
                <a:solidFill>
                  <a:srgbClr val="6E6E6E"/>
                </a:solidFill>
                <a:latin typeface="Calibri"/>
              </a:rPr>
              <a:t>   strategy → multiplier (≥ 0)</a:t>
            </a:r>
          </a:p>
        </p:txBody>
      </p:sp>
      <p:sp>
        <p:nvSpPr>
          <p:cNvPr id="35" name="TextBox 34"/>
          <p:cNvSpPr txBox="1"/>
          <p:nvPr/>
        </p:nvSpPr>
        <p:spPr>
          <a:xfrm>
            <a:off x="8302752" y="3054096"/>
            <a:ext cx="3154680" cy="384048"/>
          </a:xfrm>
          <a:prstGeom prst="rect">
            <a:avLst/>
          </a:prstGeom>
          <a:noFill/>
        </p:spPr>
        <p:txBody>
          <a:bodyPr wrap="square" lIns="0" tIns="0" rIns="0" bIns="0" anchor="t">
            <a:spAutoFit/>
          </a:bodyPr>
          <a:lstStyle/>
          <a:p>
            <a:pPr algn="l">
              <a:lnSpc>
                <a:spcPct val="115000"/>
              </a:lnSpc>
              <a:spcAft>
                <a:spcPts val="400"/>
              </a:spcAft>
            </a:pPr>
            <a:r>
              <a:rPr sz="1000" b="1" i="0">
                <a:solidFill>
                  <a:srgbClr val="1A1A1A"/>
                </a:solidFill>
                <a:latin typeface="Consolas"/>
              </a:rPr>
              <a:t>constraints</a:t>
            </a:r>
            <a:r>
              <a:rPr sz="950" b="0" i="0">
                <a:solidFill>
                  <a:srgbClr val="6E6E6E"/>
                </a:solidFill>
                <a:latin typeface="Calibri"/>
              </a:rPr>
              <a:t>   strategy → limits</a:t>
            </a:r>
          </a:p>
        </p:txBody>
      </p:sp>
      <p:sp>
        <p:nvSpPr>
          <p:cNvPr id="36" name="TextBox 35"/>
          <p:cNvSpPr txBox="1"/>
          <p:nvPr/>
        </p:nvSpPr>
        <p:spPr>
          <a:xfrm>
            <a:off x="8302752" y="3456432"/>
            <a:ext cx="3154680" cy="384048"/>
          </a:xfrm>
          <a:prstGeom prst="rect">
            <a:avLst/>
          </a:prstGeom>
          <a:noFill/>
        </p:spPr>
        <p:txBody>
          <a:bodyPr wrap="square" lIns="0" tIns="0" rIns="0" bIns="0" anchor="t">
            <a:spAutoFit/>
          </a:bodyPr>
          <a:lstStyle/>
          <a:p>
            <a:pPr algn="l">
              <a:lnSpc>
                <a:spcPct val="115000"/>
              </a:lnSpc>
              <a:spcAft>
                <a:spcPts val="400"/>
              </a:spcAft>
            </a:pPr>
            <a:r>
              <a:rPr sz="1000" b="1" i="0">
                <a:solidFill>
                  <a:srgbClr val="1A1A1A"/>
                </a:solidFill>
                <a:latin typeface="Consolas"/>
              </a:rPr>
              <a:t>diagnostics</a:t>
            </a:r>
            <a:r>
              <a:rPr sz="950" b="0" i="0">
                <a:solidFill>
                  <a:srgbClr val="6E6E6E"/>
                </a:solidFill>
                <a:latin typeface="Calibri"/>
              </a:rPr>
              <a:t>   netting, vol, breadth</a:t>
            </a:r>
          </a:p>
        </p:txBody>
      </p:sp>
      <p:sp>
        <p:nvSpPr>
          <p:cNvPr id="37" name="TextBox 36"/>
          <p:cNvSpPr txBox="1"/>
          <p:nvPr/>
        </p:nvSpPr>
        <p:spPr>
          <a:xfrm>
            <a:off x="8302752" y="3858768"/>
            <a:ext cx="3154680" cy="384048"/>
          </a:xfrm>
          <a:prstGeom prst="rect">
            <a:avLst/>
          </a:prstGeom>
          <a:noFill/>
        </p:spPr>
        <p:txBody>
          <a:bodyPr wrap="square" lIns="0" tIns="0" rIns="0" bIns="0" anchor="t">
            <a:spAutoFit/>
          </a:bodyPr>
          <a:lstStyle/>
          <a:p>
            <a:pPr algn="l">
              <a:lnSpc>
                <a:spcPct val="115000"/>
              </a:lnSpc>
              <a:spcAft>
                <a:spcPts val="400"/>
              </a:spcAft>
            </a:pPr>
            <a:r>
              <a:rPr sz="1000" b="1" i="0">
                <a:solidFill>
                  <a:srgbClr val="1A1A1A"/>
                </a:solidFill>
                <a:latin typeface="Consolas"/>
              </a:rPr>
              <a:t>— no views —</a:t>
            </a:r>
            <a:r>
              <a:rPr sz="950" b="0" i="0">
                <a:solidFill>
                  <a:srgbClr val="6E6E6E"/>
                </a:solidFill>
                <a:latin typeface="Calibri"/>
              </a:rPr>
              <a:t>   a control layer, not a forecasting one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10896"/>
            <a:ext cx="11094415" cy="219456"/>
          </a:xfrm>
          <a:prstGeom prst="rect">
            <a:avLst/>
          </a:prstGeom>
          <a:noFill/>
        </p:spPr>
        <p:txBody>
          <a:bodyPr wrap="square" lIns="0" tIns="0" rIns="0" bIns="0" anchor="t">
            <a:spAutoFit/>
          </a:bodyPr>
          <a:lstStyle/>
          <a:p>
            <a:pPr algn="l">
              <a:lnSpc>
                <a:spcPct val="110000"/>
              </a:lnSpc>
              <a:spcAft>
                <a:spcPts val="400"/>
              </a:spcAft>
            </a:pPr>
            <a:r>
              <a:rPr sz="1050" b="1" i="0">
                <a:solidFill>
                  <a:srgbClr val="FDB515"/>
                </a:solidFill>
                <a:latin typeface="Calibri"/>
              </a:rPr>
              <a:t>APPENDIX</a:t>
            </a:r>
          </a:p>
        </p:txBody>
      </p:sp>
      <p:sp>
        <p:nvSpPr>
          <p:cNvPr id="3" name="TextBox 2"/>
          <p:cNvSpPr txBox="1"/>
          <p:nvPr/>
        </p:nvSpPr>
        <p:spPr>
          <a:xfrm>
            <a:off x="548640" y="603504"/>
            <a:ext cx="11094415" cy="548640"/>
          </a:xfrm>
          <a:prstGeom prst="rect">
            <a:avLst/>
          </a:prstGeom>
          <a:noFill/>
        </p:spPr>
        <p:txBody>
          <a:bodyPr wrap="square" lIns="0" tIns="0" rIns="0" bIns="0" anchor="t">
            <a:spAutoFit/>
          </a:bodyPr>
          <a:lstStyle/>
          <a:p>
            <a:pPr algn="l">
              <a:lnSpc>
                <a:spcPct val="105000"/>
              </a:lnSpc>
              <a:spcAft>
                <a:spcPts val="400"/>
              </a:spcAft>
            </a:pPr>
            <a:r>
              <a:rPr sz="2700" b="1" i="0">
                <a:solidFill>
                  <a:srgbClr val="003262"/>
                </a:solidFill>
                <a:latin typeface="Calibri"/>
              </a:rPr>
              <a:t>Inside an analyst, and inside the PM's map</a:t>
            </a:r>
          </a:p>
        </p:txBody>
      </p:sp>
      <p:sp>
        <p:nvSpPr>
          <p:cNvPr id="4" name="Rectangle 3"/>
          <p:cNvSpPr/>
          <p:nvPr/>
        </p:nvSpPr>
        <p:spPr>
          <a:xfrm>
            <a:off x="548640" y="1225296"/>
            <a:ext cx="1371600" cy="50292"/>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548640" y="6345936"/>
            <a:ext cx="11094415" cy="9525"/>
          </a:xfrm>
          <a:prstGeom prst="rect">
            <a:avLst/>
          </a:prstGeom>
          <a:solidFill>
            <a:srgbClr val="DDD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640" y="6419088"/>
            <a:ext cx="2194560" cy="329184"/>
          </a:xfrm>
          <a:prstGeom prst="rect">
            <a:avLst/>
          </a:prstGeom>
          <a:noFill/>
        </p:spPr>
        <p:txBody>
          <a:bodyPr wrap="square" lIns="0" tIns="0" rIns="0" bIns="0" anchor="ctr">
            <a:spAutoFit/>
          </a:bodyPr>
          <a:lstStyle/>
          <a:p>
            <a:pPr algn="l">
              <a:lnSpc>
                <a:spcPct val="110000"/>
              </a:lnSpc>
              <a:spcAft>
                <a:spcPts val="400"/>
              </a:spcAft>
            </a:pPr>
            <a:r>
              <a:rPr sz="1500" b="1" i="0">
                <a:solidFill>
                  <a:srgbClr val="003262"/>
                </a:solidFill>
                <a:latin typeface="Calibri"/>
              </a:rPr>
              <a:t>Berkeley</a:t>
            </a:r>
            <a:r>
              <a:rPr sz="1300" b="0" i="0">
                <a:solidFill>
                  <a:srgbClr val="FDB515"/>
                </a:solidFill>
                <a:latin typeface="Calibri"/>
              </a:rPr>
              <a:t>  |  </a:t>
            </a:r>
            <a:r>
              <a:rPr sz="1100" b="1" i="0">
                <a:solidFill>
                  <a:srgbClr val="3B7EA1"/>
                </a:solidFill>
                <a:latin typeface="Calibri"/>
              </a:rPr>
              <a:t>MFE</a:t>
            </a:r>
          </a:p>
        </p:txBody>
      </p:sp>
      <p:sp>
        <p:nvSpPr>
          <p:cNvPr id="7" name="TextBox 6"/>
          <p:cNvSpPr txBox="1"/>
          <p:nvPr/>
        </p:nvSpPr>
        <p:spPr>
          <a:xfrm>
            <a:off x="9814255" y="6419088"/>
            <a:ext cx="1828800" cy="329184"/>
          </a:xfrm>
          <a:prstGeom prst="rect">
            <a:avLst/>
          </a:prstGeom>
          <a:noFill/>
        </p:spPr>
        <p:txBody>
          <a:bodyPr wrap="square" lIns="0" tIns="0" rIns="0" bIns="0" anchor="ctr">
            <a:spAutoFit/>
          </a:bodyPr>
          <a:lstStyle/>
          <a:p>
            <a:pPr algn="r">
              <a:lnSpc>
                <a:spcPct val="110000"/>
              </a:lnSpc>
              <a:spcAft>
                <a:spcPts val="400"/>
              </a:spcAft>
            </a:pPr>
            <a:r>
              <a:rPr sz="1300" b="1" i="0">
                <a:solidFill>
                  <a:srgbClr val="1A1A1A"/>
                </a:solidFill>
                <a:latin typeface="Calibri"/>
              </a:rPr>
              <a:t>BLACKROCK</a:t>
            </a:r>
          </a:p>
        </p:txBody>
      </p:sp>
      <p:sp>
        <p:nvSpPr>
          <p:cNvPr id="8" name="TextBox 7"/>
          <p:cNvSpPr txBox="1"/>
          <p:nvPr/>
        </p:nvSpPr>
        <p:spPr>
          <a:xfrm>
            <a:off x="5730087" y="6446520"/>
            <a:ext cx="731520" cy="274320"/>
          </a:xfrm>
          <a:prstGeom prst="rect">
            <a:avLst/>
          </a:prstGeom>
          <a:noFill/>
        </p:spPr>
        <p:txBody>
          <a:bodyPr wrap="square" lIns="0" tIns="0" rIns="0" bIns="0" anchor="ctr">
            <a:spAutoFit/>
          </a:bodyPr>
          <a:lstStyle/>
          <a:p>
            <a:pPr algn="ctr">
              <a:lnSpc>
                <a:spcPct val="110000"/>
              </a:lnSpc>
              <a:spcAft>
                <a:spcPts val="400"/>
              </a:spcAft>
            </a:pPr>
            <a:r>
              <a:rPr sz="1000" b="0" i="0">
                <a:solidFill>
                  <a:srgbClr val="6E6E6E"/>
                </a:solidFill>
                <a:latin typeface="Calibri"/>
              </a:rPr>
              <a:t>15</a:t>
            </a:r>
          </a:p>
        </p:txBody>
      </p:sp>
      <p:sp>
        <p:nvSpPr>
          <p:cNvPr id="9" name="TextBox 8"/>
          <p:cNvSpPr txBox="1"/>
          <p:nvPr/>
        </p:nvSpPr>
        <p:spPr>
          <a:xfrm>
            <a:off x="548640" y="1417320"/>
            <a:ext cx="5394960" cy="228600"/>
          </a:xfrm>
          <a:prstGeom prst="rect">
            <a:avLst/>
          </a:prstGeom>
          <a:noFill/>
        </p:spPr>
        <p:txBody>
          <a:bodyPr wrap="square" lIns="0" tIns="0" rIns="0" bIns="0" anchor="t">
            <a:spAutoFit/>
          </a:bodyPr>
          <a:lstStyle/>
          <a:p>
            <a:pPr algn="l">
              <a:lnSpc>
                <a:spcPct val="110000"/>
              </a:lnSpc>
              <a:spcAft>
                <a:spcPts val="400"/>
              </a:spcAft>
            </a:pPr>
            <a:r>
              <a:rPr sz="950" b="1" i="0">
                <a:solidFill>
                  <a:srgbClr val="3B7EA1"/>
                </a:solidFill>
                <a:latin typeface="Calibri"/>
              </a:rPr>
              <a:t>THE INFLATION ANALYST, IN FULL</a:t>
            </a:r>
          </a:p>
        </p:txBody>
      </p:sp>
      <p:sp>
        <p:nvSpPr>
          <p:cNvPr id="10" name="TextBox 9"/>
          <p:cNvSpPr txBox="1"/>
          <p:nvPr/>
        </p:nvSpPr>
        <p:spPr>
          <a:xfrm>
            <a:off x="548640" y="1691640"/>
            <a:ext cx="5394960" cy="2377440"/>
          </a:xfrm>
          <a:prstGeom prst="rect">
            <a:avLst/>
          </a:prstGeom>
          <a:noFill/>
        </p:spPr>
        <p:txBody>
          <a:bodyPr wrap="square" lIns="0" tIns="0" rIns="0" bIns="0" anchor="t">
            <a:spAutoFit/>
          </a:bodyPr>
          <a:lstStyle/>
          <a:p>
            <a:pPr algn="l">
              <a:lnSpc>
                <a:spcPct val="120000"/>
              </a:lnSpc>
              <a:spcAft>
                <a:spcPts val="500"/>
              </a:spcAft>
            </a:pPr>
            <a:r>
              <a:rPr sz="1000" b="1" i="0">
                <a:solidFill>
                  <a:srgbClr val="1A1A1A"/>
                </a:solidFill>
                <a:latin typeface="Consolas"/>
              </a:rPr>
              <a:t>inputs = ("CPIAUCSL",)   ·   horizon_days = 63</a:t>
            </a:r>
          </a:p>
          <a:p>
            <a:pPr algn="l">
              <a:lnSpc>
                <a:spcPct val="120000"/>
              </a:lnSpc>
              <a:spcAft>
                <a:spcPts val="500"/>
              </a:spcAft>
            </a:pPr>
            <a:r>
              <a:rPr sz="950" b="1" i="0">
                <a:solidFill>
                  <a:srgbClr val="003262"/>
                </a:solidFill>
                <a:latin typeface="Consolas"/>
              </a:rPr>
              <a:t>Phase 1 — read(world) → DriverView   (deterministic, offline)</a:t>
            </a:r>
          </a:p>
          <a:p>
            <a:pPr algn="l">
              <a:lnSpc>
                <a:spcPct val="120000"/>
              </a:lnSpc>
              <a:spcAft>
                <a:spcPts val="500"/>
              </a:spcAft>
            </a:pPr>
            <a:r>
              <a:rPr sz="900" b="0" i="0">
                <a:solidFill>
                  <a:srgbClr val="1A1A1A"/>
                </a:solidFill>
                <a:latin typeface="Consolas"/>
              </a:rPr>
              <a:t>yoy = cpi.pct_change(12);  mom = yoy[-1] − yoy[-4]</a:t>
            </a:r>
          </a:p>
          <a:p>
            <a:pPr algn="l">
              <a:lnSpc>
                <a:spcPct val="120000"/>
              </a:lnSpc>
              <a:spcAft>
                <a:spcPts val="500"/>
              </a:spcAft>
            </a:pPr>
            <a:r>
              <a:rPr sz="950" b="0" i="0">
                <a:solidFill>
                  <a:srgbClr val="6E6E6E"/>
                </a:solidFill>
                <a:latin typeface="Calibri"/>
              </a:rPr>
              <a:t>direction: up / down / flat, deadband ε = 5bp</a:t>
            </a:r>
          </a:p>
          <a:p>
            <a:pPr algn="l">
              <a:lnSpc>
                <a:spcPct val="120000"/>
              </a:lnSpc>
              <a:spcAft>
                <a:spcPts val="500"/>
              </a:spcAft>
            </a:pPr>
            <a:r>
              <a:rPr sz="900" b="0" i="0">
                <a:solidFill>
                  <a:srgbClr val="1A1A1A"/>
                </a:solidFill>
                <a:latin typeface="Consolas"/>
              </a:rPr>
              <a:t>conviction = 0.6·|mom|/1%  +  0.4·|yoy−2%|/2%</a:t>
            </a:r>
          </a:p>
          <a:p>
            <a:pPr algn="l">
              <a:lnSpc>
                <a:spcPct val="120000"/>
              </a:lnSpc>
              <a:spcAft>
                <a:spcPts val="500"/>
              </a:spcAft>
            </a:pPr>
            <a:r>
              <a:rPr sz="950" b="1" i="0">
                <a:solidFill>
                  <a:srgbClr val="003262"/>
                </a:solidFill>
                <a:latin typeface="Consolas"/>
              </a:rPr>
              <a:t>Phase 2 — _refine(view) → DriverView   (optional LLM)</a:t>
            </a:r>
          </a:p>
          <a:p>
            <a:pPr algn="l">
              <a:lnSpc>
                <a:spcPct val="120000"/>
              </a:lnSpc>
              <a:spcAft>
                <a:spcPts val="500"/>
              </a:spcAft>
            </a:pPr>
            <a:r>
              <a:rPr sz="950" b="0" i="0">
                <a:solidFill>
                  <a:srgbClr val="6E6E6E"/>
                </a:solidFill>
                <a:latin typeface="Calibri"/>
              </a:rPr>
              <a:t>One call. System prompt = the persona YAML. User prompt = the reading, the FOMC statement, or both, per --input-mode. Returns JSON {direction, conviction, reasoning}. Any failure returns the Phase-1 view verbatim.</a:t>
            </a:r>
          </a:p>
          <a:p>
            <a:pPr algn="l">
              <a:lnSpc>
                <a:spcPct val="120000"/>
              </a:lnSpc>
              <a:spcAft>
                <a:spcPts val="500"/>
              </a:spcAft>
            </a:pPr>
            <a:r>
              <a:rPr sz="950" b="0" i="1">
                <a:solidFill>
                  <a:srgbClr val="6E6E6E"/>
                </a:solidFill>
                <a:latin typeface="Calibri"/>
              </a:rPr>
              <a:t>Isolation is structural: the base class hands the analyst an AsOf gate and no other route to data. The text channel is point-in-time by each document's own release_date, not through the gate.</a:t>
            </a:r>
          </a:p>
        </p:txBody>
      </p:sp>
      <p:sp>
        <p:nvSpPr>
          <p:cNvPr id="11" name="TextBox 10"/>
          <p:cNvSpPr txBox="1"/>
          <p:nvPr/>
        </p:nvSpPr>
        <p:spPr>
          <a:xfrm>
            <a:off x="6309360" y="1417320"/>
            <a:ext cx="5330952" cy="228600"/>
          </a:xfrm>
          <a:prstGeom prst="rect">
            <a:avLst/>
          </a:prstGeom>
          <a:noFill/>
        </p:spPr>
        <p:txBody>
          <a:bodyPr wrap="square" lIns="0" tIns="0" rIns="0" bIns="0" anchor="t">
            <a:spAutoFit/>
          </a:bodyPr>
          <a:lstStyle/>
          <a:p>
            <a:pPr algn="l">
              <a:lnSpc>
                <a:spcPct val="110000"/>
              </a:lnSpc>
              <a:spcAft>
                <a:spcPts val="400"/>
              </a:spcAft>
            </a:pPr>
            <a:r>
              <a:rPr sz="950" b="1" i="0">
                <a:solidFill>
                  <a:srgbClr val="3B7EA1"/>
                </a:solidFill>
                <a:latin typeface="Calibri"/>
              </a:rPr>
              <a:t>THE TRANSMISSION MAP  ·  personas/macro_rates_pm.yaml</a:t>
            </a:r>
          </a:p>
        </p:txBody>
      </p:sp>
      <p:graphicFrame>
        <p:nvGraphicFramePr>
          <p:cNvPr id="12" name="Table 11"/>
          <p:cNvGraphicFramePr>
            <a:graphicFrameLocks noGrp="1"/>
          </p:cNvGraphicFramePr>
          <p:nvPr/>
        </p:nvGraphicFramePr>
        <p:xfrm>
          <a:off x="6309360" y="1691640"/>
          <a:ext cx="5330950" cy="1408176"/>
        </p:xfrm>
        <a:graphic>
          <a:graphicData uri="http://schemas.openxmlformats.org/drawingml/2006/table">
            <a:tbl>
              <a:tblPr firstRow="1">
                <a:tableStyleId>{5C22544A-7EE6-4342-B048-85BDC9FD1C3A}</a:tableStyleId>
              </a:tblPr>
              <a:tblGrid>
                <a:gridCol w="2345618">
                  <a:extLst>
                    <a:ext uri="{9D8B030D-6E8A-4147-A177-3AD203B41FA5}">
                      <a16:colId xmlns:a16="http://schemas.microsoft.com/office/drawing/2014/main" val="20000"/>
                    </a:ext>
                  </a:extLst>
                </a:gridCol>
                <a:gridCol w="1492666">
                  <a:extLst>
                    <a:ext uri="{9D8B030D-6E8A-4147-A177-3AD203B41FA5}">
                      <a16:colId xmlns:a16="http://schemas.microsoft.com/office/drawing/2014/main" val="20001"/>
                    </a:ext>
                  </a:extLst>
                </a:gridCol>
                <a:gridCol w="1492666">
                  <a:extLst>
                    <a:ext uri="{9D8B030D-6E8A-4147-A177-3AD203B41FA5}">
                      <a16:colId xmlns:a16="http://schemas.microsoft.com/office/drawing/2014/main" val="20002"/>
                    </a:ext>
                  </a:extLst>
                </a:gridCol>
              </a:tblGrid>
              <a:tr h="274320">
                <a:tc>
                  <a:txBody>
                    <a:bodyPr/>
                    <a:lstStyle/>
                    <a:p>
                      <a:pPr algn="l"/>
                      <a:endParaRPr/>
                    </a:p>
                  </a:txBody>
                  <a:tcPr marL="64008" marR="64008" marT="18288" marB="18288" anchor="ctr">
                    <a:solidFill>
                      <a:srgbClr val="003262"/>
                    </a:solidFill>
                  </a:tcPr>
                </a:tc>
                <a:tc>
                  <a:txBody>
                    <a:bodyPr/>
                    <a:lstStyle/>
                    <a:p>
                      <a:pPr algn="ctr"/>
                      <a:r>
                        <a:rPr sz="1000" b="1">
                          <a:solidFill>
                            <a:srgbClr val="FFFFFF"/>
                          </a:solidFill>
                          <a:latin typeface="Calibri"/>
                        </a:rPr>
                        <a:t>front end (2y)</a:t>
                      </a:r>
                    </a:p>
                  </a:txBody>
                  <a:tcPr marL="64008" marR="64008" marT="18288" marB="18288" anchor="ctr">
                    <a:solidFill>
                      <a:srgbClr val="003262"/>
                    </a:solidFill>
                  </a:tcPr>
                </a:tc>
                <a:tc>
                  <a:txBody>
                    <a:bodyPr/>
                    <a:lstStyle/>
                    <a:p>
                      <a:pPr algn="ctr"/>
                      <a:r>
                        <a:rPr sz="1000" b="1">
                          <a:solidFill>
                            <a:srgbClr val="FFFFFF"/>
                          </a:solidFill>
                          <a:latin typeface="Calibri"/>
                        </a:rPr>
                        <a:t>long end (10y)</a:t>
                      </a:r>
                    </a:p>
                  </a:txBody>
                  <a:tcPr marL="64008" marR="64008" marT="18288" marB="18288" anchor="ctr">
                    <a:solidFill>
                      <a:srgbClr val="003262"/>
                    </a:solidFill>
                  </a:tcPr>
                </a:tc>
                <a:extLst>
                  <a:ext uri="{0D108BD9-81ED-4DB2-BD59-A6C34878D82A}">
                    <a16:rowId xmlns:a16="http://schemas.microsoft.com/office/drawing/2014/main" val="10000"/>
                  </a:ext>
                </a:extLst>
              </a:tr>
              <a:tr h="274320">
                <a:tc>
                  <a:txBody>
                    <a:bodyPr/>
                    <a:lstStyle/>
                    <a:p>
                      <a:pPr algn="l"/>
                      <a:r>
                        <a:rPr sz="1000" b="0">
                          <a:solidFill>
                            <a:srgbClr val="1A1A1A"/>
                          </a:solidFill>
                          <a:latin typeface="Consolas"/>
                        </a:rPr>
                        <a:t>inflation</a:t>
                      </a:r>
                    </a:p>
                  </a:txBody>
                  <a:tcPr marL="64008" marR="64008" marT="18288" marB="18288" anchor="ctr">
                    <a:solidFill>
                      <a:srgbClr val="FFFFFF"/>
                    </a:solidFill>
                  </a:tcPr>
                </a:tc>
                <a:tc>
                  <a:txBody>
                    <a:bodyPr/>
                    <a:lstStyle/>
                    <a:p>
                      <a:pPr algn="ctr"/>
                      <a:r>
                        <a:rPr sz="1000" b="0">
                          <a:solidFill>
                            <a:srgbClr val="1A1A1A"/>
                          </a:solidFill>
                          <a:latin typeface="Calibri"/>
                        </a:rPr>
                        <a:t>+0.50</a:t>
                      </a:r>
                    </a:p>
                  </a:txBody>
                  <a:tcPr marL="64008" marR="64008" marT="18288" marB="18288" anchor="ctr">
                    <a:solidFill>
                      <a:srgbClr val="FFFFFF"/>
                    </a:solidFill>
                  </a:tcPr>
                </a:tc>
                <a:tc>
                  <a:txBody>
                    <a:bodyPr/>
                    <a:lstStyle/>
                    <a:p>
                      <a:pPr algn="ctr"/>
                      <a:r>
                        <a:rPr sz="1000" b="0">
                          <a:solidFill>
                            <a:srgbClr val="1A1A1A"/>
                          </a:solidFill>
                          <a:latin typeface="Calibri"/>
                        </a:rPr>
                        <a:t>—</a:t>
                      </a:r>
                    </a:p>
                  </a:txBody>
                  <a:tcPr marL="64008" marR="64008" marT="18288" marB="18288" anchor="ctr">
                    <a:solidFill>
                      <a:srgbClr val="FFFFFF"/>
                    </a:solidFill>
                  </a:tcPr>
                </a:tc>
                <a:extLst>
                  <a:ext uri="{0D108BD9-81ED-4DB2-BD59-A6C34878D82A}">
                    <a16:rowId xmlns:a16="http://schemas.microsoft.com/office/drawing/2014/main" val="10001"/>
                  </a:ext>
                </a:extLst>
              </a:tr>
              <a:tr h="274320">
                <a:tc>
                  <a:txBody>
                    <a:bodyPr/>
                    <a:lstStyle/>
                    <a:p>
                      <a:pPr algn="l"/>
                      <a:r>
                        <a:rPr sz="1000" b="0">
                          <a:solidFill>
                            <a:srgbClr val="1A1A1A"/>
                          </a:solidFill>
                          <a:latin typeface="Consolas"/>
                        </a:rPr>
                        <a:t>labor_tightness</a:t>
                      </a:r>
                    </a:p>
                  </a:txBody>
                  <a:tcPr marL="64008" marR="64008" marT="18288" marB="18288" anchor="ctr">
                    <a:solidFill>
                      <a:srgbClr val="F3F5F8"/>
                    </a:solidFill>
                  </a:tcPr>
                </a:tc>
                <a:tc>
                  <a:txBody>
                    <a:bodyPr/>
                    <a:lstStyle/>
                    <a:p>
                      <a:pPr algn="ctr"/>
                      <a:r>
                        <a:rPr sz="1000" b="0">
                          <a:solidFill>
                            <a:srgbClr val="1A1A1A"/>
                          </a:solidFill>
                          <a:latin typeface="Calibri"/>
                        </a:rPr>
                        <a:t>+0.35</a:t>
                      </a:r>
                    </a:p>
                  </a:txBody>
                  <a:tcPr marL="64008" marR="64008" marT="18288" marB="18288" anchor="ctr">
                    <a:solidFill>
                      <a:srgbClr val="F3F5F8"/>
                    </a:solidFill>
                  </a:tcPr>
                </a:tc>
                <a:tc>
                  <a:txBody>
                    <a:bodyPr/>
                    <a:lstStyle/>
                    <a:p>
                      <a:pPr algn="ctr"/>
                      <a:r>
                        <a:rPr sz="1000" b="0">
                          <a:solidFill>
                            <a:srgbClr val="1A1A1A"/>
                          </a:solidFill>
                          <a:latin typeface="Calibri"/>
                        </a:rPr>
                        <a:t>—</a:t>
                      </a:r>
                    </a:p>
                  </a:txBody>
                  <a:tcPr marL="64008" marR="64008" marT="18288" marB="18288" anchor="ctr">
                    <a:solidFill>
                      <a:srgbClr val="F3F5F8"/>
                    </a:solidFill>
                  </a:tcPr>
                </a:tc>
                <a:extLst>
                  <a:ext uri="{0D108BD9-81ED-4DB2-BD59-A6C34878D82A}">
                    <a16:rowId xmlns:a16="http://schemas.microsoft.com/office/drawing/2014/main" val="10002"/>
                  </a:ext>
                </a:extLst>
              </a:tr>
              <a:tr h="274320">
                <a:tc>
                  <a:txBody>
                    <a:bodyPr/>
                    <a:lstStyle/>
                    <a:p>
                      <a:pPr algn="l"/>
                      <a:r>
                        <a:rPr sz="1000" b="0">
                          <a:solidFill>
                            <a:srgbClr val="1A1A1A"/>
                          </a:solidFill>
                          <a:latin typeface="Consolas"/>
                        </a:rPr>
                        <a:t>balance_sheet</a:t>
                      </a:r>
                    </a:p>
                  </a:txBody>
                  <a:tcPr marL="64008" marR="64008" marT="18288" marB="18288" anchor="ctr">
                    <a:solidFill>
                      <a:srgbClr val="FFFFFF"/>
                    </a:solidFill>
                  </a:tcPr>
                </a:tc>
                <a:tc>
                  <a:txBody>
                    <a:bodyPr/>
                    <a:lstStyle/>
                    <a:p>
                      <a:pPr algn="ctr"/>
                      <a:r>
                        <a:rPr sz="1000" b="0">
                          <a:solidFill>
                            <a:srgbClr val="1A1A1A"/>
                          </a:solidFill>
                          <a:latin typeface="Calibri"/>
                        </a:rPr>
                        <a:t>−0.15</a:t>
                      </a:r>
                    </a:p>
                  </a:txBody>
                  <a:tcPr marL="64008" marR="64008" marT="18288" marB="18288" anchor="ctr">
                    <a:solidFill>
                      <a:srgbClr val="FFFFFF"/>
                    </a:solidFill>
                  </a:tcPr>
                </a:tc>
                <a:tc>
                  <a:txBody>
                    <a:bodyPr/>
                    <a:lstStyle/>
                    <a:p>
                      <a:pPr algn="ctr"/>
                      <a:r>
                        <a:rPr sz="1000" b="0">
                          <a:solidFill>
                            <a:srgbClr val="1A1A1A"/>
                          </a:solidFill>
                          <a:latin typeface="Calibri"/>
                        </a:rPr>
                        <a:t>−0.40</a:t>
                      </a:r>
                    </a:p>
                  </a:txBody>
                  <a:tcPr marL="64008" marR="64008" marT="18288" marB="18288" anchor="ctr">
                    <a:solidFill>
                      <a:srgbClr val="FFFFFF"/>
                    </a:solidFill>
                  </a:tcPr>
                </a:tc>
                <a:extLst>
                  <a:ext uri="{0D108BD9-81ED-4DB2-BD59-A6C34878D82A}">
                    <a16:rowId xmlns:a16="http://schemas.microsoft.com/office/drawing/2014/main" val="10003"/>
                  </a:ext>
                </a:extLst>
              </a:tr>
              <a:tr h="274320">
                <a:tc>
                  <a:txBody>
                    <a:bodyPr/>
                    <a:lstStyle/>
                    <a:p>
                      <a:pPr algn="l"/>
                      <a:r>
                        <a:rPr sz="1000" b="0">
                          <a:solidFill>
                            <a:srgbClr val="1A1A1A"/>
                          </a:solidFill>
                          <a:latin typeface="Consolas"/>
                        </a:rPr>
                        <a:t>term_premium</a:t>
                      </a:r>
                    </a:p>
                  </a:txBody>
                  <a:tcPr marL="64008" marR="64008" marT="18288" marB="18288" anchor="ctr">
                    <a:solidFill>
                      <a:srgbClr val="F3F5F8"/>
                    </a:solidFill>
                  </a:tcPr>
                </a:tc>
                <a:tc>
                  <a:txBody>
                    <a:bodyPr/>
                    <a:lstStyle/>
                    <a:p>
                      <a:pPr algn="ctr"/>
                      <a:r>
                        <a:rPr sz="1000" b="0">
                          <a:solidFill>
                            <a:srgbClr val="1A1A1A"/>
                          </a:solidFill>
                          <a:latin typeface="Calibri"/>
                        </a:rPr>
                        <a:t>—</a:t>
                      </a:r>
                    </a:p>
                  </a:txBody>
                  <a:tcPr marL="64008" marR="64008" marT="18288" marB="18288" anchor="ctr">
                    <a:solidFill>
                      <a:srgbClr val="F3F5F8"/>
                    </a:solidFill>
                  </a:tcPr>
                </a:tc>
                <a:tc>
                  <a:txBody>
                    <a:bodyPr/>
                    <a:lstStyle/>
                    <a:p>
                      <a:pPr algn="ctr"/>
                      <a:r>
                        <a:rPr sz="1000" b="0">
                          <a:solidFill>
                            <a:srgbClr val="1A1A1A"/>
                          </a:solidFill>
                          <a:latin typeface="Calibri"/>
                        </a:rPr>
                        <a:t>+0.60</a:t>
                      </a:r>
                    </a:p>
                  </a:txBody>
                  <a:tcPr marL="64008" marR="64008" marT="18288" marB="18288" anchor="ctr">
                    <a:solidFill>
                      <a:srgbClr val="F3F5F8"/>
                    </a:solidFill>
                  </a:tcPr>
                </a:tc>
                <a:extLst>
                  <a:ext uri="{0D108BD9-81ED-4DB2-BD59-A6C34878D82A}">
                    <a16:rowId xmlns:a16="http://schemas.microsoft.com/office/drawing/2014/main" val="10004"/>
                  </a:ext>
                </a:extLst>
              </a:tr>
            </a:tbl>
          </a:graphicData>
        </a:graphic>
      </p:graphicFrame>
      <p:sp>
        <p:nvSpPr>
          <p:cNvPr id="13" name="TextBox 12"/>
          <p:cNvSpPr txBox="1"/>
          <p:nvPr/>
        </p:nvSpPr>
        <p:spPr>
          <a:xfrm>
            <a:off x="6309360" y="3200400"/>
            <a:ext cx="5330952" cy="1463040"/>
          </a:xfrm>
          <a:prstGeom prst="rect">
            <a:avLst/>
          </a:prstGeom>
          <a:noFill/>
        </p:spPr>
        <p:txBody>
          <a:bodyPr wrap="square" lIns="0" tIns="0" rIns="0" bIns="0" anchor="t">
            <a:spAutoFit/>
          </a:bodyPr>
          <a:lstStyle/>
          <a:p>
            <a:pPr algn="l">
              <a:lnSpc>
                <a:spcPct val="122000"/>
              </a:lnSpc>
              <a:spcAft>
                <a:spcPts val="600"/>
              </a:spcAft>
            </a:pPr>
            <a:r>
              <a:rPr sz="1050" b="1" i="0">
                <a:solidFill>
                  <a:srgbClr val="003262"/>
                </a:solidFill>
                <a:latin typeface="Consolas"/>
              </a:rPr>
              <a:t>slope_pressure = front − long</a:t>
            </a:r>
            <a:r>
              <a:rPr sz="1000" b="0" i="0">
                <a:solidFill>
                  <a:srgbClr val="6E6E6E"/>
                </a:solidFill>
                <a:latin typeface="Calibri"/>
              </a:rPr>
              <a:t>  &gt; 0 ⇒ flattener</a:t>
            </a:r>
          </a:p>
          <a:p>
            <a:pPr algn="l">
              <a:lnSpc>
                <a:spcPct val="122000"/>
              </a:lnSpc>
              <a:spcAft>
                <a:spcPts val="600"/>
              </a:spcAft>
            </a:pPr>
            <a:r>
              <a:rPr sz="1000" b="0" i="0">
                <a:solidFill>
                  <a:srgbClr val="1A1A1A"/>
                </a:solidFill>
                <a:latin typeface="Calibri"/>
              </a:rPr>
              <a:t>Legs, DV01-neutral:  +IEF (dur 7.5) · −SHY × (7.5/1.9) (dur 1.9), normalized to unit gross ⇒ net_duration ≈ 0.</a:t>
            </a:r>
          </a:p>
          <a:p>
            <a:pPr algn="l">
              <a:lnSpc>
                <a:spcPct val="122000"/>
              </a:lnSpc>
              <a:spcAft>
                <a:spcPts val="600"/>
              </a:spcAft>
            </a:pPr>
            <a:r>
              <a:rPr sz="950" b="0" i="0">
                <a:solidFill>
                  <a:srgbClr val="1A1A1A"/>
                </a:solidFill>
                <a:latin typeface="Consolas"/>
              </a:rPr>
              <a:t>conviction ×= (1 − 0.5 · disagreement)   — a split committee bets smaller.</a:t>
            </a:r>
          </a:p>
          <a:p>
            <a:pPr algn="l">
              <a:lnSpc>
                <a:spcPct val="122000"/>
              </a:lnSpc>
              <a:spcAft>
                <a:spcPts val="600"/>
              </a:spcAft>
            </a:pPr>
            <a:r>
              <a:rPr sz="950" b="0" i="1">
                <a:solidFill>
                  <a:srgbClr val="6E6E6E"/>
                </a:solidFill>
                <a:latin typeface="Calibri"/>
              </a:rPr>
              <a:t>Unit-tested: |net_duration| &lt; 0.15; hawkish ⇒ flattener, dovish ⇒ steepener; book gross ≤ leverage cap.</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10896"/>
            <a:ext cx="11094415" cy="219456"/>
          </a:xfrm>
          <a:prstGeom prst="rect">
            <a:avLst/>
          </a:prstGeom>
          <a:noFill/>
        </p:spPr>
        <p:txBody>
          <a:bodyPr wrap="square" lIns="0" tIns="0" rIns="0" bIns="0" anchor="t">
            <a:spAutoFit/>
          </a:bodyPr>
          <a:lstStyle/>
          <a:p>
            <a:pPr algn="l">
              <a:lnSpc>
                <a:spcPct val="110000"/>
              </a:lnSpc>
              <a:spcAft>
                <a:spcPts val="400"/>
              </a:spcAft>
            </a:pPr>
            <a:r>
              <a:rPr sz="1050" b="1" i="0">
                <a:solidFill>
                  <a:srgbClr val="FDB515"/>
                </a:solidFill>
                <a:latin typeface="Calibri"/>
              </a:rPr>
              <a:t>APPENDIX</a:t>
            </a:r>
          </a:p>
        </p:txBody>
      </p:sp>
      <p:sp>
        <p:nvSpPr>
          <p:cNvPr id="3" name="TextBox 2"/>
          <p:cNvSpPr txBox="1"/>
          <p:nvPr/>
        </p:nvSpPr>
        <p:spPr>
          <a:xfrm>
            <a:off x="548640" y="603504"/>
            <a:ext cx="11094415" cy="548640"/>
          </a:xfrm>
          <a:prstGeom prst="rect">
            <a:avLst/>
          </a:prstGeom>
          <a:noFill/>
        </p:spPr>
        <p:txBody>
          <a:bodyPr wrap="square" lIns="0" tIns="0" rIns="0" bIns="0" anchor="t">
            <a:spAutoFit/>
          </a:bodyPr>
          <a:lstStyle/>
          <a:p>
            <a:pPr algn="l">
              <a:lnSpc>
                <a:spcPct val="105000"/>
              </a:lnSpc>
              <a:spcAft>
                <a:spcPts val="400"/>
              </a:spcAft>
            </a:pPr>
            <a:r>
              <a:rPr sz="2700" b="1" i="0">
                <a:solidFill>
                  <a:srgbClr val="003262"/>
                </a:solidFill>
                <a:latin typeface="Calibri"/>
              </a:rPr>
              <a:t>Every number: accuracy and independence</a:t>
            </a:r>
          </a:p>
        </p:txBody>
      </p:sp>
      <p:sp>
        <p:nvSpPr>
          <p:cNvPr id="4" name="Rectangle 3"/>
          <p:cNvSpPr/>
          <p:nvPr/>
        </p:nvSpPr>
        <p:spPr>
          <a:xfrm>
            <a:off x="548640" y="1225296"/>
            <a:ext cx="1371600" cy="50292"/>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548640" y="6345936"/>
            <a:ext cx="11094415" cy="9525"/>
          </a:xfrm>
          <a:prstGeom prst="rect">
            <a:avLst/>
          </a:prstGeom>
          <a:solidFill>
            <a:srgbClr val="DDD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640" y="6419088"/>
            <a:ext cx="2194560" cy="329184"/>
          </a:xfrm>
          <a:prstGeom prst="rect">
            <a:avLst/>
          </a:prstGeom>
          <a:noFill/>
        </p:spPr>
        <p:txBody>
          <a:bodyPr wrap="square" lIns="0" tIns="0" rIns="0" bIns="0" anchor="ctr">
            <a:spAutoFit/>
          </a:bodyPr>
          <a:lstStyle/>
          <a:p>
            <a:pPr algn="l">
              <a:lnSpc>
                <a:spcPct val="110000"/>
              </a:lnSpc>
              <a:spcAft>
                <a:spcPts val="400"/>
              </a:spcAft>
            </a:pPr>
            <a:r>
              <a:rPr sz="1500" b="1" i="0">
                <a:solidFill>
                  <a:srgbClr val="003262"/>
                </a:solidFill>
                <a:latin typeface="Calibri"/>
              </a:rPr>
              <a:t>Berkeley</a:t>
            </a:r>
            <a:r>
              <a:rPr sz="1300" b="0" i="0">
                <a:solidFill>
                  <a:srgbClr val="FDB515"/>
                </a:solidFill>
                <a:latin typeface="Calibri"/>
              </a:rPr>
              <a:t>  |  </a:t>
            </a:r>
            <a:r>
              <a:rPr sz="1100" b="1" i="0">
                <a:solidFill>
                  <a:srgbClr val="3B7EA1"/>
                </a:solidFill>
                <a:latin typeface="Calibri"/>
              </a:rPr>
              <a:t>MFE</a:t>
            </a:r>
          </a:p>
        </p:txBody>
      </p:sp>
      <p:sp>
        <p:nvSpPr>
          <p:cNvPr id="7" name="TextBox 6"/>
          <p:cNvSpPr txBox="1"/>
          <p:nvPr/>
        </p:nvSpPr>
        <p:spPr>
          <a:xfrm>
            <a:off x="9814255" y="6419088"/>
            <a:ext cx="1828800" cy="329184"/>
          </a:xfrm>
          <a:prstGeom prst="rect">
            <a:avLst/>
          </a:prstGeom>
          <a:noFill/>
        </p:spPr>
        <p:txBody>
          <a:bodyPr wrap="square" lIns="0" tIns="0" rIns="0" bIns="0" anchor="ctr">
            <a:spAutoFit/>
          </a:bodyPr>
          <a:lstStyle/>
          <a:p>
            <a:pPr algn="r">
              <a:lnSpc>
                <a:spcPct val="110000"/>
              </a:lnSpc>
              <a:spcAft>
                <a:spcPts val="400"/>
              </a:spcAft>
            </a:pPr>
            <a:r>
              <a:rPr sz="1300" b="1" i="0">
                <a:solidFill>
                  <a:srgbClr val="1A1A1A"/>
                </a:solidFill>
                <a:latin typeface="Calibri"/>
              </a:rPr>
              <a:t>BLACKROCK</a:t>
            </a:r>
          </a:p>
        </p:txBody>
      </p:sp>
      <p:sp>
        <p:nvSpPr>
          <p:cNvPr id="8" name="TextBox 7"/>
          <p:cNvSpPr txBox="1"/>
          <p:nvPr/>
        </p:nvSpPr>
        <p:spPr>
          <a:xfrm>
            <a:off x="5730087" y="6446520"/>
            <a:ext cx="731520" cy="274320"/>
          </a:xfrm>
          <a:prstGeom prst="rect">
            <a:avLst/>
          </a:prstGeom>
          <a:noFill/>
        </p:spPr>
        <p:txBody>
          <a:bodyPr wrap="square" lIns="0" tIns="0" rIns="0" bIns="0" anchor="ctr">
            <a:spAutoFit/>
          </a:bodyPr>
          <a:lstStyle/>
          <a:p>
            <a:pPr algn="ctr">
              <a:lnSpc>
                <a:spcPct val="110000"/>
              </a:lnSpc>
              <a:spcAft>
                <a:spcPts val="400"/>
              </a:spcAft>
            </a:pPr>
            <a:r>
              <a:rPr sz="1000" b="0" i="0">
                <a:solidFill>
                  <a:srgbClr val="6E6E6E"/>
                </a:solidFill>
                <a:latin typeface="Calibri"/>
              </a:rPr>
              <a:t>16</a:t>
            </a:r>
          </a:p>
        </p:txBody>
      </p:sp>
      <p:sp>
        <p:nvSpPr>
          <p:cNvPr id="9" name="TextBox 8"/>
          <p:cNvSpPr txBox="1"/>
          <p:nvPr/>
        </p:nvSpPr>
        <p:spPr>
          <a:xfrm>
            <a:off x="548640" y="1371600"/>
            <a:ext cx="11094415" cy="228600"/>
          </a:xfrm>
          <a:prstGeom prst="rect">
            <a:avLst/>
          </a:prstGeom>
          <a:noFill/>
        </p:spPr>
        <p:txBody>
          <a:bodyPr wrap="square" lIns="0" tIns="0" rIns="0" bIns="0" anchor="t">
            <a:spAutoFit/>
          </a:bodyPr>
          <a:lstStyle/>
          <a:p>
            <a:pPr algn="l">
              <a:lnSpc>
                <a:spcPct val="110000"/>
              </a:lnSpc>
              <a:spcAft>
                <a:spcPts val="400"/>
              </a:spcAft>
            </a:pPr>
            <a:r>
              <a:rPr sz="950" b="1" i="0">
                <a:solidFill>
                  <a:srgbClr val="3B7EA1"/>
                </a:solidFill>
                <a:latin typeface="Calibri"/>
              </a:rPr>
              <a:t>EDGE OVER A COIN FLIP  (hit_rate − 0.5), 313 meetings, 63d horizon, FRED 2019–2024</a:t>
            </a:r>
          </a:p>
        </p:txBody>
      </p:sp>
      <p:graphicFrame>
        <p:nvGraphicFramePr>
          <p:cNvPr id="10" name="Table 9"/>
          <p:cNvGraphicFramePr>
            <a:graphicFrameLocks noGrp="1"/>
          </p:cNvGraphicFramePr>
          <p:nvPr/>
        </p:nvGraphicFramePr>
        <p:xfrm>
          <a:off x="548640" y="1645920"/>
          <a:ext cx="11094412" cy="1773936"/>
        </p:xfrm>
        <a:graphic>
          <a:graphicData uri="http://schemas.openxmlformats.org/drawingml/2006/table">
            <a:tbl>
              <a:tblPr firstRow="1">
                <a:tableStyleId>{5C22544A-7EE6-4342-B048-85BDC9FD1C3A}</a:tableStyleId>
              </a:tblPr>
              <a:tblGrid>
                <a:gridCol w="2440771">
                  <a:extLst>
                    <a:ext uri="{9D8B030D-6E8A-4147-A177-3AD203B41FA5}">
                      <a16:colId xmlns:a16="http://schemas.microsoft.com/office/drawing/2014/main" val="20000"/>
                    </a:ext>
                  </a:extLst>
                </a:gridCol>
                <a:gridCol w="887553">
                  <a:extLst>
                    <a:ext uri="{9D8B030D-6E8A-4147-A177-3AD203B41FA5}">
                      <a16:colId xmlns:a16="http://schemas.microsoft.com/office/drawing/2014/main" val="20001"/>
                    </a:ext>
                  </a:extLst>
                </a:gridCol>
                <a:gridCol w="2107938">
                  <a:extLst>
                    <a:ext uri="{9D8B030D-6E8A-4147-A177-3AD203B41FA5}">
                      <a16:colId xmlns:a16="http://schemas.microsoft.com/office/drawing/2014/main" val="20002"/>
                    </a:ext>
                  </a:extLst>
                </a:gridCol>
                <a:gridCol w="1886050">
                  <a:extLst>
                    <a:ext uri="{9D8B030D-6E8A-4147-A177-3AD203B41FA5}">
                      <a16:colId xmlns:a16="http://schemas.microsoft.com/office/drawing/2014/main" val="20003"/>
                    </a:ext>
                  </a:extLst>
                </a:gridCol>
                <a:gridCol w="1886050">
                  <a:extLst>
                    <a:ext uri="{9D8B030D-6E8A-4147-A177-3AD203B41FA5}">
                      <a16:colId xmlns:a16="http://schemas.microsoft.com/office/drawing/2014/main" val="20004"/>
                    </a:ext>
                  </a:extLst>
                </a:gridCol>
                <a:gridCol w="1886050">
                  <a:extLst>
                    <a:ext uri="{9D8B030D-6E8A-4147-A177-3AD203B41FA5}">
                      <a16:colId xmlns:a16="http://schemas.microsoft.com/office/drawing/2014/main" val="20005"/>
                    </a:ext>
                  </a:extLst>
                </a:gridCol>
              </a:tblGrid>
              <a:tr h="292608">
                <a:tc>
                  <a:txBody>
                    <a:bodyPr/>
                    <a:lstStyle/>
                    <a:p>
                      <a:pPr algn="l"/>
                      <a:r>
                        <a:rPr sz="1050" b="1">
                          <a:solidFill>
                            <a:srgbClr val="FFFFFF"/>
                          </a:solidFill>
                          <a:latin typeface="Calibri"/>
                        </a:rPr>
                        <a:t>Driver</a:t>
                      </a:r>
                    </a:p>
                  </a:txBody>
                  <a:tcPr marL="64008" marR="64008" marT="18288" marB="18288" anchor="ctr">
                    <a:solidFill>
                      <a:srgbClr val="003262"/>
                    </a:solidFill>
                  </a:tcPr>
                </a:tc>
                <a:tc>
                  <a:txBody>
                    <a:bodyPr/>
                    <a:lstStyle/>
                    <a:p>
                      <a:pPr algn="ctr"/>
                      <a:r>
                        <a:rPr sz="1050" b="1">
                          <a:solidFill>
                            <a:srgbClr val="FFFFFF"/>
                          </a:solidFill>
                          <a:latin typeface="Calibri"/>
                        </a:rPr>
                        <a:t>n</a:t>
                      </a:r>
                    </a:p>
                  </a:txBody>
                  <a:tcPr marL="64008" marR="64008" marT="18288" marB="18288" anchor="ctr">
                    <a:solidFill>
                      <a:srgbClr val="003262"/>
                    </a:solidFill>
                  </a:tcPr>
                </a:tc>
                <a:tc>
                  <a:txBody>
                    <a:bodyPr/>
                    <a:lstStyle/>
                    <a:p>
                      <a:pPr algn="ctr"/>
                      <a:r>
                        <a:rPr sz="1050" b="1">
                          <a:solidFill>
                            <a:srgbClr val="FFFFFF"/>
                          </a:solidFill>
                          <a:latin typeface="Calibri"/>
                        </a:rPr>
                        <a:t>deterministic</a:t>
                      </a:r>
                    </a:p>
                  </a:txBody>
                  <a:tcPr marL="64008" marR="64008" marT="18288" marB="18288" anchor="ctr">
                    <a:solidFill>
                      <a:srgbClr val="003262"/>
                    </a:solidFill>
                  </a:tcPr>
                </a:tc>
                <a:tc>
                  <a:txBody>
                    <a:bodyPr/>
                    <a:lstStyle/>
                    <a:p>
                      <a:pPr algn="ctr"/>
                      <a:r>
                        <a:rPr sz="1050" b="1">
                          <a:solidFill>
                            <a:srgbClr val="FFFFFF"/>
                          </a:solidFill>
                          <a:latin typeface="Calibri"/>
                        </a:rPr>
                        <a:t>vector</a:t>
                      </a:r>
                    </a:p>
                  </a:txBody>
                  <a:tcPr marL="64008" marR="64008" marT="18288" marB="18288" anchor="ctr">
                    <a:solidFill>
                      <a:srgbClr val="003262"/>
                    </a:solidFill>
                  </a:tcPr>
                </a:tc>
                <a:tc>
                  <a:txBody>
                    <a:bodyPr/>
                    <a:lstStyle/>
                    <a:p>
                      <a:pPr algn="ctr"/>
                      <a:r>
                        <a:rPr sz="1050" b="1">
                          <a:solidFill>
                            <a:srgbClr val="FFFFFF"/>
                          </a:solidFill>
                          <a:latin typeface="Calibri"/>
                        </a:rPr>
                        <a:t>text</a:t>
                      </a:r>
                    </a:p>
                  </a:txBody>
                  <a:tcPr marL="64008" marR="64008" marT="18288" marB="18288" anchor="ctr">
                    <a:solidFill>
                      <a:srgbClr val="003262"/>
                    </a:solidFill>
                  </a:tcPr>
                </a:tc>
                <a:tc>
                  <a:txBody>
                    <a:bodyPr/>
                    <a:lstStyle/>
                    <a:p>
                      <a:pPr algn="ctr"/>
                      <a:r>
                        <a:rPr sz="1050" b="1">
                          <a:solidFill>
                            <a:srgbClr val="FFFFFF"/>
                          </a:solidFill>
                          <a:latin typeface="Calibri"/>
                        </a:rPr>
                        <a:t>text + vector</a:t>
                      </a:r>
                    </a:p>
                  </a:txBody>
                  <a:tcPr marL="64008" marR="64008" marT="18288" marB="18288" anchor="ctr">
                    <a:solidFill>
                      <a:srgbClr val="003262"/>
                    </a:solidFill>
                  </a:tcPr>
                </a:tc>
                <a:extLst>
                  <a:ext uri="{0D108BD9-81ED-4DB2-BD59-A6C34878D82A}">
                    <a16:rowId xmlns:a16="http://schemas.microsoft.com/office/drawing/2014/main" val="10000"/>
                  </a:ext>
                </a:extLst>
              </a:tr>
              <a:tr h="292608">
                <a:tc>
                  <a:txBody>
                    <a:bodyPr/>
                    <a:lstStyle/>
                    <a:p>
                      <a:pPr algn="l"/>
                      <a:r>
                        <a:rPr sz="1050" b="0">
                          <a:solidFill>
                            <a:srgbClr val="1A1A1A"/>
                          </a:solidFill>
                          <a:latin typeface="Consolas"/>
                        </a:rPr>
                        <a:t>inflation</a:t>
                      </a:r>
                    </a:p>
                  </a:txBody>
                  <a:tcPr marL="64008" marR="64008" marT="18288" marB="18288" anchor="ctr">
                    <a:solidFill>
                      <a:srgbClr val="FFFFFF"/>
                    </a:solidFill>
                  </a:tcPr>
                </a:tc>
                <a:tc>
                  <a:txBody>
                    <a:bodyPr/>
                    <a:lstStyle/>
                    <a:p>
                      <a:pPr algn="ctr"/>
                      <a:r>
                        <a:rPr sz="1050" b="0">
                          <a:solidFill>
                            <a:srgbClr val="1A1A1A"/>
                          </a:solidFill>
                          <a:latin typeface="Calibri"/>
                        </a:rPr>
                        <a:t>304</a:t>
                      </a:r>
                    </a:p>
                  </a:txBody>
                  <a:tcPr marL="64008" marR="64008" marT="18288" marB="18288" anchor="ctr">
                    <a:solidFill>
                      <a:srgbClr val="FFFFFF"/>
                    </a:solidFill>
                  </a:tcPr>
                </a:tc>
                <a:tc>
                  <a:txBody>
                    <a:bodyPr/>
                    <a:lstStyle/>
                    <a:p>
                      <a:pPr algn="ctr"/>
                      <a:r>
                        <a:rPr sz="1050" b="0">
                          <a:solidFill>
                            <a:srgbClr val="1E6B3A"/>
                          </a:solidFill>
                          <a:latin typeface="Calibri"/>
                        </a:rPr>
                        <a:t>+0.062</a:t>
                      </a:r>
                    </a:p>
                  </a:txBody>
                  <a:tcPr marL="64008" marR="64008" marT="18288" marB="18288" anchor="ctr">
                    <a:solidFill>
                      <a:srgbClr val="FFFFFF"/>
                    </a:solidFill>
                  </a:tcPr>
                </a:tc>
                <a:tc>
                  <a:txBody>
                    <a:bodyPr/>
                    <a:lstStyle/>
                    <a:p>
                      <a:pPr algn="ctr"/>
                      <a:r>
                        <a:rPr sz="1050" b="0">
                          <a:solidFill>
                            <a:srgbClr val="1E6B3A"/>
                          </a:solidFill>
                          <a:latin typeface="Calibri"/>
                        </a:rPr>
                        <a:t>+0.033</a:t>
                      </a:r>
                    </a:p>
                  </a:txBody>
                  <a:tcPr marL="64008" marR="64008" marT="18288" marB="18288" anchor="ctr">
                    <a:solidFill>
                      <a:srgbClr val="FFFFFF"/>
                    </a:solidFill>
                  </a:tcPr>
                </a:tc>
                <a:tc>
                  <a:txBody>
                    <a:bodyPr/>
                    <a:lstStyle/>
                    <a:p>
                      <a:pPr algn="ctr"/>
                      <a:r>
                        <a:rPr sz="1050" b="0">
                          <a:solidFill>
                            <a:srgbClr val="1E6B3A"/>
                          </a:solidFill>
                          <a:latin typeface="Calibri"/>
                        </a:rPr>
                        <a:t>+0.016</a:t>
                      </a:r>
                    </a:p>
                  </a:txBody>
                  <a:tcPr marL="64008" marR="64008" marT="18288" marB="18288" anchor="ctr">
                    <a:solidFill>
                      <a:srgbClr val="FFFFFF"/>
                    </a:solidFill>
                  </a:tcPr>
                </a:tc>
                <a:tc>
                  <a:txBody>
                    <a:bodyPr/>
                    <a:lstStyle/>
                    <a:p>
                      <a:pPr algn="ctr"/>
                      <a:r>
                        <a:rPr sz="1050" b="0">
                          <a:solidFill>
                            <a:srgbClr val="1E6B3A"/>
                          </a:solidFill>
                          <a:latin typeface="Calibri"/>
                        </a:rPr>
                        <a:t>+0.069</a:t>
                      </a:r>
                    </a:p>
                  </a:txBody>
                  <a:tcPr marL="64008" marR="64008" marT="18288" marB="18288" anchor="ctr">
                    <a:solidFill>
                      <a:srgbClr val="FFFFFF"/>
                    </a:solidFill>
                  </a:tcPr>
                </a:tc>
                <a:extLst>
                  <a:ext uri="{0D108BD9-81ED-4DB2-BD59-A6C34878D82A}">
                    <a16:rowId xmlns:a16="http://schemas.microsoft.com/office/drawing/2014/main" val="10001"/>
                  </a:ext>
                </a:extLst>
              </a:tr>
              <a:tr h="292608">
                <a:tc>
                  <a:txBody>
                    <a:bodyPr/>
                    <a:lstStyle/>
                    <a:p>
                      <a:pPr algn="l"/>
                      <a:r>
                        <a:rPr sz="1050" b="0">
                          <a:solidFill>
                            <a:srgbClr val="1A1A1A"/>
                          </a:solidFill>
                          <a:latin typeface="Consolas"/>
                        </a:rPr>
                        <a:t>labor_tightness</a:t>
                      </a:r>
                    </a:p>
                  </a:txBody>
                  <a:tcPr marL="64008" marR="64008" marT="18288" marB="18288" anchor="ctr">
                    <a:solidFill>
                      <a:srgbClr val="F3F5F8"/>
                    </a:solidFill>
                  </a:tcPr>
                </a:tc>
                <a:tc>
                  <a:txBody>
                    <a:bodyPr/>
                    <a:lstStyle/>
                    <a:p>
                      <a:pPr algn="ctr"/>
                      <a:r>
                        <a:rPr sz="1050" b="0">
                          <a:solidFill>
                            <a:srgbClr val="1A1A1A"/>
                          </a:solidFill>
                          <a:latin typeface="Calibri"/>
                        </a:rPr>
                        <a:t>242</a:t>
                      </a:r>
                    </a:p>
                  </a:txBody>
                  <a:tcPr marL="64008" marR="64008" marT="18288" marB="18288" anchor="ctr">
                    <a:solidFill>
                      <a:srgbClr val="F3F5F8"/>
                    </a:solidFill>
                  </a:tcPr>
                </a:tc>
                <a:tc>
                  <a:txBody>
                    <a:bodyPr/>
                    <a:lstStyle/>
                    <a:p>
                      <a:pPr algn="ctr"/>
                      <a:r>
                        <a:rPr sz="1050" b="0">
                          <a:solidFill>
                            <a:srgbClr val="9B2226"/>
                          </a:solidFill>
                          <a:latin typeface="Calibri"/>
                        </a:rPr>
                        <a:t>−0.099</a:t>
                      </a:r>
                    </a:p>
                  </a:txBody>
                  <a:tcPr marL="64008" marR="64008" marT="18288" marB="18288" anchor="ctr">
                    <a:solidFill>
                      <a:srgbClr val="F3F5F8"/>
                    </a:solidFill>
                  </a:tcPr>
                </a:tc>
                <a:tc>
                  <a:txBody>
                    <a:bodyPr/>
                    <a:lstStyle/>
                    <a:p>
                      <a:pPr algn="ctr"/>
                      <a:r>
                        <a:rPr sz="1050" b="0">
                          <a:solidFill>
                            <a:srgbClr val="9B2226"/>
                          </a:solidFill>
                          <a:latin typeface="Calibri"/>
                        </a:rPr>
                        <a:t>−0.103</a:t>
                      </a:r>
                    </a:p>
                  </a:txBody>
                  <a:tcPr marL="64008" marR="64008" marT="18288" marB="18288" anchor="ctr">
                    <a:solidFill>
                      <a:srgbClr val="F3F5F8"/>
                    </a:solidFill>
                  </a:tcPr>
                </a:tc>
                <a:tc>
                  <a:txBody>
                    <a:bodyPr/>
                    <a:lstStyle/>
                    <a:p>
                      <a:pPr algn="ctr"/>
                      <a:r>
                        <a:rPr sz="1050" b="0">
                          <a:solidFill>
                            <a:srgbClr val="9B2226"/>
                          </a:solidFill>
                          <a:latin typeface="Calibri"/>
                        </a:rPr>
                        <a:t>−0.116</a:t>
                      </a:r>
                    </a:p>
                  </a:txBody>
                  <a:tcPr marL="64008" marR="64008" marT="18288" marB="18288" anchor="ctr">
                    <a:solidFill>
                      <a:srgbClr val="F3F5F8"/>
                    </a:solidFill>
                  </a:tcPr>
                </a:tc>
                <a:tc>
                  <a:txBody>
                    <a:bodyPr/>
                    <a:lstStyle/>
                    <a:p>
                      <a:pPr algn="ctr"/>
                      <a:r>
                        <a:rPr sz="1050" b="0">
                          <a:solidFill>
                            <a:srgbClr val="9B2226"/>
                          </a:solidFill>
                          <a:latin typeface="Calibri"/>
                        </a:rPr>
                        <a:t>−0.074</a:t>
                      </a:r>
                    </a:p>
                  </a:txBody>
                  <a:tcPr marL="64008" marR="64008" marT="18288" marB="18288" anchor="ctr">
                    <a:solidFill>
                      <a:srgbClr val="F3F5F8"/>
                    </a:solidFill>
                  </a:tcPr>
                </a:tc>
                <a:extLst>
                  <a:ext uri="{0D108BD9-81ED-4DB2-BD59-A6C34878D82A}">
                    <a16:rowId xmlns:a16="http://schemas.microsoft.com/office/drawing/2014/main" val="10002"/>
                  </a:ext>
                </a:extLst>
              </a:tr>
              <a:tr h="292608">
                <a:tc>
                  <a:txBody>
                    <a:bodyPr/>
                    <a:lstStyle/>
                    <a:p>
                      <a:pPr algn="l"/>
                      <a:r>
                        <a:rPr sz="1050" b="0">
                          <a:solidFill>
                            <a:srgbClr val="1A1A1A"/>
                          </a:solidFill>
                          <a:latin typeface="Consolas"/>
                        </a:rPr>
                        <a:t>balance_sheet</a:t>
                      </a:r>
                    </a:p>
                  </a:txBody>
                  <a:tcPr marL="64008" marR="64008" marT="18288" marB="18288" anchor="ctr">
                    <a:solidFill>
                      <a:srgbClr val="FFFFFF"/>
                    </a:solidFill>
                  </a:tcPr>
                </a:tc>
                <a:tc>
                  <a:txBody>
                    <a:bodyPr/>
                    <a:lstStyle/>
                    <a:p>
                      <a:pPr algn="ctr"/>
                      <a:r>
                        <a:rPr sz="1050" b="0">
                          <a:solidFill>
                            <a:srgbClr val="1A1A1A"/>
                          </a:solidFill>
                          <a:latin typeface="Calibri"/>
                        </a:rPr>
                        <a:t>304</a:t>
                      </a:r>
                    </a:p>
                  </a:txBody>
                  <a:tcPr marL="64008" marR="64008" marT="18288" marB="18288" anchor="ctr">
                    <a:solidFill>
                      <a:srgbClr val="FFFFFF"/>
                    </a:solidFill>
                  </a:tcPr>
                </a:tc>
                <a:tc>
                  <a:txBody>
                    <a:bodyPr/>
                    <a:lstStyle/>
                    <a:p>
                      <a:pPr algn="ctr"/>
                      <a:r>
                        <a:rPr sz="1050" b="0">
                          <a:solidFill>
                            <a:srgbClr val="1E6B3A"/>
                          </a:solidFill>
                          <a:latin typeface="Calibri"/>
                        </a:rPr>
                        <a:t>+0.312</a:t>
                      </a:r>
                    </a:p>
                  </a:txBody>
                  <a:tcPr marL="64008" marR="64008" marT="18288" marB="18288" anchor="ctr">
                    <a:solidFill>
                      <a:srgbClr val="FFFFFF"/>
                    </a:solidFill>
                  </a:tcPr>
                </a:tc>
                <a:tc>
                  <a:txBody>
                    <a:bodyPr/>
                    <a:lstStyle/>
                    <a:p>
                      <a:pPr algn="ctr"/>
                      <a:r>
                        <a:rPr sz="1050" b="0">
                          <a:solidFill>
                            <a:srgbClr val="1E6B3A"/>
                          </a:solidFill>
                          <a:latin typeface="Calibri"/>
                        </a:rPr>
                        <a:t>+0.336</a:t>
                      </a:r>
                    </a:p>
                  </a:txBody>
                  <a:tcPr marL="64008" marR="64008" marT="18288" marB="18288" anchor="ctr">
                    <a:solidFill>
                      <a:srgbClr val="FFFFFF"/>
                    </a:solidFill>
                  </a:tcPr>
                </a:tc>
                <a:tc>
                  <a:txBody>
                    <a:bodyPr/>
                    <a:lstStyle/>
                    <a:p>
                      <a:pPr algn="ctr"/>
                      <a:r>
                        <a:rPr sz="1050" b="0">
                          <a:solidFill>
                            <a:srgbClr val="1E6B3A"/>
                          </a:solidFill>
                          <a:latin typeface="Calibri"/>
                        </a:rPr>
                        <a:t>+0.385</a:t>
                      </a:r>
                    </a:p>
                  </a:txBody>
                  <a:tcPr marL="64008" marR="64008" marT="18288" marB="18288" anchor="ctr">
                    <a:solidFill>
                      <a:srgbClr val="FFFFFF"/>
                    </a:solidFill>
                  </a:tcPr>
                </a:tc>
                <a:tc>
                  <a:txBody>
                    <a:bodyPr/>
                    <a:lstStyle/>
                    <a:p>
                      <a:pPr algn="ctr"/>
                      <a:r>
                        <a:rPr sz="1050" b="0">
                          <a:solidFill>
                            <a:srgbClr val="1E6B3A"/>
                          </a:solidFill>
                          <a:latin typeface="Calibri"/>
                        </a:rPr>
                        <a:t>+0.349</a:t>
                      </a:r>
                    </a:p>
                  </a:txBody>
                  <a:tcPr marL="64008" marR="64008" marT="18288" marB="18288" anchor="ctr">
                    <a:solidFill>
                      <a:srgbClr val="FFFFFF"/>
                    </a:solidFill>
                  </a:tcPr>
                </a:tc>
                <a:extLst>
                  <a:ext uri="{0D108BD9-81ED-4DB2-BD59-A6C34878D82A}">
                    <a16:rowId xmlns:a16="http://schemas.microsoft.com/office/drawing/2014/main" val="10003"/>
                  </a:ext>
                </a:extLst>
              </a:tr>
              <a:tr h="292608">
                <a:tc>
                  <a:txBody>
                    <a:bodyPr/>
                    <a:lstStyle/>
                    <a:p>
                      <a:pPr algn="l"/>
                      <a:r>
                        <a:rPr sz="1050" b="0">
                          <a:solidFill>
                            <a:srgbClr val="1A1A1A"/>
                          </a:solidFill>
                          <a:latin typeface="Consolas"/>
                        </a:rPr>
                        <a:t>term_premium</a:t>
                      </a:r>
                    </a:p>
                  </a:txBody>
                  <a:tcPr marL="64008" marR="64008" marT="18288" marB="18288" anchor="ctr">
                    <a:solidFill>
                      <a:srgbClr val="F3F5F8"/>
                    </a:solidFill>
                  </a:tcPr>
                </a:tc>
                <a:tc>
                  <a:txBody>
                    <a:bodyPr/>
                    <a:lstStyle/>
                    <a:p>
                      <a:pPr algn="ctr"/>
                      <a:r>
                        <a:rPr sz="1050" b="0">
                          <a:solidFill>
                            <a:srgbClr val="1A1A1A"/>
                          </a:solidFill>
                          <a:latin typeface="Calibri"/>
                        </a:rPr>
                        <a:t>300</a:t>
                      </a:r>
                    </a:p>
                  </a:txBody>
                  <a:tcPr marL="64008" marR="64008" marT="18288" marB="18288" anchor="ctr">
                    <a:solidFill>
                      <a:srgbClr val="F3F5F8"/>
                    </a:solidFill>
                  </a:tcPr>
                </a:tc>
                <a:tc>
                  <a:txBody>
                    <a:bodyPr/>
                    <a:lstStyle/>
                    <a:p>
                      <a:pPr algn="ctr"/>
                      <a:r>
                        <a:rPr sz="1050" b="0">
                          <a:solidFill>
                            <a:srgbClr val="9B2226"/>
                          </a:solidFill>
                          <a:latin typeface="Calibri"/>
                        </a:rPr>
                        <a:t>−0.017</a:t>
                      </a:r>
                    </a:p>
                  </a:txBody>
                  <a:tcPr marL="64008" marR="64008" marT="18288" marB="18288" anchor="ctr">
                    <a:solidFill>
                      <a:srgbClr val="F3F5F8"/>
                    </a:solidFill>
                  </a:tcPr>
                </a:tc>
                <a:tc>
                  <a:txBody>
                    <a:bodyPr/>
                    <a:lstStyle/>
                    <a:p>
                      <a:pPr algn="ctr"/>
                      <a:r>
                        <a:rPr sz="1050" b="0">
                          <a:solidFill>
                            <a:srgbClr val="9B2226"/>
                          </a:solidFill>
                          <a:latin typeface="Calibri"/>
                        </a:rPr>
                        <a:t>−0.007</a:t>
                      </a:r>
                    </a:p>
                  </a:txBody>
                  <a:tcPr marL="64008" marR="64008" marT="18288" marB="18288" anchor="ctr">
                    <a:solidFill>
                      <a:srgbClr val="F3F5F8"/>
                    </a:solidFill>
                  </a:tcPr>
                </a:tc>
                <a:tc>
                  <a:txBody>
                    <a:bodyPr/>
                    <a:lstStyle/>
                    <a:p>
                      <a:pPr algn="ctr"/>
                      <a:r>
                        <a:rPr sz="1050" b="0">
                          <a:solidFill>
                            <a:srgbClr val="1E6B3A"/>
                          </a:solidFill>
                          <a:latin typeface="Calibri"/>
                        </a:rPr>
                        <a:t>+0.043</a:t>
                      </a:r>
                    </a:p>
                  </a:txBody>
                  <a:tcPr marL="64008" marR="64008" marT="18288" marB="18288" anchor="ctr">
                    <a:solidFill>
                      <a:srgbClr val="F3F5F8"/>
                    </a:solidFill>
                  </a:tcPr>
                </a:tc>
                <a:tc>
                  <a:txBody>
                    <a:bodyPr/>
                    <a:lstStyle/>
                    <a:p>
                      <a:pPr algn="ctr"/>
                      <a:r>
                        <a:rPr sz="1050" b="0">
                          <a:solidFill>
                            <a:srgbClr val="6E6E6E"/>
                          </a:solidFill>
                          <a:latin typeface="Calibri"/>
                        </a:rPr>
                        <a:t>+0.000</a:t>
                      </a:r>
                    </a:p>
                  </a:txBody>
                  <a:tcPr marL="64008" marR="64008" marT="18288" marB="18288" anchor="ctr">
                    <a:solidFill>
                      <a:srgbClr val="F3F5F8"/>
                    </a:solidFill>
                  </a:tcPr>
                </a:tc>
                <a:extLst>
                  <a:ext uri="{0D108BD9-81ED-4DB2-BD59-A6C34878D82A}">
                    <a16:rowId xmlns:a16="http://schemas.microsoft.com/office/drawing/2014/main" val="10004"/>
                  </a:ext>
                </a:extLst>
              </a:tr>
              <a:tr h="292608">
                <a:tc>
                  <a:txBody>
                    <a:bodyPr/>
                    <a:lstStyle/>
                    <a:p>
                      <a:pPr algn="l"/>
                      <a:r>
                        <a:rPr sz="1050" b="0">
                          <a:solidFill>
                            <a:srgbClr val="1A1A1A"/>
                          </a:solidFill>
                          <a:latin typeface="Consolas"/>
                        </a:rPr>
                        <a:t>average edge</a:t>
                      </a:r>
                    </a:p>
                  </a:txBody>
                  <a:tcPr marL="64008" marR="64008" marT="18288" marB="18288" anchor="ctr">
                    <a:solidFill>
                      <a:srgbClr val="FFFFFF"/>
                    </a:solidFill>
                  </a:tcPr>
                </a:tc>
                <a:tc>
                  <a:txBody>
                    <a:bodyPr/>
                    <a:lstStyle/>
                    <a:p>
                      <a:pPr algn="ctr"/>
                      <a:endParaRPr/>
                    </a:p>
                  </a:txBody>
                  <a:tcPr marL="64008" marR="64008" marT="18288" marB="18288" anchor="ctr">
                    <a:solidFill>
                      <a:srgbClr val="FFFFFF"/>
                    </a:solidFill>
                  </a:tcPr>
                </a:tc>
                <a:tc>
                  <a:txBody>
                    <a:bodyPr/>
                    <a:lstStyle/>
                    <a:p>
                      <a:pPr algn="ctr"/>
                      <a:r>
                        <a:rPr sz="1050" b="0">
                          <a:solidFill>
                            <a:srgbClr val="1E6B3A"/>
                          </a:solidFill>
                          <a:latin typeface="Calibri"/>
                        </a:rPr>
                        <a:t>+0.0645</a:t>
                      </a:r>
                    </a:p>
                  </a:txBody>
                  <a:tcPr marL="64008" marR="64008" marT="18288" marB="18288" anchor="ctr">
                    <a:solidFill>
                      <a:srgbClr val="FFFFFF"/>
                    </a:solidFill>
                  </a:tcPr>
                </a:tc>
                <a:tc>
                  <a:txBody>
                    <a:bodyPr/>
                    <a:lstStyle/>
                    <a:p>
                      <a:pPr algn="ctr"/>
                      <a:r>
                        <a:rPr sz="1050" b="0">
                          <a:solidFill>
                            <a:srgbClr val="1E6B3A"/>
                          </a:solidFill>
                          <a:latin typeface="Calibri"/>
                        </a:rPr>
                        <a:t>+0.0648</a:t>
                      </a:r>
                    </a:p>
                  </a:txBody>
                  <a:tcPr marL="64008" marR="64008" marT="18288" marB="18288" anchor="ctr">
                    <a:solidFill>
                      <a:srgbClr val="FFFFFF"/>
                    </a:solidFill>
                  </a:tcPr>
                </a:tc>
                <a:tc>
                  <a:txBody>
                    <a:bodyPr/>
                    <a:lstStyle/>
                    <a:p>
                      <a:pPr algn="ctr"/>
                      <a:r>
                        <a:rPr sz="1050" b="0">
                          <a:solidFill>
                            <a:srgbClr val="1E6B3A"/>
                          </a:solidFill>
                          <a:latin typeface="Calibri"/>
                        </a:rPr>
                        <a:t>+0.0820</a:t>
                      </a:r>
                    </a:p>
                  </a:txBody>
                  <a:tcPr marL="64008" marR="64008" marT="18288" marB="18288" anchor="ctr">
                    <a:solidFill>
                      <a:srgbClr val="FFFFFF"/>
                    </a:solidFill>
                  </a:tcPr>
                </a:tc>
                <a:tc>
                  <a:txBody>
                    <a:bodyPr/>
                    <a:lstStyle/>
                    <a:p>
                      <a:pPr algn="ctr"/>
                      <a:r>
                        <a:rPr sz="1050" b="0">
                          <a:solidFill>
                            <a:srgbClr val="1E6B3A"/>
                          </a:solidFill>
                          <a:latin typeface="Calibri"/>
                        </a:rPr>
                        <a:t>+0.0860</a:t>
                      </a:r>
                    </a:p>
                  </a:txBody>
                  <a:tcPr marL="64008" marR="64008" marT="18288" marB="18288" anchor="ctr">
                    <a:solidFill>
                      <a:srgbClr val="FFFFFF"/>
                    </a:solidFill>
                  </a:tcPr>
                </a:tc>
                <a:extLst>
                  <a:ext uri="{0D108BD9-81ED-4DB2-BD59-A6C34878D82A}">
                    <a16:rowId xmlns:a16="http://schemas.microsoft.com/office/drawing/2014/main" val="10005"/>
                  </a:ext>
                </a:extLst>
              </a:tr>
            </a:tbl>
          </a:graphicData>
        </a:graphic>
      </p:graphicFrame>
      <p:sp>
        <p:nvSpPr>
          <p:cNvPr id="11" name="TextBox 10"/>
          <p:cNvSpPr txBox="1"/>
          <p:nvPr/>
        </p:nvSpPr>
        <p:spPr>
          <a:xfrm>
            <a:off x="548640" y="3520440"/>
            <a:ext cx="11094415" cy="228600"/>
          </a:xfrm>
          <a:prstGeom prst="rect">
            <a:avLst/>
          </a:prstGeom>
          <a:noFill/>
        </p:spPr>
        <p:txBody>
          <a:bodyPr wrap="square" lIns="0" tIns="0" rIns="0" bIns="0" anchor="t">
            <a:spAutoFit/>
          </a:bodyPr>
          <a:lstStyle/>
          <a:p>
            <a:pPr algn="l">
              <a:lnSpc>
                <a:spcPct val="110000"/>
              </a:lnSpc>
              <a:spcAft>
                <a:spcPts val="400"/>
              </a:spcAft>
            </a:pPr>
            <a:r>
              <a:rPr sz="950" b="1" i="0">
                <a:solidFill>
                  <a:srgbClr val="3B7EA1"/>
                </a:solidFill>
                <a:latin typeface="Calibri"/>
              </a:rPr>
              <a:t>own_corr — DOES EACH ANALYST'S VIEW STILL TRACK ITS OWN DRIVER?</a:t>
            </a:r>
          </a:p>
        </p:txBody>
      </p:sp>
      <p:graphicFrame>
        <p:nvGraphicFramePr>
          <p:cNvPr id="12" name="Table 11"/>
          <p:cNvGraphicFramePr>
            <a:graphicFrameLocks noGrp="1"/>
          </p:cNvGraphicFramePr>
          <p:nvPr/>
        </p:nvGraphicFramePr>
        <p:xfrm>
          <a:off x="548640" y="3794760"/>
          <a:ext cx="11094412" cy="1755648"/>
        </p:xfrm>
        <a:graphic>
          <a:graphicData uri="http://schemas.openxmlformats.org/drawingml/2006/table">
            <a:tbl>
              <a:tblPr firstRow="1">
                <a:tableStyleId>{5C22544A-7EE6-4342-B048-85BDC9FD1C3A}</a:tableStyleId>
              </a:tblPr>
              <a:tblGrid>
                <a:gridCol w="3550212">
                  <a:extLst>
                    <a:ext uri="{9D8B030D-6E8A-4147-A177-3AD203B41FA5}">
                      <a16:colId xmlns:a16="http://schemas.microsoft.com/office/drawing/2014/main" val="20000"/>
                    </a:ext>
                  </a:extLst>
                </a:gridCol>
                <a:gridCol w="1886050">
                  <a:extLst>
                    <a:ext uri="{9D8B030D-6E8A-4147-A177-3AD203B41FA5}">
                      <a16:colId xmlns:a16="http://schemas.microsoft.com/office/drawing/2014/main" val="20001"/>
                    </a:ext>
                  </a:extLst>
                </a:gridCol>
                <a:gridCol w="1886050">
                  <a:extLst>
                    <a:ext uri="{9D8B030D-6E8A-4147-A177-3AD203B41FA5}">
                      <a16:colId xmlns:a16="http://schemas.microsoft.com/office/drawing/2014/main" val="20002"/>
                    </a:ext>
                  </a:extLst>
                </a:gridCol>
                <a:gridCol w="1886050">
                  <a:extLst>
                    <a:ext uri="{9D8B030D-6E8A-4147-A177-3AD203B41FA5}">
                      <a16:colId xmlns:a16="http://schemas.microsoft.com/office/drawing/2014/main" val="20003"/>
                    </a:ext>
                  </a:extLst>
                </a:gridCol>
                <a:gridCol w="1886050">
                  <a:extLst>
                    <a:ext uri="{9D8B030D-6E8A-4147-A177-3AD203B41FA5}">
                      <a16:colId xmlns:a16="http://schemas.microsoft.com/office/drawing/2014/main" val="20004"/>
                    </a:ext>
                  </a:extLst>
                </a:gridCol>
              </a:tblGrid>
              <a:tr h="292608">
                <a:tc>
                  <a:txBody>
                    <a:bodyPr/>
                    <a:lstStyle/>
                    <a:p>
                      <a:pPr algn="l"/>
                      <a:r>
                        <a:rPr sz="1050" b="1">
                          <a:solidFill>
                            <a:srgbClr val="FFFFFF"/>
                          </a:solidFill>
                          <a:latin typeface="Calibri"/>
                        </a:rPr>
                        <a:t>Driver</a:t>
                      </a:r>
                    </a:p>
                  </a:txBody>
                  <a:tcPr marL="64008" marR="64008" marT="18288" marB="18288" anchor="ctr">
                    <a:solidFill>
                      <a:srgbClr val="003262"/>
                    </a:solidFill>
                  </a:tcPr>
                </a:tc>
                <a:tc>
                  <a:txBody>
                    <a:bodyPr/>
                    <a:lstStyle/>
                    <a:p>
                      <a:pPr algn="ctr"/>
                      <a:r>
                        <a:rPr sz="1050" b="1">
                          <a:solidFill>
                            <a:srgbClr val="FFFFFF"/>
                          </a:solidFill>
                          <a:latin typeface="Calibri"/>
                        </a:rPr>
                        <a:t>deterministic</a:t>
                      </a:r>
                    </a:p>
                  </a:txBody>
                  <a:tcPr marL="64008" marR="64008" marT="18288" marB="18288" anchor="ctr">
                    <a:solidFill>
                      <a:srgbClr val="003262"/>
                    </a:solidFill>
                  </a:tcPr>
                </a:tc>
                <a:tc>
                  <a:txBody>
                    <a:bodyPr/>
                    <a:lstStyle/>
                    <a:p>
                      <a:pPr algn="ctr"/>
                      <a:r>
                        <a:rPr sz="1050" b="1">
                          <a:solidFill>
                            <a:srgbClr val="FFFFFF"/>
                          </a:solidFill>
                          <a:latin typeface="Calibri"/>
                        </a:rPr>
                        <a:t>vector</a:t>
                      </a:r>
                    </a:p>
                  </a:txBody>
                  <a:tcPr marL="64008" marR="64008" marT="18288" marB="18288" anchor="ctr">
                    <a:solidFill>
                      <a:srgbClr val="003262"/>
                    </a:solidFill>
                  </a:tcPr>
                </a:tc>
                <a:tc>
                  <a:txBody>
                    <a:bodyPr/>
                    <a:lstStyle/>
                    <a:p>
                      <a:pPr algn="ctr"/>
                      <a:r>
                        <a:rPr sz="1050" b="1">
                          <a:solidFill>
                            <a:srgbClr val="FFFFFF"/>
                          </a:solidFill>
                          <a:latin typeface="Calibri"/>
                        </a:rPr>
                        <a:t>text</a:t>
                      </a:r>
                    </a:p>
                  </a:txBody>
                  <a:tcPr marL="64008" marR="64008" marT="18288" marB="18288" anchor="ctr">
                    <a:solidFill>
                      <a:srgbClr val="003262"/>
                    </a:solidFill>
                  </a:tcPr>
                </a:tc>
                <a:tc>
                  <a:txBody>
                    <a:bodyPr/>
                    <a:lstStyle/>
                    <a:p>
                      <a:pPr algn="ctr"/>
                      <a:r>
                        <a:rPr sz="1050" b="1">
                          <a:solidFill>
                            <a:srgbClr val="FFFFFF"/>
                          </a:solidFill>
                          <a:latin typeface="Calibri"/>
                        </a:rPr>
                        <a:t>text + vector</a:t>
                      </a:r>
                    </a:p>
                  </a:txBody>
                  <a:tcPr marL="64008" marR="64008" marT="18288" marB="18288" anchor="ctr">
                    <a:solidFill>
                      <a:srgbClr val="003262"/>
                    </a:solidFill>
                  </a:tcPr>
                </a:tc>
                <a:extLst>
                  <a:ext uri="{0D108BD9-81ED-4DB2-BD59-A6C34878D82A}">
                    <a16:rowId xmlns:a16="http://schemas.microsoft.com/office/drawing/2014/main" val="10000"/>
                  </a:ext>
                </a:extLst>
              </a:tr>
              <a:tr h="292608">
                <a:tc>
                  <a:txBody>
                    <a:bodyPr/>
                    <a:lstStyle/>
                    <a:p>
                      <a:pPr algn="l"/>
                      <a:r>
                        <a:rPr sz="1050" b="0">
                          <a:solidFill>
                            <a:srgbClr val="1A1A1A"/>
                          </a:solidFill>
                          <a:latin typeface="Consolas"/>
                        </a:rPr>
                        <a:t>inflation</a:t>
                      </a:r>
                    </a:p>
                  </a:txBody>
                  <a:tcPr marL="64008" marR="64008" marT="18288" marB="18288" anchor="ctr">
                    <a:solidFill>
                      <a:srgbClr val="FFFFFF"/>
                    </a:solidFill>
                  </a:tcPr>
                </a:tc>
                <a:tc>
                  <a:txBody>
                    <a:bodyPr/>
                    <a:lstStyle/>
                    <a:p>
                      <a:pPr algn="ctr"/>
                      <a:r>
                        <a:rPr sz="1050" b="0">
                          <a:solidFill>
                            <a:srgbClr val="1A1A1A"/>
                          </a:solidFill>
                          <a:latin typeface="Calibri"/>
                        </a:rPr>
                        <a:t>1.000</a:t>
                      </a:r>
                    </a:p>
                  </a:txBody>
                  <a:tcPr marL="64008" marR="64008" marT="18288" marB="18288" anchor="ctr">
                    <a:solidFill>
                      <a:srgbClr val="FFFFFF"/>
                    </a:solidFill>
                  </a:tcPr>
                </a:tc>
                <a:tc>
                  <a:txBody>
                    <a:bodyPr/>
                    <a:lstStyle/>
                    <a:p>
                      <a:pPr algn="ctr"/>
                      <a:r>
                        <a:rPr sz="1050" b="0">
                          <a:solidFill>
                            <a:srgbClr val="1A1A1A"/>
                          </a:solidFill>
                          <a:latin typeface="Calibri"/>
                        </a:rPr>
                        <a:t>0.965</a:t>
                      </a:r>
                    </a:p>
                  </a:txBody>
                  <a:tcPr marL="64008" marR="64008" marT="18288" marB="18288" anchor="ctr">
                    <a:solidFill>
                      <a:srgbClr val="FFFFFF"/>
                    </a:solidFill>
                  </a:tcPr>
                </a:tc>
                <a:tc>
                  <a:txBody>
                    <a:bodyPr/>
                    <a:lstStyle/>
                    <a:p>
                      <a:pPr algn="ctr"/>
                      <a:r>
                        <a:rPr sz="1050" b="0">
                          <a:solidFill>
                            <a:srgbClr val="9B2226"/>
                          </a:solidFill>
                          <a:latin typeface="Calibri"/>
                        </a:rPr>
                        <a:t>0.469</a:t>
                      </a:r>
                    </a:p>
                  </a:txBody>
                  <a:tcPr marL="64008" marR="64008" marT="18288" marB="18288" anchor="ctr">
                    <a:solidFill>
                      <a:srgbClr val="FFFFFF"/>
                    </a:solidFill>
                  </a:tcPr>
                </a:tc>
                <a:tc>
                  <a:txBody>
                    <a:bodyPr/>
                    <a:lstStyle/>
                    <a:p>
                      <a:pPr algn="ctr"/>
                      <a:r>
                        <a:rPr sz="1050" b="0">
                          <a:solidFill>
                            <a:srgbClr val="1A1A1A"/>
                          </a:solidFill>
                          <a:latin typeface="Calibri"/>
                        </a:rPr>
                        <a:t>0.892</a:t>
                      </a:r>
                    </a:p>
                  </a:txBody>
                  <a:tcPr marL="64008" marR="64008" marT="18288" marB="18288" anchor="ctr">
                    <a:solidFill>
                      <a:srgbClr val="FFFFFF"/>
                    </a:solidFill>
                  </a:tcPr>
                </a:tc>
                <a:extLst>
                  <a:ext uri="{0D108BD9-81ED-4DB2-BD59-A6C34878D82A}">
                    <a16:rowId xmlns:a16="http://schemas.microsoft.com/office/drawing/2014/main" val="10001"/>
                  </a:ext>
                </a:extLst>
              </a:tr>
              <a:tr h="292608">
                <a:tc>
                  <a:txBody>
                    <a:bodyPr/>
                    <a:lstStyle/>
                    <a:p>
                      <a:pPr algn="l"/>
                      <a:r>
                        <a:rPr sz="1050" b="0">
                          <a:solidFill>
                            <a:srgbClr val="1A1A1A"/>
                          </a:solidFill>
                          <a:latin typeface="Consolas"/>
                        </a:rPr>
                        <a:t>labor_tightness</a:t>
                      </a:r>
                    </a:p>
                  </a:txBody>
                  <a:tcPr marL="64008" marR="64008" marT="18288" marB="18288" anchor="ctr">
                    <a:solidFill>
                      <a:srgbClr val="F3F5F8"/>
                    </a:solidFill>
                  </a:tcPr>
                </a:tc>
                <a:tc>
                  <a:txBody>
                    <a:bodyPr/>
                    <a:lstStyle/>
                    <a:p>
                      <a:pPr algn="ctr"/>
                      <a:r>
                        <a:rPr sz="1050" b="0">
                          <a:solidFill>
                            <a:srgbClr val="1A1A1A"/>
                          </a:solidFill>
                          <a:latin typeface="Calibri"/>
                        </a:rPr>
                        <a:t>1.000</a:t>
                      </a:r>
                    </a:p>
                  </a:txBody>
                  <a:tcPr marL="64008" marR="64008" marT="18288" marB="18288" anchor="ctr">
                    <a:solidFill>
                      <a:srgbClr val="F3F5F8"/>
                    </a:solidFill>
                  </a:tcPr>
                </a:tc>
                <a:tc>
                  <a:txBody>
                    <a:bodyPr/>
                    <a:lstStyle/>
                    <a:p>
                      <a:pPr algn="ctr"/>
                      <a:r>
                        <a:rPr sz="1050" b="0">
                          <a:solidFill>
                            <a:srgbClr val="1A1A1A"/>
                          </a:solidFill>
                          <a:latin typeface="Calibri"/>
                        </a:rPr>
                        <a:t>0.902</a:t>
                      </a:r>
                    </a:p>
                  </a:txBody>
                  <a:tcPr marL="64008" marR="64008" marT="18288" marB="18288" anchor="ctr">
                    <a:solidFill>
                      <a:srgbClr val="F3F5F8"/>
                    </a:solidFill>
                  </a:tcPr>
                </a:tc>
                <a:tc>
                  <a:txBody>
                    <a:bodyPr/>
                    <a:lstStyle/>
                    <a:p>
                      <a:pPr algn="ctr"/>
                      <a:r>
                        <a:rPr sz="1050" b="0">
                          <a:solidFill>
                            <a:srgbClr val="9B2226"/>
                          </a:solidFill>
                          <a:latin typeface="Calibri"/>
                        </a:rPr>
                        <a:t>0.662</a:t>
                      </a:r>
                    </a:p>
                  </a:txBody>
                  <a:tcPr marL="64008" marR="64008" marT="18288" marB="18288" anchor="ctr">
                    <a:solidFill>
                      <a:srgbClr val="F3F5F8"/>
                    </a:solidFill>
                  </a:tcPr>
                </a:tc>
                <a:tc>
                  <a:txBody>
                    <a:bodyPr/>
                    <a:lstStyle/>
                    <a:p>
                      <a:pPr algn="ctr"/>
                      <a:r>
                        <a:rPr sz="1050" b="0">
                          <a:solidFill>
                            <a:srgbClr val="1A1A1A"/>
                          </a:solidFill>
                          <a:latin typeface="Calibri"/>
                        </a:rPr>
                        <a:t>0.939</a:t>
                      </a:r>
                    </a:p>
                  </a:txBody>
                  <a:tcPr marL="64008" marR="64008" marT="18288" marB="18288" anchor="ctr">
                    <a:solidFill>
                      <a:srgbClr val="F3F5F8"/>
                    </a:solidFill>
                  </a:tcPr>
                </a:tc>
                <a:extLst>
                  <a:ext uri="{0D108BD9-81ED-4DB2-BD59-A6C34878D82A}">
                    <a16:rowId xmlns:a16="http://schemas.microsoft.com/office/drawing/2014/main" val="10002"/>
                  </a:ext>
                </a:extLst>
              </a:tr>
              <a:tr h="292608">
                <a:tc>
                  <a:txBody>
                    <a:bodyPr/>
                    <a:lstStyle/>
                    <a:p>
                      <a:pPr algn="l"/>
                      <a:r>
                        <a:rPr sz="1050" b="0">
                          <a:solidFill>
                            <a:srgbClr val="1A1A1A"/>
                          </a:solidFill>
                          <a:latin typeface="Consolas"/>
                        </a:rPr>
                        <a:t>balance_sheet</a:t>
                      </a:r>
                    </a:p>
                  </a:txBody>
                  <a:tcPr marL="64008" marR="64008" marT="18288" marB="18288" anchor="ctr">
                    <a:solidFill>
                      <a:srgbClr val="FFFFFF"/>
                    </a:solidFill>
                  </a:tcPr>
                </a:tc>
                <a:tc>
                  <a:txBody>
                    <a:bodyPr/>
                    <a:lstStyle/>
                    <a:p>
                      <a:pPr algn="ctr"/>
                      <a:r>
                        <a:rPr sz="1050" b="0">
                          <a:solidFill>
                            <a:srgbClr val="1A1A1A"/>
                          </a:solidFill>
                          <a:latin typeface="Calibri"/>
                        </a:rPr>
                        <a:t>1.000</a:t>
                      </a:r>
                    </a:p>
                  </a:txBody>
                  <a:tcPr marL="64008" marR="64008" marT="18288" marB="18288" anchor="ctr">
                    <a:solidFill>
                      <a:srgbClr val="FFFFFF"/>
                    </a:solidFill>
                  </a:tcPr>
                </a:tc>
                <a:tc>
                  <a:txBody>
                    <a:bodyPr/>
                    <a:lstStyle/>
                    <a:p>
                      <a:pPr algn="ctr"/>
                      <a:r>
                        <a:rPr sz="1050" b="0">
                          <a:solidFill>
                            <a:srgbClr val="1A1A1A"/>
                          </a:solidFill>
                          <a:latin typeface="Calibri"/>
                        </a:rPr>
                        <a:t>0.881</a:t>
                      </a:r>
                    </a:p>
                  </a:txBody>
                  <a:tcPr marL="64008" marR="64008" marT="18288" marB="18288" anchor="ctr">
                    <a:solidFill>
                      <a:srgbClr val="FFFFFF"/>
                    </a:solidFill>
                  </a:tcPr>
                </a:tc>
                <a:tc>
                  <a:txBody>
                    <a:bodyPr/>
                    <a:lstStyle/>
                    <a:p>
                      <a:pPr algn="ctr"/>
                      <a:r>
                        <a:rPr sz="1050" b="0">
                          <a:solidFill>
                            <a:srgbClr val="1A1A1A"/>
                          </a:solidFill>
                          <a:latin typeface="Calibri"/>
                        </a:rPr>
                        <a:t>0.829</a:t>
                      </a:r>
                    </a:p>
                  </a:txBody>
                  <a:tcPr marL="64008" marR="64008" marT="18288" marB="18288" anchor="ctr">
                    <a:solidFill>
                      <a:srgbClr val="FFFFFF"/>
                    </a:solidFill>
                  </a:tcPr>
                </a:tc>
                <a:tc>
                  <a:txBody>
                    <a:bodyPr/>
                    <a:lstStyle/>
                    <a:p>
                      <a:pPr algn="ctr"/>
                      <a:r>
                        <a:rPr sz="1050" b="0">
                          <a:solidFill>
                            <a:srgbClr val="1A1A1A"/>
                          </a:solidFill>
                          <a:latin typeface="Calibri"/>
                        </a:rPr>
                        <a:t>0.791</a:t>
                      </a:r>
                    </a:p>
                  </a:txBody>
                  <a:tcPr marL="64008" marR="64008" marT="18288" marB="18288" anchor="ctr">
                    <a:solidFill>
                      <a:srgbClr val="FFFFFF"/>
                    </a:solidFill>
                  </a:tcPr>
                </a:tc>
                <a:extLst>
                  <a:ext uri="{0D108BD9-81ED-4DB2-BD59-A6C34878D82A}">
                    <a16:rowId xmlns:a16="http://schemas.microsoft.com/office/drawing/2014/main" val="10003"/>
                  </a:ext>
                </a:extLst>
              </a:tr>
              <a:tr h="292608">
                <a:tc>
                  <a:txBody>
                    <a:bodyPr/>
                    <a:lstStyle/>
                    <a:p>
                      <a:pPr algn="l"/>
                      <a:r>
                        <a:rPr sz="1050" b="0">
                          <a:solidFill>
                            <a:srgbClr val="1A1A1A"/>
                          </a:solidFill>
                          <a:latin typeface="Consolas"/>
                        </a:rPr>
                        <a:t>term_premium</a:t>
                      </a:r>
                    </a:p>
                  </a:txBody>
                  <a:tcPr marL="64008" marR="64008" marT="18288" marB="18288" anchor="ctr">
                    <a:solidFill>
                      <a:srgbClr val="F3F5F8"/>
                    </a:solidFill>
                  </a:tcPr>
                </a:tc>
                <a:tc>
                  <a:txBody>
                    <a:bodyPr/>
                    <a:lstStyle/>
                    <a:p>
                      <a:pPr algn="ctr"/>
                      <a:r>
                        <a:rPr sz="1050" b="0">
                          <a:solidFill>
                            <a:srgbClr val="1A1A1A"/>
                          </a:solidFill>
                          <a:latin typeface="Calibri"/>
                        </a:rPr>
                        <a:t>1.000</a:t>
                      </a:r>
                    </a:p>
                  </a:txBody>
                  <a:tcPr marL="64008" marR="64008" marT="18288" marB="18288" anchor="ctr">
                    <a:solidFill>
                      <a:srgbClr val="F3F5F8"/>
                    </a:solidFill>
                  </a:tcPr>
                </a:tc>
                <a:tc>
                  <a:txBody>
                    <a:bodyPr/>
                    <a:lstStyle/>
                    <a:p>
                      <a:pPr algn="ctr"/>
                      <a:r>
                        <a:rPr sz="1050" b="0">
                          <a:solidFill>
                            <a:srgbClr val="1A1A1A"/>
                          </a:solidFill>
                          <a:latin typeface="Calibri"/>
                        </a:rPr>
                        <a:t>0.962</a:t>
                      </a:r>
                    </a:p>
                  </a:txBody>
                  <a:tcPr marL="64008" marR="64008" marT="18288" marB="18288" anchor="ctr">
                    <a:solidFill>
                      <a:srgbClr val="F3F5F8"/>
                    </a:solidFill>
                  </a:tcPr>
                </a:tc>
                <a:tc>
                  <a:txBody>
                    <a:bodyPr/>
                    <a:lstStyle/>
                    <a:p>
                      <a:pPr algn="ctr"/>
                      <a:r>
                        <a:rPr sz="1050" b="0">
                          <a:solidFill>
                            <a:srgbClr val="9B2226"/>
                          </a:solidFill>
                          <a:latin typeface="Calibri"/>
                        </a:rPr>
                        <a:t>0.350</a:t>
                      </a:r>
                    </a:p>
                  </a:txBody>
                  <a:tcPr marL="64008" marR="64008" marT="18288" marB="18288" anchor="ctr">
                    <a:solidFill>
                      <a:srgbClr val="F3F5F8"/>
                    </a:solidFill>
                  </a:tcPr>
                </a:tc>
                <a:tc>
                  <a:txBody>
                    <a:bodyPr/>
                    <a:lstStyle/>
                    <a:p>
                      <a:pPr algn="ctr"/>
                      <a:r>
                        <a:rPr sz="1050" b="0">
                          <a:solidFill>
                            <a:srgbClr val="1A1A1A"/>
                          </a:solidFill>
                          <a:latin typeface="Calibri"/>
                        </a:rPr>
                        <a:t>0.927</a:t>
                      </a:r>
                    </a:p>
                  </a:txBody>
                  <a:tcPr marL="64008" marR="64008" marT="18288" marB="18288" anchor="ctr">
                    <a:solidFill>
                      <a:srgbClr val="F3F5F8"/>
                    </a:solidFill>
                  </a:tcPr>
                </a:tc>
                <a:extLst>
                  <a:ext uri="{0D108BD9-81ED-4DB2-BD59-A6C34878D82A}">
                    <a16:rowId xmlns:a16="http://schemas.microsoft.com/office/drawing/2014/main" val="10004"/>
                  </a:ext>
                </a:extLst>
              </a:tr>
              <a:tr h="292608">
                <a:tc>
                  <a:txBody>
                    <a:bodyPr/>
                    <a:lstStyle/>
                    <a:p>
                      <a:pPr algn="l"/>
                      <a:r>
                        <a:rPr sz="1050" b="0">
                          <a:solidFill>
                            <a:srgbClr val="1A1A1A"/>
                          </a:solidFill>
                          <a:latin typeface="Consolas"/>
                        </a:rPr>
                        <a:t>avg |cross-correlation|  ↓ lower = independent</a:t>
                      </a:r>
                    </a:p>
                  </a:txBody>
                  <a:tcPr marL="64008" marR="64008" marT="18288" marB="18288" anchor="ctr">
                    <a:solidFill>
                      <a:srgbClr val="FFFFFF"/>
                    </a:solidFill>
                  </a:tcPr>
                </a:tc>
                <a:tc>
                  <a:txBody>
                    <a:bodyPr/>
                    <a:lstStyle/>
                    <a:p>
                      <a:pPr algn="ctr"/>
                      <a:r>
                        <a:rPr sz="1050" b="0">
                          <a:solidFill>
                            <a:srgbClr val="1A1A1A"/>
                          </a:solidFill>
                          <a:latin typeface="Calibri"/>
                        </a:rPr>
                        <a:t>0.238</a:t>
                      </a:r>
                    </a:p>
                  </a:txBody>
                  <a:tcPr marL="64008" marR="64008" marT="18288" marB="18288" anchor="ctr">
                    <a:solidFill>
                      <a:srgbClr val="FFFFFF"/>
                    </a:solidFill>
                  </a:tcPr>
                </a:tc>
                <a:tc>
                  <a:txBody>
                    <a:bodyPr/>
                    <a:lstStyle/>
                    <a:p>
                      <a:pPr algn="ctr"/>
                      <a:r>
                        <a:rPr sz="1050" b="0">
                          <a:solidFill>
                            <a:srgbClr val="1A1A1A"/>
                          </a:solidFill>
                          <a:latin typeface="Calibri"/>
                        </a:rPr>
                        <a:t>0.221</a:t>
                      </a:r>
                    </a:p>
                  </a:txBody>
                  <a:tcPr marL="64008" marR="64008" marT="18288" marB="18288" anchor="ctr">
                    <a:solidFill>
                      <a:srgbClr val="FFFFFF"/>
                    </a:solidFill>
                  </a:tcPr>
                </a:tc>
                <a:tc>
                  <a:txBody>
                    <a:bodyPr/>
                    <a:lstStyle/>
                    <a:p>
                      <a:pPr algn="ctr"/>
                      <a:r>
                        <a:rPr sz="1050" b="0">
                          <a:solidFill>
                            <a:srgbClr val="9B2226"/>
                          </a:solidFill>
                          <a:latin typeface="Calibri"/>
                        </a:rPr>
                        <a:t>0.339</a:t>
                      </a:r>
                    </a:p>
                  </a:txBody>
                  <a:tcPr marL="64008" marR="64008" marT="18288" marB="18288" anchor="ctr">
                    <a:solidFill>
                      <a:srgbClr val="FFFFFF"/>
                    </a:solidFill>
                  </a:tcPr>
                </a:tc>
                <a:tc>
                  <a:txBody>
                    <a:bodyPr/>
                    <a:lstStyle/>
                    <a:p>
                      <a:pPr algn="ctr"/>
                      <a:r>
                        <a:rPr sz="1050" b="0">
                          <a:solidFill>
                            <a:srgbClr val="1A1A1A"/>
                          </a:solidFill>
                          <a:latin typeface="Calibri"/>
                        </a:rPr>
                        <a:t>0.246</a:t>
                      </a:r>
                    </a:p>
                  </a:txBody>
                  <a:tcPr marL="64008" marR="64008" marT="18288" marB="18288" anchor="ctr">
                    <a:solidFill>
                      <a:srgbClr val="FFFFFF"/>
                    </a:solidFill>
                  </a:tcPr>
                </a:tc>
                <a:extLst>
                  <a:ext uri="{0D108BD9-81ED-4DB2-BD59-A6C34878D82A}">
                    <a16:rowId xmlns:a16="http://schemas.microsoft.com/office/drawing/2014/main" val="10005"/>
                  </a:ext>
                </a:extLst>
              </a:tr>
            </a:tbl>
          </a:graphicData>
        </a:graphic>
      </p:graphicFrame>
      <p:sp>
        <p:nvSpPr>
          <p:cNvPr id="13" name="Rectangle 12"/>
          <p:cNvSpPr/>
          <p:nvPr/>
        </p:nvSpPr>
        <p:spPr>
          <a:xfrm>
            <a:off x="548640" y="5577840"/>
            <a:ext cx="11094415" cy="45720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548640" y="5577840"/>
            <a:ext cx="50292" cy="45720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49808" y="5660136"/>
            <a:ext cx="10728655" cy="292608"/>
          </a:xfrm>
          <a:prstGeom prst="rect">
            <a:avLst/>
          </a:prstGeom>
          <a:noFill/>
        </p:spPr>
        <p:txBody>
          <a:bodyPr wrap="square" lIns="0" tIns="0" rIns="0" bIns="0" anchor="ctr">
            <a:spAutoFit/>
          </a:bodyPr>
          <a:lstStyle/>
          <a:p>
            <a:pPr algn="l">
              <a:lnSpc>
                <a:spcPct val="110000"/>
              </a:lnSpc>
              <a:spcAft>
                <a:spcPts val="400"/>
              </a:spcAft>
            </a:pPr>
            <a:r>
              <a:rPr sz="1150" b="1" i="0">
                <a:solidFill>
                  <a:srgbClr val="1A1A1A"/>
                </a:solidFill>
                <a:latin typeface="Calibri"/>
              </a:rPr>
              <a:t>Faithfulness under text goes negative: </a:t>
            </a:r>
            <a:r>
              <a:rPr sz="1150" b="0" i="0">
                <a:solidFill>
                  <a:srgbClr val="1A1A1A"/>
                </a:solidFill>
                <a:latin typeface="Calibri"/>
              </a:rPr>
              <a:t>inflation −0.171 and term_premium −0.050 — they track other drivers more than their own. Lexicon contamination under text: term_premium 0.850, inflation 0.214. Source: reports/phase1_{vector,text,textvec}.md.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10896"/>
            <a:ext cx="11094415" cy="219456"/>
          </a:xfrm>
          <a:prstGeom prst="rect">
            <a:avLst/>
          </a:prstGeom>
          <a:noFill/>
        </p:spPr>
        <p:txBody>
          <a:bodyPr wrap="square" lIns="0" tIns="0" rIns="0" bIns="0" anchor="t">
            <a:spAutoFit/>
          </a:bodyPr>
          <a:lstStyle/>
          <a:p>
            <a:pPr algn="l">
              <a:lnSpc>
                <a:spcPct val="110000"/>
              </a:lnSpc>
              <a:spcAft>
                <a:spcPts val="400"/>
              </a:spcAft>
            </a:pPr>
            <a:r>
              <a:rPr sz="1050" b="1" i="0">
                <a:solidFill>
                  <a:srgbClr val="FDB515"/>
                </a:solidFill>
                <a:latin typeface="Calibri"/>
              </a:rPr>
              <a:t>APPENDIX</a:t>
            </a:r>
          </a:p>
        </p:txBody>
      </p:sp>
      <p:sp>
        <p:nvSpPr>
          <p:cNvPr id="3" name="TextBox 2"/>
          <p:cNvSpPr txBox="1"/>
          <p:nvPr/>
        </p:nvSpPr>
        <p:spPr>
          <a:xfrm>
            <a:off x="548640" y="603504"/>
            <a:ext cx="11094415" cy="548640"/>
          </a:xfrm>
          <a:prstGeom prst="rect">
            <a:avLst/>
          </a:prstGeom>
          <a:noFill/>
        </p:spPr>
        <p:txBody>
          <a:bodyPr wrap="square" lIns="0" tIns="0" rIns="0" bIns="0" anchor="t">
            <a:spAutoFit/>
          </a:bodyPr>
          <a:lstStyle/>
          <a:p>
            <a:pPr algn="l">
              <a:lnSpc>
                <a:spcPct val="105000"/>
              </a:lnSpc>
              <a:spcAft>
                <a:spcPts val="400"/>
              </a:spcAft>
            </a:pPr>
            <a:r>
              <a:rPr sz="2700" b="1" i="0">
                <a:solidFill>
                  <a:srgbClr val="003262"/>
                </a:solidFill>
                <a:latin typeface="Calibri"/>
              </a:rPr>
              <a:t>Every number: hindsight, significance, cost</a:t>
            </a:r>
          </a:p>
        </p:txBody>
      </p:sp>
      <p:sp>
        <p:nvSpPr>
          <p:cNvPr id="4" name="Rectangle 3"/>
          <p:cNvSpPr/>
          <p:nvPr/>
        </p:nvSpPr>
        <p:spPr>
          <a:xfrm>
            <a:off x="548640" y="1225296"/>
            <a:ext cx="1371600" cy="50292"/>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548640" y="6345936"/>
            <a:ext cx="11094415" cy="9525"/>
          </a:xfrm>
          <a:prstGeom prst="rect">
            <a:avLst/>
          </a:prstGeom>
          <a:solidFill>
            <a:srgbClr val="DDD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640" y="6419088"/>
            <a:ext cx="2194560" cy="329184"/>
          </a:xfrm>
          <a:prstGeom prst="rect">
            <a:avLst/>
          </a:prstGeom>
          <a:noFill/>
        </p:spPr>
        <p:txBody>
          <a:bodyPr wrap="square" lIns="0" tIns="0" rIns="0" bIns="0" anchor="ctr">
            <a:spAutoFit/>
          </a:bodyPr>
          <a:lstStyle/>
          <a:p>
            <a:pPr algn="l">
              <a:lnSpc>
                <a:spcPct val="110000"/>
              </a:lnSpc>
              <a:spcAft>
                <a:spcPts val="400"/>
              </a:spcAft>
            </a:pPr>
            <a:r>
              <a:rPr sz="1500" b="1" i="0">
                <a:solidFill>
                  <a:srgbClr val="003262"/>
                </a:solidFill>
                <a:latin typeface="Calibri"/>
              </a:rPr>
              <a:t>Berkeley</a:t>
            </a:r>
            <a:r>
              <a:rPr sz="1300" b="0" i="0">
                <a:solidFill>
                  <a:srgbClr val="FDB515"/>
                </a:solidFill>
                <a:latin typeface="Calibri"/>
              </a:rPr>
              <a:t>  |  </a:t>
            </a:r>
            <a:r>
              <a:rPr sz="1100" b="1" i="0">
                <a:solidFill>
                  <a:srgbClr val="3B7EA1"/>
                </a:solidFill>
                <a:latin typeface="Calibri"/>
              </a:rPr>
              <a:t>MFE</a:t>
            </a:r>
          </a:p>
        </p:txBody>
      </p:sp>
      <p:sp>
        <p:nvSpPr>
          <p:cNvPr id="7" name="TextBox 6"/>
          <p:cNvSpPr txBox="1"/>
          <p:nvPr/>
        </p:nvSpPr>
        <p:spPr>
          <a:xfrm>
            <a:off x="9814255" y="6419088"/>
            <a:ext cx="1828800" cy="329184"/>
          </a:xfrm>
          <a:prstGeom prst="rect">
            <a:avLst/>
          </a:prstGeom>
          <a:noFill/>
        </p:spPr>
        <p:txBody>
          <a:bodyPr wrap="square" lIns="0" tIns="0" rIns="0" bIns="0" anchor="ctr">
            <a:spAutoFit/>
          </a:bodyPr>
          <a:lstStyle/>
          <a:p>
            <a:pPr algn="r">
              <a:lnSpc>
                <a:spcPct val="110000"/>
              </a:lnSpc>
              <a:spcAft>
                <a:spcPts val="400"/>
              </a:spcAft>
            </a:pPr>
            <a:r>
              <a:rPr sz="1300" b="1" i="0">
                <a:solidFill>
                  <a:srgbClr val="1A1A1A"/>
                </a:solidFill>
                <a:latin typeface="Calibri"/>
              </a:rPr>
              <a:t>BLACKROCK</a:t>
            </a:r>
          </a:p>
        </p:txBody>
      </p:sp>
      <p:sp>
        <p:nvSpPr>
          <p:cNvPr id="8" name="TextBox 7"/>
          <p:cNvSpPr txBox="1"/>
          <p:nvPr/>
        </p:nvSpPr>
        <p:spPr>
          <a:xfrm>
            <a:off x="5730087" y="6446520"/>
            <a:ext cx="731520" cy="274320"/>
          </a:xfrm>
          <a:prstGeom prst="rect">
            <a:avLst/>
          </a:prstGeom>
          <a:noFill/>
        </p:spPr>
        <p:txBody>
          <a:bodyPr wrap="square" lIns="0" tIns="0" rIns="0" bIns="0" anchor="ctr">
            <a:spAutoFit/>
          </a:bodyPr>
          <a:lstStyle/>
          <a:p>
            <a:pPr algn="ctr">
              <a:lnSpc>
                <a:spcPct val="110000"/>
              </a:lnSpc>
              <a:spcAft>
                <a:spcPts val="400"/>
              </a:spcAft>
            </a:pPr>
            <a:r>
              <a:rPr sz="1000" b="0" i="0">
                <a:solidFill>
                  <a:srgbClr val="6E6E6E"/>
                </a:solidFill>
                <a:latin typeface="Calibri"/>
              </a:rPr>
              <a:t>17</a:t>
            </a:r>
          </a:p>
        </p:txBody>
      </p:sp>
      <p:sp>
        <p:nvSpPr>
          <p:cNvPr id="9" name="TextBox 8"/>
          <p:cNvSpPr txBox="1"/>
          <p:nvPr/>
        </p:nvSpPr>
        <p:spPr>
          <a:xfrm>
            <a:off x="548640" y="1371600"/>
            <a:ext cx="6858000" cy="228600"/>
          </a:xfrm>
          <a:prstGeom prst="rect">
            <a:avLst/>
          </a:prstGeom>
          <a:noFill/>
        </p:spPr>
        <p:txBody>
          <a:bodyPr wrap="square" lIns="0" tIns="0" rIns="0" bIns="0" anchor="t">
            <a:spAutoFit/>
          </a:bodyPr>
          <a:lstStyle/>
          <a:p>
            <a:pPr algn="l">
              <a:lnSpc>
                <a:spcPct val="110000"/>
              </a:lnSpc>
              <a:spcAft>
                <a:spcPts val="400"/>
              </a:spcAft>
            </a:pPr>
            <a:r>
              <a:rPr sz="950" b="1" i="0">
                <a:solidFill>
                  <a:srgbClr val="3B7EA1"/>
                </a:solidFill>
                <a:latin typeface="Calibri"/>
              </a:rPr>
              <a:t>OVERRIDES OF THE DETERMINISTIC CALL  ·  ovr = disagreements on gradeable dates; gain = hit-rate difference</a:t>
            </a:r>
          </a:p>
        </p:txBody>
      </p:sp>
      <p:graphicFrame>
        <p:nvGraphicFramePr>
          <p:cNvPr id="10" name="Table 9"/>
          <p:cNvGraphicFramePr>
            <a:graphicFrameLocks noGrp="1"/>
          </p:cNvGraphicFramePr>
          <p:nvPr/>
        </p:nvGraphicFramePr>
        <p:xfrm>
          <a:off x="548640" y="1645920"/>
          <a:ext cx="6858000" cy="1645920"/>
        </p:xfrm>
        <a:graphic>
          <a:graphicData uri="http://schemas.openxmlformats.org/drawingml/2006/table">
            <a:tbl>
              <a:tblPr firstRow="1">
                <a:tableStyleId>{5C22544A-7EE6-4342-B048-85BDC9FD1C3A}</a:tableStyleId>
              </a:tblPr>
              <a:tblGrid>
                <a:gridCol w="192024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274320">
                <a:tc>
                  <a:txBody>
                    <a:bodyPr/>
                    <a:lstStyle/>
                    <a:p>
                      <a:pPr algn="l"/>
                      <a:r>
                        <a:rPr sz="1000" b="1">
                          <a:solidFill>
                            <a:srgbClr val="FFFFFF"/>
                          </a:solidFill>
                          <a:latin typeface="Calibri"/>
                        </a:rPr>
                        <a:t>Driver</a:t>
                      </a:r>
                    </a:p>
                  </a:txBody>
                  <a:tcPr marL="64008" marR="64008" marT="18288" marB="18288" anchor="ctr">
                    <a:solidFill>
                      <a:srgbClr val="003262"/>
                    </a:solidFill>
                  </a:tcPr>
                </a:tc>
                <a:tc>
                  <a:txBody>
                    <a:bodyPr/>
                    <a:lstStyle/>
                    <a:p>
                      <a:pPr algn="ctr"/>
                      <a:r>
                        <a:rPr sz="1000" b="1">
                          <a:solidFill>
                            <a:srgbClr val="FFFFFF"/>
                          </a:solidFill>
                          <a:latin typeface="Calibri"/>
                        </a:rPr>
                        <a:t>vector  ovr · gain</a:t>
                      </a:r>
                    </a:p>
                  </a:txBody>
                  <a:tcPr marL="64008" marR="64008" marT="18288" marB="18288" anchor="ctr">
                    <a:solidFill>
                      <a:srgbClr val="003262"/>
                    </a:solidFill>
                  </a:tcPr>
                </a:tc>
                <a:tc>
                  <a:txBody>
                    <a:bodyPr/>
                    <a:lstStyle/>
                    <a:p>
                      <a:pPr algn="ctr"/>
                      <a:r>
                        <a:rPr sz="1000" b="1">
                          <a:solidFill>
                            <a:srgbClr val="FFFFFF"/>
                          </a:solidFill>
                          <a:latin typeface="Calibri"/>
                        </a:rPr>
                        <a:t>text  ovr · gain</a:t>
                      </a:r>
                    </a:p>
                  </a:txBody>
                  <a:tcPr marL="64008" marR="64008" marT="18288" marB="18288" anchor="ctr">
                    <a:solidFill>
                      <a:srgbClr val="003262"/>
                    </a:solidFill>
                  </a:tcPr>
                </a:tc>
                <a:tc>
                  <a:txBody>
                    <a:bodyPr/>
                    <a:lstStyle/>
                    <a:p>
                      <a:pPr algn="ctr"/>
                      <a:r>
                        <a:rPr sz="1000" b="1">
                          <a:solidFill>
                            <a:srgbClr val="FFFFFF"/>
                          </a:solidFill>
                          <a:latin typeface="Calibri"/>
                        </a:rPr>
                        <a:t>text+vector  ovr · gain</a:t>
                      </a:r>
                    </a:p>
                  </a:txBody>
                  <a:tcPr marL="64008" marR="64008" marT="18288" marB="18288" anchor="ctr">
                    <a:solidFill>
                      <a:srgbClr val="003262"/>
                    </a:solidFill>
                  </a:tcPr>
                </a:tc>
                <a:extLst>
                  <a:ext uri="{0D108BD9-81ED-4DB2-BD59-A6C34878D82A}">
                    <a16:rowId xmlns:a16="http://schemas.microsoft.com/office/drawing/2014/main" val="10000"/>
                  </a:ext>
                </a:extLst>
              </a:tr>
              <a:tr h="274320">
                <a:tc>
                  <a:txBody>
                    <a:bodyPr/>
                    <a:lstStyle/>
                    <a:p>
                      <a:pPr algn="l"/>
                      <a:r>
                        <a:rPr sz="1000" b="0">
                          <a:solidFill>
                            <a:srgbClr val="1A1A1A"/>
                          </a:solidFill>
                          <a:latin typeface="Consolas"/>
                        </a:rPr>
                        <a:t>inflation</a:t>
                      </a:r>
                    </a:p>
                  </a:txBody>
                  <a:tcPr marL="64008" marR="64008" marT="18288" marB="18288" anchor="ctr">
                    <a:solidFill>
                      <a:srgbClr val="FFFFFF"/>
                    </a:solidFill>
                  </a:tcPr>
                </a:tc>
                <a:tc>
                  <a:txBody>
                    <a:bodyPr/>
                    <a:lstStyle/>
                    <a:p>
                      <a:pPr algn="ctr"/>
                      <a:r>
                        <a:rPr sz="1000" b="0">
                          <a:solidFill>
                            <a:srgbClr val="1A1A1A"/>
                          </a:solidFill>
                          <a:latin typeface="Calibri"/>
                        </a:rPr>
                        <a:t>26  ·  −0.029</a:t>
                      </a:r>
                    </a:p>
                  </a:txBody>
                  <a:tcPr marL="64008" marR="64008" marT="18288" marB="18288" anchor="ctr">
                    <a:solidFill>
                      <a:srgbClr val="FFFFFF"/>
                    </a:solidFill>
                  </a:tcPr>
                </a:tc>
                <a:tc>
                  <a:txBody>
                    <a:bodyPr/>
                    <a:lstStyle/>
                    <a:p>
                      <a:pPr algn="ctr"/>
                      <a:r>
                        <a:rPr sz="1000" b="0">
                          <a:solidFill>
                            <a:srgbClr val="1A1A1A"/>
                          </a:solidFill>
                          <a:latin typeface="Calibri"/>
                        </a:rPr>
                        <a:t>107  ·  −0.046</a:t>
                      </a:r>
                    </a:p>
                  </a:txBody>
                  <a:tcPr marL="64008" marR="64008" marT="18288" marB="18288" anchor="ctr">
                    <a:solidFill>
                      <a:srgbClr val="FFFFFF"/>
                    </a:solidFill>
                  </a:tcPr>
                </a:tc>
                <a:tc>
                  <a:txBody>
                    <a:bodyPr/>
                    <a:lstStyle/>
                    <a:p>
                      <a:pPr algn="ctr"/>
                      <a:r>
                        <a:rPr sz="1000" b="0">
                          <a:solidFill>
                            <a:srgbClr val="1A1A1A"/>
                          </a:solidFill>
                          <a:latin typeface="Calibri"/>
                        </a:rPr>
                        <a:t>39  ·  +0.007</a:t>
                      </a:r>
                    </a:p>
                  </a:txBody>
                  <a:tcPr marL="64008" marR="64008" marT="18288" marB="18288" anchor="ctr">
                    <a:solidFill>
                      <a:srgbClr val="FFFFFF"/>
                    </a:solidFill>
                  </a:tcPr>
                </a:tc>
                <a:extLst>
                  <a:ext uri="{0D108BD9-81ED-4DB2-BD59-A6C34878D82A}">
                    <a16:rowId xmlns:a16="http://schemas.microsoft.com/office/drawing/2014/main" val="10001"/>
                  </a:ext>
                </a:extLst>
              </a:tr>
              <a:tr h="274320">
                <a:tc>
                  <a:txBody>
                    <a:bodyPr/>
                    <a:lstStyle/>
                    <a:p>
                      <a:pPr algn="l"/>
                      <a:r>
                        <a:rPr sz="1000" b="0">
                          <a:solidFill>
                            <a:srgbClr val="1A1A1A"/>
                          </a:solidFill>
                          <a:latin typeface="Consolas"/>
                        </a:rPr>
                        <a:t>labor_tightness</a:t>
                      </a:r>
                    </a:p>
                  </a:txBody>
                  <a:tcPr marL="64008" marR="64008" marT="18288" marB="18288" anchor="ctr">
                    <a:solidFill>
                      <a:srgbClr val="F3F5F8"/>
                    </a:solidFill>
                  </a:tcPr>
                </a:tc>
                <a:tc>
                  <a:txBody>
                    <a:bodyPr/>
                    <a:lstStyle/>
                    <a:p>
                      <a:pPr algn="ctr"/>
                      <a:r>
                        <a:rPr sz="1000" b="0">
                          <a:solidFill>
                            <a:srgbClr val="1A1A1A"/>
                          </a:solidFill>
                          <a:latin typeface="Calibri"/>
                        </a:rPr>
                        <a:t>21  ·  −0.004</a:t>
                      </a:r>
                    </a:p>
                  </a:txBody>
                  <a:tcPr marL="64008" marR="64008" marT="18288" marB="18288" anchor="ctr">
                    <a:solidFill>
                      <a:srgbClr val="F3F5F8"/>
                    </a:solidFill>
                  </a:tcPr>
                </a:tc>
                <a:tc>
                  <a:txBody>
                    <a:bodyPr/>
                    <a:lstStyle/>
                    <a:p>
                      <a:pPr algn="ctr"/>
                      <a:r>
                        <a:rPr sz="1000" b="0">
                          <a:solidFill>
                            <a:srgbClr val="1A1A1A"/>
                          </a:solidFill>
                          <a:latin typeface="Calibri"/>
                        </a:rPr>
                        <a:t>87  ·  −0.017</a:t>
                      </a:r>
                    </a:p>
                  </a:txBody>
                  <a:tcPr marL="64008" marR="64008" marT="18288" marB="18288" anchor="ctr">
                    <a:solidFill>
                      <a:srgbClr val="F3F5F8"/>
                    </a:solidFill>
                  </a:tcPr>
                </a:tc>
                <a:tc>
                  <a:txBody>
                    <a:bodyPr/>
                    <a:lstStyle/>
                    <a:p>
                      <a:pPr algn="ctr"/>
                      <a:r>
                        <a:rPr sz="1000" b="0">
                          <a:solidFill>
                            <a:srgbClr val="1A1A1A"/>
                          </a:solidFill>
                          <a:latin typeface="Calibri"/>
                        </a:rPr>
                        <a:t>13  ·  +0.025</a:t>
                      </a:r>
                    </a:p>
                  </a:txBody>
                  <a:tcPr marL="64008" marR="64008" marT="18288" marB="18288" anchor="ctr">
                    <a:solidFill>
                      <a:srgbClr val="F3F5F8"/>
                    </a:solidFill>
                  </a:tcPr>
                </a:tc>
                <a:extLst>
                  <a:ext uri="{0D108BD9-81ED-4DB2-BD59-A6C34878D82A}">
                    <a16:rowId xmlns:a16="http://schemas.microsoft.com/office/drawing/2014/main" val="10002"/>
                  </a:ext>
                </a:extLst>
              </a:tr>
              <a:tr h="274320">
                <a:tc>
                  <a:txBody>
                    <a:bodyPr/>
                    <a:lstStyle/>
                    <a:p>
                      <a:pPr algn="l"/>
                      <a:r>
                        <a:rPr sz="1000" b="0">
                          <a:solidFill>
                            <a:srgbClr val="1A1A1A"/>
                          </a:solidFill>
                          <a:latin typeface="Consolas"/>
                        </a:rPr>
                        <a:t>balance_sheet</a:t>
                      </a:r>
                    </a:p>
                  </a:txBody>
                  <a:tcPr marL="64008" marR="64008" marT="18288" marB="18288" anchor="ctr">
                    <a:solidFill>
                      <a:srgbClr val="FFFFFF"/>
                    </a:solidFill>
                  </a:tcPr>
                </a:tc>
                <a:tc>
                  <a:txBody>
                    <a:bodyPr/>
                    <a:lstStyle/>
                    <a:p>
                      <a:pPr algn="ctr"/>
                      <a:r>
                        <a:rPr sz="1000" b="0">
                          <a:solidFill>
                            <a:srgbClr val="1A1A1A"/>
                          </a:solidFill>
                          <a:latin typeface="Calibri"/>
                        </a:rPr>
                        <a:t>29  ·  +0.024</a:t>
                      </a:r>
                    </a:p>
                  </a:txBody>
                  <a:tcPr marL="64008" marR="64008" marT="18288" marB="18288" anchor="ctr">
                    <a:solidFill>
                      <a:srgbClr val="FFFFFF"/>
                    </a:solidFill>
                  </a:tcPr>
                </a:tc>
                <a:tc>
                  <a:txBody>
                    <a:bodyPr/>
                    <a:lstStyle/>
                    <a:p>
                      <a:pPr algn="ctr"/>
                      <a:r>
                        <a:rPr sz="1000" b="0">
                          <a:solidFill>
                            <a:srgbClr val="9B2226"/>
                          </a:solidFill>
                          <a:latin typeface="Calibri"/>
                        </a:rPr>
                        <a:t>43  ·  +0.073</a:t>
                      </a:r>
                    </a:p>
                  </a:txBody>
                  <a:tcPr marL="64008" marR="64008" marT="18288" marB="18288" anchor="ctr">
                    <a:solidFill>
                      <a:srgbClr val="FFFFFF"/>
                    </a:solidFill>
                  </a:tcPr>
                </a:tc>
                <a:tc>
                  <a:txBody>
                    <a:bodyPr/>
                    <a:lstStyle/>
                    <a:p>
                      <a:pPr algn="ctr"/>
                      <a:r>
                        <a:rPr sz="1000" b="0">
                          <a:solidFill>
                            <a:srgbClr val="1A1A1A"/>
                          </a:solidFill>
                          <a:latin typeface="Calibri"/>
                        </a:rPr>
                        <a:t>51  ·  +0.037</a:t>
                      </a:r>
                    </a:p>
                  </a:txBody>
                  <a:tcPr marL="64008" marR="64008" marT="18288" marB="18288" anchor="ctr">
                    <a:solidFill>
                      <a:srgbClr val="FFFFFF"/>
                    </a:solidFill>
                  </a:tcPr>
                </a:tc>
                <a:extLst>
                  <a:ext uri="{0D108BD9-81ED-4DB2-BD59-A6C34878D82A}">
                    <a16:rowId xmlns:a16="http://schemas.microsoft.com/office/drawing/2014/main" val="10003"/>
                  </a:ext>
                </a:extLst>
              </a:tr>
              <a:tr h="274320">
                <a:tc>
                  <a:txBody>
                    <a:bodyPr/>
                    <a:lstStyle/>
                    <a:p>
                      <a:pPr algn="l"/>
                      <a:r>
                        <a:rPr sz="1000" b="0">
                          <a:solidFill>
                            <a:srgbClr val="1A1A1A"/>
                          </a:solidFill>
                          <a:latin typeface="Consolas"/>
                        </a:rPr>
                        <a:t>term_premium</a:t>
                      </a:r>
                    </a:p>
                  </a:txBody>
                  <a:tcPr marL="64008" marR="64008" marT="18288" marB="18288" anchor="ctr">
                    <a:solidFill>
                      <a:srgbClr val="F3F5F8"/>
                    </a:solidFill>
                  </a:tcPr>
                </a:tc>
                <a:tc>
                  <a:txBody>
                    <a:bodyPr/>
                    <a:lstStyle/>
                    <a:p>
                      <a:pPr algn="ctr"/>
                      <a:r>
                        <a:rPr sz="1000" b="0">
                          <a:solidFill>
                            <a:srgbClr val="1A1A1A"/>
                          </a:solidFill>
                          <a:latin typeface="Calibri"/>
                        </a:rPr>
                        <a:t>8  ·  +0.010</a:t>
                      </a:r>
                    </a:p>
                  </a:txBody>
                  <a:tcPr marL="64008" marR="64008" marT="18288" marB="18288" anchor="ctr">
                    <a:solidFill>
                      <a:srgbClr val="F3F5F8"/>
                    </a:solidFill>
                  </a:tcPr>
                </a:tc>
                <a:tc>
                  <a:txBody>
                    <a:bodyPr/>
                    <a:lstStyle/>
                    <a:p>
                      <a:pPr algn="ctr"/>
                      <a:r>
                        <a:rPr sz="1000" b="0">
                          <a:solidFill>
                            <a:srgbClr val="9B2226"/>
                          </a:solidFill>
                          <a:latin typeface="Calibri"/>
                        </a:rPr>
                        <a:t>116  ·  +0.060</a:t>
                      </a:r>
                    </a:p>
                  </a:txBody>
                  <a:tcPr marL="64008" marR="64008" marT="18288" marB="18288" anchor="ctr">
                    <a:solidFill>
                      <a:srgbClr val="F3F5F8"/>
                    </a:solidFill>
                  </a:tcPr>
                </a:tc>
                <a:tc>
                  <a:txBody>
                    <a:bodyPr/>
                    <a:lstStyle/>
                    <a:p>
                      <a:pPr algn="ctr"/>
                      <a:r>
                        <a:rPr sz="1000" b="0">
                          <a:solidFill>
                            <a:srgbClr val="1A1A1A"/>
                          </a:solidFill>
                          <a:latin typeface="Calibri"/>
                        </a:rPr>
                        <a:t>14  ·  +0.017</a:t>
                      </a:r>
                    </a:p>
                  </a:txBody>
                  <a:tcPr marL="64008" marR="64008" marT="18288" marB="18288" anchor="ctr">
                    <a:solidFill>
                      <a:srgbClr val="F3F5F8"/>
                    </a:solidFill>
                  </a:tcPr>
                </a:tc>
                <a:extLst>
                  <a:ext uri="{0D108BD9-81ED-4DB2-BD59-A6C34878D82A}">
                    <a16:rowId xmlns:a16="http://schemas.microsoft.com/office/drawing/2014/main" val="10004"/>
                  </a:ext>
                </a:extLst>
              </a:tr>
              <a:tr h="274320">
                <a:tc>
                  <a:txBody>
                    <a:bodyPr/>
                    <a:lstStyle/>
                    <a:p>
                      <a:pPr algn="l"/>
                      <a:r>
                        <a:rPr sz="1000" b="0">
                          <a:solidFill>
                            <a:srgbClr val="1A1A1A"/>
                          </a:solidFill>
                          <a:latin typeface="Consolas"/>
                        </a:rPr>
                        <a:t>total</a:t>
                      </a:r>
                    </a:p>
                  </a:txBody>
                  <a:tcPr marL="64008" marR="64008" marT="18288" marB="18288" anchor="ctr">
                    <a:solidFill>
                      <a:srgbClr val="FFFFFF"/>
                    </a:solidFill>
                  </a:tcPr>
                </a:tc>
                <a:tc>
                  <a:txBody>
                    <a:bodyPr/>
                    <a:lstStyle/>
                    <a:p>
                      <a:pPr algn="ctr"/>
                      <a:r>
                        <a:rPr sz="1000" b="0">
                          <a:solidFill>
                            <a:srgbClr val="1A1A1A"/>
                          </a:solidFill>
                          <a:latin typeface="Calibri"/>
                        </a:rPr>
                        <a:t>84</a:t>
                      </a:r>
                    </a:p>
                  </a:txBody>
                  <a:tcPr marL="64008" marR="64008" marT="18288" marB="18288" anchor="ctr">
                    <a:solidFill>
                      <a:srgbClr val="FFFFFF"/>
                    </a:solidFill>
                  </a:tcPr>
                </a:tc>
                <a:tc>
                  <a:txBody>
                    <a:bodyPr/>
                    <a:lstStyle/>
                    <a:p>
                      <a:pPr algn="ctr"/>
                      <a:r>
                        <a:rPr sz="1000" b="0">
                          <a:solidFill>
                            <a:srgbClr val="9B2226"/>
                          </a:solidFill>
                          <a:latin typeface="Calibri"/>
                        </a:rPr>
                        <a:t>353</a:t>
                      </a:r>
                    </a:p>
                  </a:txBody>
                  <a:tcPr marL="64008" marR="64008" marT="18288" marB="18288" anchor="ctr">
                    <a:solidFill>
                      <a:srgbClr val="FFFFFF"/>
                    </a:solidFill>
                  </a:tcPr>
                </a:tc>
                <a:tc>
                  <a:txBody>
                    <a:bodyPr/>
                    <a:lstStyle/>
                    <a:p>
                      <a:pPr algn="ctr"/>
                      <a:r>
                        <a:rPr sz="1000" b="0">
                          <a:solidFill>
                            <a:srgbClr val="1A1A1A"/>
                          </a:solidFill>
                          <a:latin typeface="Calibri"/>
                        </a:rPr>
                        <a:t>117</a:t>
                      </a:r>
                    </a:p>
                  </a:txBody>
                  <a:tcPr marL="64008" marR="64008" marT="18288" marB="18288" anchor="ctr">
                    <a:solidFill>
                      <a:srgbClr val="FFFFFF"/>
                    </a:solidFill>
                  </a:tcPr>
                </a:tc>
                <a:extLst>
                  <a:ext uri="{0D108BD9-81ED-4DB2-BD59-A6C34878D82A}">
                    <a16:rowId xmlns:a16="http://schemas.microsoft.com/office/drawing/2014/main" val="10005"/>
                  </a:ext>
                </a:extLst>
              </a:tr>
            </a:tbl>
          </a:graphicData>
        </a:graphic>
      </p:graphicFrame>
      <p:sp>
        <p:nvSpPr>
          <p:cNvPr id="11" name="TextBox 10"/>
          <p:cNvSpPr txBox="1"/>
          <p:nvPr/>
        </p:nvSpPr>
        <p:spPr>
          <a:xfrm>
            <a:off x="548640" y="3337560"/>
            <a:ext cx="6858000" cy="228600"/>
          </a:xfrm>
          <a:prstGeom prst="rect">
            <a:avLst/>
          </a:prstGeom>
          <a:noFill/>
        </p:spPr>
        <p:txBody>
          <a:bodyPr wrap="square" lIns="0" tIns="0" rIns="0" bIns="0" anchor="t">
            <a:spAutoFit/>
          </a:bodyPr>
          <a:lstStyle/>
          <a:p>
            <a:pPr algn="l">
              <a:lnSpc>
                <a:spcPct val="110000"/>
              </a:lnSpc>
              <a:spcAft>
                <a:spcPts val="400"/>
              </a:spcAft>
            </a:pPr>
            <a:r>
              <a:rPr sz="950" b="1" i="0">
                <a:solidFill>
                  <a:srgbClr val="3B7EA1"/>
                </a:solidFill>
                <a:latin typeface="Calibri"/>
              </a:rPr>
              <a:t>IS THE GAP BIGGER THAN LUCK?  ·  paired McNemar, z = gain × n / √ovr</a:t>
            </a:r>
          </a:p>
        </p:txBody>
      </p:sp>
      <p:graphicFrame>
        <p:nvGraphicFramePr>
          <p:cNvPr id="12" name="Table 11"/>
          <p:cNvGraphicFramePr>
            <a:graphicFrameLocks noGrp="1"/>
          </p:cNvGraphicFramePr>
          <p:nvPr/>
        </p:nvGraphicFramePr>
        <p:xfrm>
          <a:off x="548640" y="3611880"/>
          <a:ext cx="6858000" cy="1682496"/>
        </p:xfrm>
        <a:graphic>
          <a:graphicData uri="http://schemas.openxmlformats.org/drawingml/2006/table">
            <a:tbl>
              <a:tblPr firstRow="1">
                <a:tableStyleId>{5C22544A-7EE6-4342-B048-85BDC9FD1C3A}</a:tableStyleId>
              </a:tblPr>
              <a:tblGrid>
                <a:gridCol w="219456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2331720">
                  <a:extLst>
                    <a:ext uri="{9D8B030D-6E8A-4147-A177-3AD203B41FA5}">
                      <a16:colId xmlns:a16="http://schemas.microsoft.com/office/drawing/2014/main" val="20004"/>
                    </a:ext>
                  </a:extLst>
                </a:gridCol>
              </a:tblGrid>
              <a:tr h="274320">
                <a:tc>
                  <a:txBody>
                    <a:bodyPr/>
                    <a:lstStyle/>
                    <a:p>
                      <a:pPr algn="l"/>
                      <a:r>
                        <a:rPr sz="1000" b="1">
                          <a:solidFill>
                            <a:srgbClr val="FFFFFF"/>
                          </a:solidFill>
                          <a:latin typeface="Calibri"/>
                        </a:rPr>
                        <a:t>vs deterministic</a:t>
                      </a:r>
                    </a:p>
                  </a:txBody>
                  <a:tcPr marL="64008" marR="64008" marT="18288" marB="18288" anchor="ctr">
                    <a:solidFill>
                      <a:srgbClr val="003262"/>
                    </a:solidFill>
                  </a:tcPr>
                </a:tc>
                <a:tc>
                  <a:txBody>
                    <a:bodyPr/>
                    <a:lstStyle/>
                    <a:p>
                      <a:pPr algn="r"/>
                      <a:r>
                        <a:rPr sz="1000" b="1">
                          <a:solidFill>
                            <a:srgbClr val="FFFFFF"/>
                          </a:solidFill>
                          <a:latin typeface="Calibri"/>
                        </a:rPr>
                        <a:t>gain</a:t>
                      </a:r>
                    </a:p>
                  </a:txBody>
                  <a:tcPr marL="64008" marR="64008" marT="18288" marB="18288" anchor="ctr">
                    <a:solidFill>
                      <a:srgbClr val="003262"/>
                    </a:solidFill>
                  </a:tcPr>
                </a:tc>
                <a:tc>
                  <a:txBody>
                    <a:bodyPr/>
                    <a:lstStyle/>
                    <a:p>
                      <a:pPr algn="r"/>
                      <a:r>
                        <a:rPr sz="1000" b="1">
                          <a:solidFill>
                            <a:srgbClr val="FFFFFF"/>
                          </a:solidFill>
                          <a:latin typeface="Calibri"/>
                        </a:rPr>
                        <a:t>ovr</a:t>
                      </a:r>
                    </a:p>
                  </a:txBody>
                  <a:tcPr marL="64008" marR="64008" marT="18288" marB="18288" anchor="ctr">
                    <a:solidFill>
                      <a:srgbClr val="003262"/>
                    </a:solidFill>
                  </a:tcPr>
                </a:tc>
                <a:tc>
                  <a:txBody>
                    <a:bodyPr/>
                    <a:lstStyle/>
                    <a:p>
                      <a:pPr algn="r"/>
                      <a:r>
                        <a:rPr sz="1000" b="1">
                          <a:solidFill>
                            <a:srgbClr val="FFFFFF"/>
                          </a:solidFill>
                          <a:latin typeface="Calibri"/>
                        </a:rPr>
                        <a:t>z</a:t>
                      </a:r>
                    </a:p>
                  </a:txBody>
                  <a:tcPr marL="64008" marR="64008" marT="18288" marB="18288" anchor="ctr">
                    <a:solidFill>
                      <a:srgbClr val="003262"/>
                    </a:solidFill>
                  </a:tcPr>
                </a:tc>
                <a:tc>
                  <a:txBody>
                    <a:bodyPr/>
                    <a:lstStyle/>
                    <a:p>
                      <a:pPr algn="l"/>
                      <a:endParaRPr/>
                    </a:p>
                  </a:txBody>
                  <a:tcPr marL="64008" marR="64008" marT="18288" marB="18288" anchor="ctr">
                    <a:solidFill>
                      <a:srgbClr val="003262"/>
                    </a:solidFill>
                  </a:tcPr>
                </a:tc>
                <a:extLst>
                  <a:ext uri="{0D108BD9-81ED-4DB2-BD59-A6C34878D82A}">
                    <a16:rowId xmlns:a16="http://schemas.microsoft.com/office/drawing/2014/main" val="10000"/>
                  </a:ext>
                </a:extLst>
              </a:tr>
              <a:tr h="274320">
                <a:tc>
                  <a:txBody>
                    <a:bodyPr/>
                    <a:lstStyle/>
                    <a:p>
                      <a:pPr algn="l"/>
                      <a:r>
                        <a:rPr sz="1000" b="0">
                          <a:solidFill>
                            <a:srgbClr val="1A1A1A"/>
                          </a:solidFill>
                          <a:latin typeface="Consolas"/>
                        </a:rPr>
                        <a:t>text × balance_sheet</a:t>
                      </a:r>
                    </a:p>
                  </a:txBody>
                  <a:tcPr marL="64008" marR="64008" marT="18288" marB="18288" anchor="ctr">
                    <a:solidFill>
                      <a:srgbClr val="FFFFFF"/>
                    </a:solidFill>
                  </a:tcPr>
                </a:tc>
                <a:tc>
                  <a:txBody>
                    <a:bodyPr/>
                    <a:lstStyle/>
                    <a:p>
                      <a:pPr algn="r"/>
                      <a:r>
                        <a:rPr sz="1000" b="0">
                          <a:solidFill>
                            <a:srgbClr val="1A1A1A"/>
                          </a:solidFill>
                          <a:latin typeface="Calibri"/>
                        </a:rPr>
                        <a:t>+0.073</a:t>
                      </a:r>
                    </a:p>
                  </a:txBody>
                  <a:tcPr marL="64008" marR="64008" marT="18288" marB="18288" anchor="ctr">
                    <a:solidFill>
                      <a:srgbClr val="FFFFFF"/>
                    </a:solidFill>
                  </a:tcPr>
                </a:tc>
                <a:tc>
                  <a:txBody>
                    <a:bodyPr/>
                    <a:lstStyle/>
                    <a:p>
                      <a:pPr algn="r"/>
                      <a:r>
                        <a:rPr sz="1000" b="0">
                          <a:solidFill>
                            <a:srgbClr val="1A1A1A"/>
                          </a:solidFill>
                          <a:latin typeface="Calibri"/>
                        </a:rPr>
                        <a:t>43</a:t>
                      </a:r>
                    </a:p>
                  </a:txBody>
                  <a:tcPr marL="64008" marR="64008" marT="18288" marB="18288" anchor="ctr">
                    <a:solidFill>
                      <a:srgbClr val="FFFFFF"/>
                    </a:solidFill>
                  </a:tcPr>
                </a:tc>
                <a:tc>
                  <a:txBody>
                    <a:bodyPr/>
                    <a:lstStyle/>
                    <a:p>
                      <a:pPr algn="r"/>
                      <a:r>
                        <a:rPr sz="1000" b="0">
                          <a:solidFill>
                            <a:srgbClr val="1E6B3A"/>
                          </a:solidFill>
                          <a:latin typeface="Calibri"/>
                        </a:rPr>
                        <a:t>3.4</a:t>
                      </a:r>
                    </a:p>
                  </a:txBody>
                  <a:tcPr marL="64008" marR="64008" marT="18288" marB="18288" anchor="ctr">
                    <a:solidFill>
                      <a:srgbClr val="FFFFFF"/>
                    </a:solidFill>
                  </a:tcPr>
                </a:tc>
                <a:tc>
                  <a:txBody>
                    <a:bodyPr/>
                    <a:lstStyle/>
                    <a:p>
                      <a:pPr algn="l"/>
                      <a:r>
                        <a:rPr sz="1000" b="0">
                          <a:solidFill>
                            <a:srgbClr val="1E6B3A"/>
                          </a:solidFill>
                          <a:latin typeface="Calibri"/>
                        </a:rPr>
                        <a:t>significant (p ≈ 0.0007)</a:t>
                      </a:r>
                    </a:p>
                  </a:txBody>
                  <a:tcPr marL="64008" marR="64008" marT="18288" marB="18288" anchor="ctr">
                    <a:solidFill>
                      <a:srgbClr val="FFFFFF"/>
                    </a:solidFill>
                  </a:tcPr>
                </a:tc>
                <a:extLst>
                  <a:ext uri="{0D108BD9-81ED-4DB2-BD59-A6C34878D82A}">
                    <a16:rowId xmlns:a16="http://schemas.microsoft.com/office/drawing/2014/main" val="10001"/>
                  </a:ext>
                </a:extLst>
              </a:tr>
              <a:tr h="274320">
                <a:tc>
                  <a:txBody>
                    <a:bodyPr/>
                    <a:lstStyle/>
                    <a:p>
                      <a:pPr algn="l"/>
                      <a:r>
                        <a:rPr sz="1000" b="0">
                          <a:solidFill>
                            <a:srgbClr val="1A1A1A"/>
                          </a:solidFill>
                          <a:latin typeface="Consolas"/>
                        </a:rPr>
                        <a:t>text × term_premium</a:t>
                      </a:r>
                    </a:p>
                  </a:txBody>
                  <a:tcPr marL="64008" marR="64008" marT="18288" marB="18288" anchor="ctr">
                    <a:solidFill>
                      <a:srgbClr val="F3F5F8"/>
                    </a:solidFill>
                  </a:tcPr>
                </a:tc>
                <a:tc>
                  <a:txBody>
                    <a:bodyPr/>
                    <a:lstStyle/>
                    <a:p>
                      <a:pPr algn="r"/>
                      <a:r>
                        <a:rPr sz="1000" b="0">
                          <a:solidFill>
                            <a:srgbClr val="1A1A1A"/>
                          </a:solidFill>
                          <a:latin typeface="Calibri"/>
                        </a:rPr>
                        <a:t>+0.060</a:t>
                      </a:r>
                    </a:p>
                  </a:txBody>
                  <a:tcPr marL="64008" marR="64008" marT="18288" marB="18288" anchor="ctr">
                    <a:solidFill>
                      <a:srgbClr val="F3F5F8"/>
                    </a:solidFill>
                  </a:tcPr>
                </a:tc>
                <a:tc>
                  <a:txBody>
                    <a:bodyPr/>
                    <a:lstStyle/>
                    <a:p>
                      <a:pPr algn="r"/>
                      <a:r>
                        <a:rPr sz="1000" b="0">
                          <a:solidFill>
                            <a:srgbClr val="1A1A1A"/>
                          </a:solidFill>
                          <a:latin typeface="Calibri"/>
                        </a:rPr>
                        <a:t>116</a:t>
                      </a:r>
                    </a:p>
                  </a:txBody>
                  <a:tcPr marL="64008" marR="64008" marT="18288" marB="18288" anchor="ctr">
                    <a:solidFill>
                      <a:srgbClr val="F3F5F8"/>
                    </a:solidFill>
                  </a:tcPr>
                </a:tc>
                <a:tc>
                  <a:txBody>
                    <a:bodyPr/>
                    <a:lstStyle/>
                    <a:p>
                      <a:pPr algn="r"/>
                      <a:r>
                        <a:rPr sz="1000" b="0">
                          <a:solidFill>
                            <a:srgbClr val="1A1A1A"/>
                          </a:solidFill>
                          <a:latin typeface="Calibri"/>
                        </a:rPr>
                        <a:t>1.7</a:t>
                      </a:r>
                    </a:p>
                  </a:txBody>
                  <a:tcPr marL="64008" marR="64008" marT="18288" marB="18288" anchor="ctr">
                    <a:solidFill>
                      <a:srgbClr val="F3F5F8"/>
                    </a:solidFill>
                  </a:tcPr>
                </a:tc>
                <a:tc>
                  <a:txBody>
                    <a:bodyPr/>
                    <a:lstStyle/>
                    <a:p>
                      <a:pPr algn="l"/>
                      <a:r>
                        <a:rPr sz="1000" b="0">
                          <a:solidFill>
                            <a:srgbClr val="1A1A1A"/>
                          </a:solidFill>
                          <a:latin typeface="Calibri"/>
                        </a:rPr>
                        <a:t>directional</a:t>
                      </a:r>
                    </a:p>
                  </a:txBody>
                  <a:tcPr marL="64008" marR="64008" marT="18288" marB="18288" anchor="ctr">
                    <a:solidFill>
                      <a:srgbClr val="F3F5F8"/>
                    </a:solidFill>
                  </a:tcPr>
                </a:tc>
                <a:extLst>
                  <a:ext uri="{0D108BD9-81ED-4DB2-BD59-A6C34878D82A}">
                    <a16:rowId xmlns:a16="http://schemas.microsoft.com/office/drawing/2014/main" val="10002"/>
                  </a:ext>
                </a:extLst>
              </a:tr>
              <a:tr h="274320">
                <a:tc>
                  <a:txBody>
                    <a:bodyPr/>
                    <a:lstStyle/>
                    <a:p>
                      <a:pPr algn="l"/>
                      <a:r>
                        <a:rPr sz="1000" b="0">
                          <a:solidFill>
                            <a:srgbClr val="1A1A1A"/>
                          </a:solidFill>
                          <a:latin typeface="Consolas"/>
                        </a:rPr>
                        <a:t>text+vec × labor</a:t>
                      </a:r>
                    </a:p>
                  </a:txBody>
                  <a:tcPr marL="64008" marR="64008" marT="18288" marB="18288" anchor="ctr">
                    <a:solidFill>
                      <a:srgbClr val="FFFFFF"/>
                    </a:solidFill>
                  </a:tcPr>
                </a:tc>
                <a:tc>
                  <a:txBody>
                    <a:bodyPr/>
                    <a:lstStyle/>
                    <a:p>
                      <a:pPr algn="r"/>
                      <a:r>
                        <a:rPr sz="1000" b="0">
                          <a:solidFill>
                            <a:srgbClr val="1A1A1A"/>
                          </a:solidFill>
                          <a:latin typeface="Calibri"/>
                        </a:rPr>
                        <a:t>+0.025</a:t>
                      </a:r>
                    </a:p>
                  </a:txBody>
                  <a:tcPr marL="64008" marR="64008" marT="18288" marB="18288" anchor="ctr">
                    <a:solidFill>
                      <a:srgbClr val="FFFFFF"/>
                    </a:solidFill>
                  </a:tcPr>
                </a:tc>
                <a:tc>
                  <a:txBody>
                    <a:bodyPr/>
                    <a:lstStyle/>
                    <a:p>
                      <a:pPr algn="r"/>
                      <a:r>
                        <a:rPr sz="1000" b="0">
                          <a:solidFill>
                            <a:srgbClr val="1A1A1A"/>
                          </a:solidFill>
                          <a:latin typeface="Calibri"/>
                        </a:rPr>
                        <a:t>13</a:t>
                      </a:r>
                    </a:p>
                  </a:txBody>
                  <a:tcPr marL="64008" marR="64008" marT="18288" marB="18288" anchor="ctr">
                    <a:solidFill>
                      <a:srgbClr val="FFFFFF"/>
                    </a:solidFill>
                  </a:tcPr>
                </a:tc>
                <a:tc>
                  <a:txBody>
                    <a:bodyPr/>
                    <a:lstStyle/>
                    <a:p>
                      <a:pPr algn="r"/>
                      <a:r>
                        <a:rPr sz="1000" b="0">
                          <a:solidFill>
                            <a:srgbClr val="1A1A1A"/>
                          </a:solidFill>
                          <a:latin typeface="Calibri"/>
                        </a:rPr>
                        <a:t>1.7</a:t>
                      </a:r>
                    </a:p>
                  </a:txBody>
                  <a:tcPr marL="64008" marR="64008" marT="18288" marB="18288" anchor="ctr">
                    <a:solidFill>
                      <a:srgbClr val="FFFFFF"/>
                    </a:solidFill>
                  </a:tcPr>
                </a:tc>
                <a:tc>
                  <a:txBody>
                    <a:bodyPr/>
                    <a:lstStyle/>
                    <a:p>
                      <a:pPr algn="l"/>
                      <a:r>
                        <a:rPr sz="1000" b="0">
                          <a:solidFill>
                            <a:srgbClr val="1A1A1A"/>
                          </a:solidFill>
                          <a:latin typeface="Calibri"/>
                        </a:rPr>
                        <a:t>directional</a:t>
                      </a:r>
                    </a:p>
                  </a:txBody>
                  <a:tcPr marL="64008" marR="64008" marT="18288" marB="18288" anchor="ctr">
                    <a:solidFill>
                      <a:srgbClr val="FFFFFF"/>
                    </a:solidFill>
                  </a:tcPr>
                </a:tc>
                <a:extLst>
                  <a:ext uri="{0D108BD9-81ED-4DB2-BD59-A6C34878D82A}">
                    <a16:rowId xmlns:a16="http://schemas.microsoft.com/office/drawing/2014/main" val="10003"/>
                  </a:ext>
                </a:extLst>
              </a:tr>
              <a:tr h="274320">
                <a:tc>
                  <a:txBody>
                    <a:bodyPr/>
                    <a:lstStyle/>
                    <a:p>
                      <a:pPr algn="l"/>
                      <a:r>
                        <a:rPr sz="1000" b="0">
                          <a:solidFill>
                            <a:srgbClr val="1A1A1A"/>
                          </a:solidFill>
                          <a:latin typeface="Consolas"/>
                        </a:rPr>
                        <a:t>text+vec × balance_sheet</a:t>
                      </a:r>
                    </a:p>
                  </a:txBody>
                  <a:tcPr marL="64008" marR="64008" marT="18288" marB="18288" anchor="ctr">
                    <a:solidFill>
                      <a:srgbClr val="F3F5F8"/>
                    </a:solidFill>
                  </a:tcPr>
                </a:tc>
                <a:tc>
                  <a:txBody>
                    <a:bodyPr/>
                    <a:lstStyle/>
                    <a:p>
                      <a:pPr algn="r"/>
                      <a:r>
                        <a:rPr sz="1000" b="0">
                          <a:solidFill>
                            <a:srgbClr val="1A1A1A"/>
                          </a:solidFill>
                          <a:latin typeface="Calibri"/>
                        </a:rPr>
                        <a:t>+0.037</a:t>
                      </a:r>
                    </a:p>
                  </a:txBody>
                  <a:tcPr marL="64008" marR="64008" marT="18288" marB="18288" anchor="ctr">
                    <a:solidFill>
                      <a:srgbClr val="F3F5F8"/>
                    </a:solidFill>
                  </a:tcPr>
                </a:tc>
                <a:tc>
                  <a:txBody>
                    <a:bodyPr/>
                    <a:lstStyle/>
                    <a:p>
                      <a:pPr algn="r"/>
                      <a:r>
                        <a:rPr sz="1000" b="0">
                          <a:solidFill>
                            <a:srgbClr val="1A1A1A"/>
                          </a:solidFill>
                          <a:latin typeface="Calibri"/>
                        </a:rPr>
                        <a:t>51</a:t>
                      </a:r>
                    </a:p>
                  </a:txBody>
                  <a:tcPr marL="64008" marR="64008" marT="18288" marB="18288" anchor="ctr">
                    <a:solidFill>
                      <a:srgbClr val="F3F5F8"/>
                    </a:solidFill>
                  </a:tcPr>
                </a:tc>
                <a:tc>
                  <a:txBody>
                    <a:bodyPr/>
                    <a:lstStyle/>
                    <a:p>
                      <a:pPr algn="r"/>
                      <a:r>
                        <a:rPr sz="1000" b="0">
                          <a:solidFill>
                            <a:srgbClr val="1A1A1A"/>
                          </a:solidFill>
                          <a:latin typeface="Calibri"/>
                        </a:rPr>
                        <a:t>1.6</a:t>
                      </a:r>
                    </a:p>
                  </a:txBody>
                  <a:tcPr marL="64008" marR="64008" marT="18288" marB="18288" anchor="ctr">
                    <a:solidFill>
                      <a:srgbClr val="F3F5F8"/>
                    </a:solidFill>
                  </a:tcPr>
                </a:tc>
                <a:tc>
                  <a:txBody>
                    <a:bodyPr/>
                    <a:lstStyle/>
                    <a:p>
                      <a:pPr algn="l"/>
                      <a:r>
                        <a:rPr sz="1000" b="0">
                          <a:solidFill>
                            <a:srgbClr val="1A1A1A"/>
                          </a:solidFill>
                          <a:latin typeface="Calibri"/>
                        </a:rPr>
                        <a:t>directional</a:t>
                      </a:r>
                    </a:p>
                  </a:txBody>
                  <a:tcPr marL="64008" marR="64008" marT="18288" marB="18288" anchor="ctr">
                    <a:solidFill>
                      <a:srgbClr val="F3F5F8"/>
                    </a:solidFill>
                  </a:tcPr>
                </a:tc>
                <a:extLst>
                  <a:ext uri="{0D108BD9-81ED-4DB2-BD59-A6C34878D82A}">
                    <a16:rowId xmlns:a16="http://schemas.microsoft.com/office/drawing/2014/main" val="10004"/>
                  </a:ext>
                </a:extLst>
              </a:tr>
              <a:tr h="274320">
                <a:tc>
                  <a:txBody>
                    <a:bodyPr/>
                    <a:lstStyle/>
                    <a:p>
                      <a:pPr algn="l"/>
                      <a:r>
                        <a:rPr sz="1000" b="0">
                          <a:solidFill>
                            <a:srgbClr val="1A1A1A"/>
                          </a:solidFill>
                          <a:latin typeface="Consolas"/>
                        </a:rPr>
                        <a:t>every other cell</a:t>
                      </a:r>
                    </a:p>
                  </a:txBody>
                  <a:tcPr marL="64008" marR="64008" marT="18288" marB="18288" anchor="ctr">
                    <a:solidFill>
                      <a:srgbClr val="FFFFFF"/>
                    </a:solidFill>
                  </a:tcPr>
                </a:tc>
                <a:tc>
                  <a:txBody>
                    <a:bodyPr/>
                    <a:lstStyle/>
                    <a:p>
                      <a:pPr algn="r"/>
                      <a:r>
                        <a:rPr sz="1000" b="0">
                          <a:solidFill>
                            <a:srgbClr val="1A1A1A"/>
                          </a:solidFill>
                          <a:latin typeface="Calibri"/>
                        </a:rPr>
                        <a:t>—</a:t>
                      </a:r>
                    </a:p>
                  </a:txBody>
                  <a:tcPr marL="64008" marR="64008" marT="18288" marB="18288" anchor="ctr">
                    <a:solidFill>
                      <a:srgbClr val="FFFFFF"/>
                    </a:solidFill>
                  </a:tcPr>
                </a:tc>
                <a:tc>
                  <a:txBody>
                    <a:bodyPr/>
                    <a:lstStyle/>
                    <a:p>
                      <a:pPr algn="r"/>
                      <a:r>
                        <a:rPr sz="1000" b="0">
                          <a:solidFill>
                            <a:srgbClr val="1A1A1A"/>
                          </a:solidFill>
                          <a:latin typeface="Calibri"/>
                        </a:rPr>
                        <a:t>—</a:t>
                      </a:r>
                    </a:p>
                  </a:txBody>
                  <a:tcPr marL="64008" marR="64008" marT="18288" marB="18288" anchor="ctr">
                    <a:solidFill>
                      <a:srgbClr val="FFFFFF"/>
                    </a:solidFill>
                  </a:tcPr>
                </a:tc>
                <a:tc>
                  <a:txBody>
                    <a:bodyPr/>
                    <a:lstStyle/>
                    <a:p>
                      <a:pPr algn="r"/>
                      <a:r>
                        <a:rPr sz="1000" b="0">
                          <a:solidFill>
                            <a:srgbClr val="1A1A1A"/>
                          </a:solidFill>
                          <a:latin typeface="Calibri"/>
                        </a:rPr>
                        <a:t>&lt; 1.4</a:t>
                      </a:r>
                    </a:p>
                  </a:txBody>
                  <a:tcPr marL="64008" marR="64008" marT="18288" marB="18288" anchor="ctr">
                    <a:solidFill>
                      <a:srgbClr val="FFFFFF"/>
                    </a:solidFill>
                  </a:tcPr>
                </a:tc>
                <a:tc>
                  <a:txBody>
                    <a:bodyPr/>
                    <a:lstStyle/>
                    <a:p>
                      <a:pPr algn="l"/>
                      <a:r>
                        <a:rPr sz="1000" b="0">
                          <a:solidFill>
                            <a:srgbClr val="1A1A1A"/>
                          </a:solidFill>
                          <a:latin typeface="Calibri"/>
                        </a:rPr>
                        <a:t>noise</a:t>
                      </a:r>
                    </a:p>
                  </a:txBody>
                  <a:tcPr marL="64008" marR="64008" marT="18288" marB="18288" anchor="ctr">
                    <a:solidFill>
                      <a:srgbClr val="FFFFFF"/>
                    </a:solidFill>
                  </a:tcPr>
                </a:tc>
                <a:extLst>
                  <a:ext uri="{0D108BD9-81ED-4DB2-BD59-A6C34878D82A}">
                    <a16:rowId xmlns:a16="http://schemas.microsoft.com/office/drawing/2014/main" val="10005"/>
                  </a:ext>
                </a:extLst>
              </a:tr>
            </a:tbl>
          </a:graphicData>
        </a:graphic>
      </p:graphicFrame>
      <p:sp>
        <p:nvSpPr>
          <p:cNvPr id="13" name="TextBox 12"/>
          <p:cNvSpPr txBox="1"/>
          <p:nvPr/>
        </p:nvSpPr>
        <p:spPr>
          <a:xfrm>
            <a:off x="7772400" y="1371600"/>
            <a:ext cx="3867912" cy="228600"/>
          </a:xfrm>
          <a:prstGeom prst="rect">
            <a:avLst/>
          </a:prstGeom>
          <a:noFill/>
        </p:spPr>
        <p:txBody>
          <a:bodyPr wrap="square" lIns="0" tIns="0" rIns="0" bIns="0" anchor="t">
            <a:spAutoFit/>
          </a:bodyPr>
          <a:lstStyle/>
          <a:p>
            <a:pPr algn="l">
              <a:lnSpc>
                <a:spcPct val="110000"/>
              </a:lnSpc>
              <a:spcAft>
                <a:spcPts val="400"/>
              </a:spcAft>
            </a:pPr>
            <a:r>
              <a:rPr sz="950" b="1" i="0">
                <a:solidFill>
                  <a:srgbClr val="3B7EA1"/>
                </a:solidFill>
                <a:latin typeface="Calibri"/>
              </a:rPr>
              <a:t>WHAT IT COST — AUDITED</a:t>
            </a:r>
          </a:p>
        </p:txBody>
      </p:sp>
      <p:graphicFrame>
        <p:nvGraphicFramePr>
          <p:cNvPr id="14" name="Table 13"/>
          <p:cNvGraphicFramePr>
            <a:graphicFrameLocks noGrp="1"/>
          </p:cNvGraphicFramePr>
          <p:nvPr/>
        </p:nvGraphicFramePr>
        <p:xfrm>
          <a:off x="7772400" y="1645920"/>
          <a:ext cx="3867910" cy="1956816"/>
        </p:xfrm>
        <a:graphic>
          <a:graphicData uri="http://schemas.openxmlformats.org/drawingml/2006/table">
            <a:tbl>
              <a:tblPr firstRow="1">
                <a:tableStyleId>{5C22544A-7EE6-4342-B048-85BDC9FD1C3A}</a:tableStyleId>
              </a:tblPr>
              <a:tblGrid>
                <a:gridCol w="1392448">
                  <a:extLst>
                    <a:ext uri="{9D8B030D-6E8A-4147-A177-3AD203B41FA5}">
                      <a16:colId xmlns:a16="http://schemas.microsoft.com/office/drawing/2014/main" val="20000"/>
                    </a:ext>
                  </a:extLst>
                </a:gridCol>
                <a:gridCol w="773582">
                  <a:extLst>
                    <a:ext uri="{9D8B030D-6E8A-4147-A177-3AD203B41FA5}">
                      <a16:colId xmlns:a16="http://schemas.microsoft.com/office/drawing/2014/main" val="20001"/>
                    </a:ext>
                  </a:extLst>
                </a:gridCol>
                <a:gridCol w="850940">
                  <a:extLst>
                    <a:ext uri="{9D8B030D-6E8A-4147-A177-3AD203B41FA5}">
                      <a16:colId xmlns:a16="http://schemas.microsoft.com/office/drawing/2014/main" val="20002"/>
                    </a:ext>
                  </a:extLst>
                </a:gridCol>
                <a:gridCol w="850940">
                  <a:extLst>
                    <a:ext uri="{9D8B030D-6E8A-4147-A177-3AD203B41FA5}">
                      <a16:colId xmlns:a16="http://schemas.microsoft.com/office/drawing/2014/main" val="20003"/>
                    </a:ext>
                  </a:extLst>
                </a:gridCol>
              </a:tblGrid>
              <a:tr h="274320">
                <a:tc>
                  <a:txBody>
                    <a:bodyPr/>
                    <a:lstStyle/>
                    <a:p>
                      <a:pPr algn="l"/>
                      <a:r>
                        <a:rPr sz="1000" b="1">
                          <a:solidFill>
                            <a:srgbClr val="FFFFFF"/>
                          </a:solidFill>
                          <a:latin typeface="Calibri"/>
                        </a:rPr>
                        <a:t>Run</a:t>
                      </a:r>
                    </a:p>
                  </a:txBody>
                  <a:tcPr marL="64008" marR="64008" marT="18288" marB="18288" anchor="ctr">
                    <a:solidFill>
                      <a:srgbClr val="003262"/>
                    </a:solidFill>
                  </a:tcPr>
                </a:tc>
                <a:tc>
                  <a:txBody>
                    <a:bodyPr/>
                    <a:lstStyle/>
                    <a:p>
                      <a:pPr algn="ctr"/>
                      <a:r>
                        <a:rPr sz="1000" b="1">
                          <a:solidFill>
                            <a:srgbClr val="FFFFFF"/>
                          </a:solidFill>
                          <a:latin typeface="Calibri"/>
                        </a:rPr>
                        <a:t>drivers</a:t>
                      </a:r>
                    </a:p>
                  </a:txBody>
                  <a:tcPr marL="64008" marR="64008" marT="18288" marB="18288" anchor="ctr">
                    <a:solidFill>
                      <a:srgbClr val="003262"/>
                    </a:solidFill>
                  </a:tcPr>
                </a:tc>
                <a:tc>
                  <a:txBody>
                    <a:bodyPr/>
                    <a:lstStyle/>
                    <a:p>
                      <a:pPr algn="r"/>
                      <a:r>
                        <a:rPr sz="1000" b="1">
                          <a:solidFill>
                            <a:srgbClr val="FFFFFF"/>
                          </a:solidFill>
                          <a:latin typeface="Calibri"/>
                        </a:rPr>
                        <a:t>calls</a:t>
                      </a:r>
                    </a:p>
                  </a:txBody>
                  <a:tcPr marL="64008" marR="64008" marT="18288" marB="18288" anchor="ctr">
                    <a:solidFill>
                      <a:srgbClr val="003262"/>
                    </a:solidFill>
                  </a:tcPr>
                </a:tc>
                <a:tc>
                  <a:txBody>
                    <a:bodyPr/>
                    <a:lstStyle/>
                    <a:p>
                      <a:pPr algn="r"/>
                      <a:r>
                        <a:rPr sz="1000" b="1">
                          <a:solidFill>
                            <a:srgbClr val="FFFFFF"/>
                          </a:solidFill>
                          <a:latin typeface="Calibri"/>
                        </a:rPr>
                        <a:t>cost</a:t>
                      </a:r>
                    </a:p>
                  </a:txBody>
                  <a:tcPr marL="64008" marR="64008" marT="18288" marB="18288" anchor="ctr">
                    <a:solidFill>
                      <a:srgbClr val="003262"/>
                    </a:solidFill>
                  </a:tcPr>
                </a:tc>
                <a:extLst>
                  <a:ext uri="{0D108BD9-81ED-4DB2-BD59-A6C34878D82A}">
                    <a16:rowId xmlns:a16="http://schemas.microsoft.com/office/drawing/2014/main" val="10000"/>
                  </a:ext>
                </a:extLst>
              </a:tr>
              <a:tr h="274320">
                <a:tc>
                  <a:txBody>
                    <a:bodyPr/>
                    <a:lstStyle/>
                    <a:p>
                      <a:pPr algn="l"/>
                      <a:r>
                        <a:rPr sz="1000" b="0">
                          <a:solidFill>
                            <a:srgbClr val="1A1A1A"/>
                          </a:solidFill>
                          <a:latin typeface="Consolas"/>
                        </a:rPr>
                        <a:t>deterministic</a:t>
                      </a:r>
                    </a:p>
                  </a:txBody>
                  <a:tcPr marL="64008" marR="64008" marT="18288" marB="18288" anchor="ctr">
                    <a:solidFill>
                      <a:srgbClr val="FFFFFF"/>
                    </a:solidFill>
                  </a:tcPr>
                </a:tc>
                <a:tc>
                  <a:txBody>
                    <a:bodyPr/>
                    <a:lstStyle/>
                    <a:p>
                      <a:pPr algn="ctr"/>
                      <a:r>
                        <a:rPr sz="1000" b="0">
                          <a:solidFill>
                            <a:srgbClr val="1A1A1A"/>
                          </a:solidFill>
                          <a:latin typeface="Calibri"/>
                        </a:rPr>
                        <a:t>4</a:t>
                      </a:r>
                    </a:p>
                  </a:txBody>
                  <a:tcPr marL="64008" marR="64008" marT="18288" marB="18288" anchor="ctr">
                    <a:solidFill>
                      <a:srgbClr val="FFFFFF"/>
                    </a:solidFill>
                  </a:tcPr>
                </a:tc>
                <a:tc>
                  <a:txBody>
                    <a:bodyPr/>
                    <a:lstStyle/>
                    <a:p>
                      <a:pPr algn="r"/>
                      <a:r>
                        <a:rPr sz="1000" b="0">
                          <a:solidFill>
                            <a:srgbClr val="1A1A1A"/>
                          </a:solidFill>
                          <a:latin typeface="Calibri"/>
                        </a:rPr>
                        <a:t>0</a:t>
                      </a:r>
                    </a:p>
                  </a:txBody>
                  <a:tcPr marL="64008" marR="64008" marT="18288" marB="18288" anchor="ctr">
                    <a:solidFill>
                      <a:srgbClr val="FFFFFF"/>
                    </a:solidFill>
                  </a:tcPr>
                </a:tc>
                <a:tc>
                  <a:txBody>
                    <a:bodyPr/>
                    <a:lstStyle/>
                    <a:p>
                      <a:pPr algn="r"/>
                      <a:r>
                        <a:rPr sz="1000" b="0">
                          <a:solidFill>
                            <a:srgbClr val="1A1A1A"/>
                          </a:solidFill>
                          <a:latin typeface="Calibri"/>
                        </a:rPr>
                        <a:t>$0.00</a:t>
                      </a:r>
                    </a:p>
                  </a:txBody>
                  <a:tcPr marL="64008" marR="64008" marT="18288" marB="18288" anchor="ctr">
                    <a:solidFill>
                      <a:srgbClr val="FFFFFF"/>
                    </a:solidFill>
                  </a:tcPr>
                </a:tc>
                <a:extLst>
                  <a:ext uri="{0D108BD9-81ED-4DB2-BD59-A6C34878D82A}">
                    <a16:rowId xmlns:a16="http://schemas.microsoft.com/office/drawing/2014/main" val="10001"/>
                  </a:ext>
                </a:extLst>
              </a:tr>
              <a:tr h="274320">
                <a:tc>
                  <a:txBody>
                    <a:bodyPr/>
                    <a:lstStyle/>
                    <a:p>
                      <a:pPr algn="l"/>
                      <a:r>
                        <a:rPr sz="1000" b="0">
                          <a:solidFill>
                            <a:srgbClr val="1A1A1A"/>
                          </a:solidFill>
                          <a:latin typeface="Consolas"/>
                        </a:rPr>
                        <a:t>vector</a:t>
                      </a:r>
                    </a:p>
                  </a:txBody>
                  <a:tcPr marL="64008" marR="64008" marT="18288" marB="18288" anchor="ctr">
                    <a:solidFill>
                      <a:srgbClr val="F3F5F8"/>
                    </a:solidFill>
                  </a:tcPr>
                </a:tc>
                <a:tc>
                  <a:txBody>
                    <a:bodyPr/>
                    <a:lstStyle/>
                    <a:p>
                      <a:pPr algn="ctr"/>
                      <a:r>
                        <a:rPr sz="1000" b="0">
                          <a:solidFill>
                            <a:srgbClr val="1A1A1A"/>
                          </a:solidFill>
                          <a:latin typeface="Calibri"/>
                        </a:rPr>
                        <a:t>4</a:t>
                      </a:r>
                    </a:p>
                  </a:txBody>
                  <a:tcPr marL="64008" marR="64008" marT="18288" marB="18288" anchor="ctr">
                    <a:solidFill>
                      <a:srgbClr val="F3F5F8"/>
                    </a:solidFill>
                  </a:tcPr>
                </a:tc>
                <a:tc>
                  <a:txBody>
                    <a:bodyPr/>
                    <a:lstStyle/>
                    <a:p>
                      <a:pPr algn="r"/>
                      <a:r>
                        <a:rPr sz="1000" b="0">
                          <a:solidFill>
                            <a:srgbClr val="1A1A1A"/>
                          </a:solidFill>
                          <a:latin typeface="Calibri"/>
                        </a:rPr>
                        <a:t>1,252</a:t>
                      </a:r>
                    </a:p>
                  </a:txBody>
                  <a:tcPr marL="64008" marR="64008" marT="18288" marB="18288" anchor="ctr">
                    <a:solidFill>
                      <a:srgbClr val="F3F5F8"/>
                    </a:solidFill>
                  </a:tcPr>
                </a:tc>
                <a:tc>
                  <a:txBody>
                    <a:bodyPr/>
                    <a:lstStyle/>
                    <a:p>
                      <a:pPr algn="r"/>
                      <a:r>
                        <a:rPr sz="1000" b="0">
                          <a:solidFill>
                            <a:srgbClr val="1A1A1A"/>
                          </a:solidFill>
                          <a:latin typeface="Calibri"/>
                        </a:rPr>
                        <a:t>$0.94</a:t>
                      </a:r>
                    </a:p>
                  </a:txBody>
                  <a:tcPr marL="64008" marR="64008" marT="18288" marB="18288" anchor="ctr">
                    <a:solidFill>
                      <a:srgbClr val="F3F5F8"/>
                    </a:solidFill>
                  </a:tcPr>
                </a:tc>
                <a:extLst>
                  <a:ext uri="{0D108BD9-81ED-4DB2-BD59-A6C34878D82A}">
                    <a16:rowId xmlns:a16="http://schemas.microsoft.com/office/drawing/2014/main" val="10002"/>
                  </a:ext>
                </a:extLst>
              </a:tr>
              <a:tr h="274320">
                <a:tc>
                  <a:txBody>
                    <a:bodyPr/>
                    <a:lstStyle/>
                    <a:p>
                      <a:pPr algn="l"/>
                      <a:r>
                        <a:rPr sz="1000" b="0">
                          <a:solidFill>
                            <a:srgbClr val="1A1A1A"/>
                          </a:solidFill>
                          <a:latin typeface="Consolas"/>
                        </a:rPr>
                        <a:t>text</a:t>
                      </a:r>
                    </a:p>
                  </a:txBody>
                  <a:tcPr marL="64008" marR="64008" marT="18288" marB="18288" anchor="ctr">
                    <a:solidFill>
                      <a:srgbClr val="FFFFFF"/>
                    </a:solidFill>
                  </a:tcPr>
                </a:tc>
                <a:tc>
                  <a:txBody>
                    <a:bodyPr/>
                    <a:lstStyle/>
                    <a:p>
                      <a:pPr algn="ctr"/>
                      <a:r>
                        <a:rPr sz="1000" b="0">
                          <a:solidFill>
                            <a:srgbClr val="1A1A1A"/>
                          </a:solidFill>
                          <a:latin typeface="Calibri"/>
                        </a:rPr>
                        <a:t>4</a:t>
                      </a:r>
                    </a:p>
                  </a:txBody>
                  <a:tcPr marL="64008" marR="64008" marT="18288" marB="18288" anchor="ctr">
                    <a:solidFill>
                      <a:srgbClr val="FFFFFF"/>
                    </a:solidFill>
                  </a:tcPr>
                </a:tc>
                <a:tc>
                  <a:txBody>
                    <a:bodyPr/>
                    <a:lstStyle/>
                    <a:p>
                      <a:pPr algn="r"/>
                      <a:r>
                        <a:rPr sz="1000" b="0">
                          <a:solidFill>
                            <a:srgbClr val="1A1A1A"/>
                          </a:solidFill>
                          <a:latin typeface="Calibri"/>
                        </a:rPr>
                        <a:t>1,252</a:t>
                      </a:r>
                    </a:p>
                  </a:txBody>
                  <a:tcPr marL="64008" marR="64008" marT="18288" marB="18288" anchor="ctr">
                    <a:solidFill>
                      <a:srgbClr val="FFFFFF"/>
                    </a:solidFill>
                  </a:tcPr>
                </a:tc>
                <a:tc>
                  <a:txBody>
                    <a:bodyPr/>
                    <a:lstStyle/>
                    <a:p>
                      <a:pPr algn="r"/>
                      <a:r>
                        <a:rPr sz="1000" b="0">
                          <a:solidFill>
                            <a:srgbClr val="1A1A1A"/>
                          </a:solidFill>
                          <a:latin typeface="Calibri"/>
                        </a:rPr>
                        <a:t>$1.57</a:t>
                      </a:r>
                    </a:p>
                  </a:txBody>
                  <a:tcPr marL="64008" marR="64008" marT="18288" marB="18288" anchor="ctr">
                    <a:solidFill>
                      <a:srgbClr val="FFFFFF"/>
                    </a:solidFill>
                  </a:tcPr>
                </a:tc>
                <a:extLst>
                  <a:ext uri="{0D108BD9-81ED-4DB2-BD59-A6C34878D82A}">
                    <a16:rowId xmlns:a16="http://schemas.microsoft.com/office/drawing/2014/main" val="10003"/>
                  </a:ext>
                </a:extLst>
              </a:tr>
              <a:tr h="274320">
                <a:tc>
                  <a:txBody>
                    <a:bodyPr/>
                    <a:lstStyle/>
                    <a:p>
                      <a:pPr algn="l"/>
                      <a:r>
                        <a:rPr sz="1000" b="0">
                          <a:solidFill>
                            <a:srgbClr val="1A1A1A"/>
                          </a:solidFill>
                          <a:latin typeface="Consolas"/>
                        </a:rPr>
                        <a:t>text + vector</a:t>
                      </a:r>
                    </a:p>
                  </a:txBody>
                  <a:tcPr marL="64008" marR="64008" marT="18288" marB="18288" anchor="ctr">
                    <a:solidFill>
                      <a:srgbClr val="F3F5F8"/>
                    </a:solidFill>
                  </a:tcPr>
                </a:tc>
                <a:tc>
                  <a:txBody>
                    <a:bodyPr/>
                    <a:lstStyle/>
                    <a:p>
                      <a:pPr algn="ctr"/>
                      <a:r>
                        <a:rPr sz="1000" b="0">
                          <a:solidFill>
                            <a:srgbClr val="1A1A1A"/>
                          </a:solidFill>
                          <a:latin typeface="Calibri"/>
                        </a:rPr>
                        <a:t>4</a:t>
                      </a:r>
                    </a:p>
                  </a:txBody>
                  <a:tcPr marL="64008" marR="64008" marT="18288" marB="18288" anchor="ctr">
                    <a:solidFill>
                      <a:srgbClr val="F3F5F8"/>
                    </a:solidFill>
                  </a:tcPr>
                </a:tc>
                <a:tc>
                  <a:txBody>
                    <a:bodyPr/>
                    <a:lstStyle/>
                    <a:p>
                      <a:pPr algn="r"/>
                      <a:r>
                        <a:rPr sz="1000" b="0">
                          <a:solidFill>
                            <a:srgbClr val="1A1A1A"/>
                          </a:solidFill>
                          <a:latin typeface="Calibri"/>
                        </a:rPr>
                        <a:t>1,252</a:t>
                      </a:r>
                    </a:p>
                  </a:txBody>
                  <a:tcPr marL="64008" marR="64008" marT="18288" marB="18288" anchor="ctr">
                    <a:solidFill>
                      <a:srgbClr val="F3F5F8"/>
                    </a:solidFill>
                  </a:tcPr>
                </a:tc>
                <a:tc>
                  <a:txBody>
                    <a:bodyPr/>
                    <a:lstStyle/>
                    <a:p>
                      <a:pPr algn="r"/>
                      <a:r>
                        <a:rPr sz="1000" b="0">
                          <a:solidFill>
                            <a:srgbClr val="1A1A1A"/>
                          </a:solidFill>
                          <a:latin typeface="Calibri"/>
                        </a:rPr>
                        <a:t>$1.75</a:t>
                      </a:r>
                    </a:p>
                  </a:txBody>
                  <a:tcPr marL="64008" marR="64008" marT="18288" marB="18288" anchor="ctr">
                    <a:solidFill>
                      <a:srgbClr val="F3F5F8"/>
                    </a:solidFill>
                  </a:tcPr>
                </a:tc>
                <a:extLst>
                  <a:ext uri="{0D108BD9-81ED-4DB2-BD59-A6C34878D82A}">
                    <a16:rowId xmlns:a16="http://schemas.microsoft.com/office/drawing/2014/main" val="10004"/>
                  </a:ext>
                </a:extLst>
              </a:tr>
              <a:tr h="274320">
                <a:tc>
                  <a:txBody>
                    <a:bodyPr/>
                    <a:lstStyle/>
                    <a:p>
                      <a:pPr algn="l"/>
                      <a:r>
                        <a:rPr sz="1000" b="0">
                          <a:solidFill>
                            <a:srgbClr val="1A1A1A"/>
                          </a:solidFill>
                          <a:latin typeface="Consolas"/>
                        </a:rPr>
                        <a:t>text + vector</a:t>
                      </a:r>
                    </a:p>
                  </a:txBody>
                  <a:tcPr marL="64008" marR="64008" marT="18288" marB="18288" anchor="ctr">
                    <a:solidFill>
                      <a:srgbClr val="FFFFFF"/>
                    </a:solidFill>
                  </a:tcPr>
                </a:tc>
                <a:tc>
                  <a:txBody>
                    <a:bodyPr/>
                    <a:lstStyle/>
                    <a:p>
                      <a:pPr algn="ctr"/>
                      <a:r>
                        <a:rPr sz="1000" b="0">
                          <a:solidFill>
                            <a:srgbClr val="1A1A1A"/>
                          </a:solidFill>
                          <a:latin typeface="Calibri"/>
                        </a:rPr>
                        <a:t>7</a:t>
                      </a:r>
                    </a:p>
                  </a:txBody>
                  <a:tcPr marL="64008" marR="64008" marT="18288" marB="18288" anchor="ctr">
                    <a:solidFill>
                      <a:srgbClr val="FFFFFF"/>
                    </a:solidFill>
                  </a:tcPr>
                </a:tc>
                <a:tc>
                  <a:txBody>
                    <a:bodyPr/>
                    <a:lstStyle/>
                    <a:p>
                      <a:pPr algn="r"/>
                      <a:r>
                        <a:rPr sz="1000" b="0">
                          <a:solidFill>
                            <a:srgbClr val="1A1A1A"/>
                          </a:solidFill>
                          <a:latin typeface="Calibri"/>
                        </a:rPr>
                        <a:t>2,191</a:t>
                      </a:r>
                    </a:p>
                  </a:txBody>
                  <a:tcPr marL="64008" marR="64008" marT="18288" marB="18288" anchor="ctr">
                    <a:solidFill>
                      <a:srgbClr val="FFFFFF"/>
                    </a:solidFill>
                  </a:tcPr>
                </a:tc>
                <a:tc>
                  <a:txBody>
                    <a:bodyPr/>
                    <a:lstStyle/>
                    <a:p>
                      <a:pPr algn="r"/>
                      <a:r>
                        <a:rPr sz="1000" b="0">
                          <a:solidFill>
                            <a:srgbClr val="1A1A1A"/>
                          </a:solidFill>
                          <a:latin typeface="Calibri"/>
                        </a:rPr>
                        <a:t>$3.05</a:t>
                      </a:r>
                    </a:p>
                  </a:txBody>
                  <a:tcPr marL="64008" marR="64008" marT="18288" marB="18288" anchor="ctr">
                    <a:solidFill>
                      <a:srgbClr val="FFFFFF"/>
                    </a:solidFill>
                  </a:tcPr>
                </a:tc>
                <a:extLst>
                  <a:ext uri="{0D108BD9-81ED-4DB2-BD59-A6C34878D82A}">
                    <a16:rowId xmlns:a16="http://schemas.microsoft.com/office/drawing/2014/main" val="10005"/>
                  </a:ext>
                </a:extLst>
              </a:tr>
              <a:tr h="274320">
                <a:tc>
                  <a:txBody>
                    <a:bodyPr/>
                    <a:lstStyle/>
                    <a:p>
                      <a:pPr algn="l"/>
                      <a:r>
                        <a:rPr sz="1000" b="0">
                          <a:solidFill>
                            <a:srgbClr val="1A1A1A"/>
                          </a:solidFill>
                          <a:latin typeface="Consolas"/>
                        </a:rPr>
                        <a:t>total</a:t>
                      </a:r>
                    </a:p>
                  </a:txBody>
                  <a:tcPr marL="64008" marR="64008" marT="18288" marB="18288" anchor="ctr">
                    <a:solidFill>
                      <a:srgbClr val="F3F5F8"/>
                    </a:solidFill>
                  </a:tcPr>
                </a:tc>
                <a:tc>
                  <a:txBody>
                    <a:bodyPr/>
                    <a:lstStyle/>
                    <a:p>
                      <a:pPr algn="ctr"/>
                      <a:endParaRPr/>
                    </a:p>
                  </a:txBody>
                  <a:tcPr marL="64008" marR="64008" marT="18288" marB="18288" anchor="ctr">
                    <a:solidFill>
                      <a:srgbClr val="F3F5F8"/>
                    </a:solidFill>
                  </a:tcPr>
                </a:tc>
                <a:tc>
                  <a:txBody>
                    <a:bodyPr/>
                    <a:lstStyle/>
                    <a:p>
                      <a:pPr algn="r"/>
                      <a:r>
                        <a:rPr sz="1000" b="0">
                          <a:solidFill>
                            <a:srgbClr val="1A1A1A"/>
                          </a:solidFill>
                          <a:latin typeface="Calibri"/>
                        </a:rPr>
                        <a:t>5,947</a:t>
                      </a:r>
                    </a:p>
                  </a:txBody>
                  <a:tcPr marL="64008" marR="64008" marT="18288" marB="18288" anchor="ctr">
                    <a:solidFill>
                      <a:srgbClr val="F3F5F8"/>
                    </a:solidFill>
                  </a:tcPr>
                </a:tc>
                <a:tc>
                  <a:txBody>
                    <a:bodyPr/>
                    <a:lstStyle/>
                    <a:p>
                      <a:pPr algn="r"/>
                      <a:r>
                        <a:rPr sz="1000" b="0">
                          <a:solidFill>
                            <a:srgbClr val="1A1A1A"/>
                          </a:solidFill>
                          <a:latin typeface="Calibri"/>
                        </a:rPr>
                        <a:t>$7.31</a:t>
                      </a:r>
                    </a:p>
                  </a:txBody>
                  <a:tcPr marL="64008" marR="64008" marT="18288" marB="18288" anchor="ctr">
                    <a:solidFill>
                      <a:srgbClr val="F3F5F8"/>
                    </a:solidFill>
                  </a:tcPr>
                </a:tc>
                <a:extLst>
                  <a:ext uri="{0D108BD9-81ED-4DB2-BD59-A6C34878D82A}">
                    <a16:rowId xmlns:a16="http://schemas.microsoft.com/office/drawing/2014/main" val="10006"/>
                  </a:ext>
                </a:extLst>
              </a:tr>
            </a:tbl>
          </a:graphicData>
        </a:graphic>
      </p:graphicFrame>
      <p:sp>
        <p:nvSpPr>
          <p:cNvPr id="15" name="TextBox 14"/>
          <p:cNvSpPr txBox="1"/>
          <p:nvPr/>
        </p:nvSpPr>
        <p:spPr>
          <a:xfrm>
            <a:off x="7772400" y="3611880"/>
            <a:ext cx="3867912" cy="2194560"/>
          </a:xfrm>
          <a:prstGeom prst="rect">
            <a:avLst/>
          </a:prstGeom>
          <a:noFill/>
        </p:spPr>
        <p:txBody>
          <a:bodyPr wrap="square" lIns="0" tIns="0" rIns="0" bIns="0" anchor="t">
            <a:spAutoFit/>
          </a:bodyPr>
          <a:lstStyle/>
          <a:p>
            <a:pPr algn="l">
              <a:lnSpc>
                <a:spcPct val="120000"/>
              </a:lnSpc>
              <a:spcAft>
                <a:spcPts val="600"/>
              </a:spcAft>
            </a:pPr>
            <a:r>
              <a:rPr sz="1000" b="0" i="0">
                <a:solidFill>
                  <a:srgbClr val="6E6E6E"/>
                </a:solidFill>
                <a:latin typeface="Calibri"/>
              </a:rPr>
              <a:t>claude-haiku-4-5  ·  0 retries  ·  17.5h wall clock  ·  4.51M input tokens</a:t>
            </a:r>
          </a:p>
          <a:p>
            <a:pPr algn="l">
              <a:lnSpc>
                <a:spcPct val="120000"/>
              </a:lnSpc>
              <a:spcAft>
                <a:spcPts val="600"/>
              </a:spcAft>
            </a:pPr>
            <a:r>
              <a:rPr sz="1150" b="1" i="0">
                <a:solidFill>
                  <a:srgbClr val="003262"/>
                </a:solidFill>
                <a:latin typeface="Calibri"/>
              </a:rPr>
              <a:t>The leak verdict the code computes</a:t>
            </a:r>
          </a:p>
          <a:p>
            <a:pPr algn="l">
              <a:lnSpc>
                <a:spcPct val="120000"/>
              </a:lnSpc>
              <a:spcAft>
                <a:spcPts val="600"/>
              </a:spcAft>
            </a:pPr>
            <a:r>
              <a:rPr sz="1000" b="0" i="0">
                <a:solidFill>
                  <a:srgbClr val="1A1A1A"/>
                </a:solidFill>
                <a:latin typeface="Calibri"/>
              </a:rPr>
              <a:t>Thresholds: a gain ≤ 0.02 is no signal; override_hit needs ≥ 10 overrides to be evidence. Across 12 driver × arm cells: 1 possible leak (text × balance_sheet), 3 small-but-unconfirmed, 8 no signal.</a:t>
            </a:r>
          </a:p>
          <a:p>
            <a:pPr algn="l">
              <a:lnSpc>
                <a:spcPct val="120000"/>
              </a:lnSpc>
              <a:spcAft>
                <a:spcPts val="600"/>
              </a:spcAft>
            </a:pPr>
            <a:r>
              <a:rPr sz="1150" b="1" i="0">
                <a:solidFill>
                  <a:srgbClr val="9B2226"/>
                </a:solidFill>
                <a:latin typeface="Calibri"/>
              </a:rPr>
              <a:t>Two caveats</a:t>
            </a:r>
          </a:p>
          <a:p>
            <a:pPr algn="l">
              <a:lnSpc>
                <a:spcPct val="120000"/>
              </a:lnSpc>
              <a:spcAft>
                <a:spcPts val="600"/>
              </a:spcAft>
            </a:pPr>
            <a:r>
              <a:rPr sz="1000" b="0" i="0">
                <a:solidFill>
                  <a:srgbClr val="1A1A1A"/>
                </a:solidFill>
                <a:latin typeface="Calibri"/>
              </a:rPr>
              <a:t>The four older reports still print “possible training-cutoff leak” on every row — a fixed template that never read the numbers, fixed in 7b7b68c but not regenerated. And the 2019–2024 window has no post-cutoff control, so this test is inconclusive by construction.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10896"/>
            <a:ext cx="11094415" cy="219456"/>
          </a:xfrm>
          <a:prstGeom prst="rect">
            <a:avLst/>
          </a:prstGeom>
          <a:noFill/>
        </p:spPr>
        <p:txBody>
          <a:bodyPr wrap="square" lIns="0" tIns="0" rIns="0" bIns="0" anchor="t">
            <a:spAutoFit/>
          </a:bodyPr>
          <a:lstStyle/>
          <a:p>
            <a:pPr algn="l">
              <a:lnSpc>
                <a:spcPct val="110000"/>
              </a:lnSpc>
              <a:spcAft>
                <a:spcPts val="400"/>
              </a:spcAft>
            </a:pPr>
            <a:r>
              <a:rPr sz="1050" b="1" i="0">
                <a:solidFill>
                  <a:srgbClr val="FDB515"/>
                </a:solidFill>
                <a:latin typeface="Calibri"/>
              </a:rPr>
              <a:t>APPENDIX</a:t>
            </a:r>
          </a:p>
        </p:txBody>
      </p:sp>
      <p:sp>
        <p:nvSpPr>
          <p:cNvPr id="3" name="TextBox 2"/>
          <p:cNvSpPr txBox="1"/>
          <p:nvPr/>
        </p:nvSpPr>
        <p:spPr>
          <a:xfrm>
            <a:off x="548640" y="603504"/>
            <a:ext cx="11094415" cy="548640"/>
          </a:xfrm>
          <a:prstGeom prst="rect">
            <a:avLst/>
          </a:prstGeom>
          <a:noFill/>
        </p:spPr>
        <p:txBody>
          <a:bodyPr wrap="square" lIns="0" tIns="0" rIns="0" bIns="0" anchor="t">
            <a:spAutoFit/>
          </a:bodyPr>
          <a:lstStyle/>
          <a:p>
            <a:pPr algn="l">
              <a:lnSpc>
                <a:spcPct val="105000"/>
              </a:lnSpc>
              <a:spcAft>
                <a:spcPts val="400"/>
              </a:spcAft>
            </a:pPr>
            <a:r>
              <a:rPr sz="2700" b="1" i="0">
                <a:solidFill>
                  <a:srgbClr val="003262"/>
                </a:solidFill>
                <a:latin typeface="Calibri"/>
              </a:rPr>
              <a:t>The seven-analyst run, and what runs offline</a:t>
            </a:r>
          </a:p>
        </p:txBody>
      </p:sp>
      <p:sp>
        <p:nvSpPr>
          <p:cNvPr id="4" name="Rectangle 3"/>
          <p:cNvSpPr/>
          <p:nvPr/>
        </p:nvSpPr>
        <p:spPr>
          <a:xfrm>
            <a:off x="548640" y="1225296"/>
            <a:ext cx="1371600" cy="50292"/>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548640" y="6345936"/>
            <a:ext cx="11094415" cy="9525"/>
          </a:xfrm>
          <a:prstGeom prst="rect">
            <a:avLst/>
          </a:prstGeom>
          <a:solidFill>
            <a:srgbClr val="DDD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640" y="6419088"/>
            <a:ext cx="2194560" cy="329184"/>
          </a:xfrm>
          <a:prstGeom prst="rect">
            <a:avLst/>
          </a:prstGeom>
          <a:noFill/>
        </p:spPr>
        <p:txBody>
          <a:bodyPr wrap="square" lIns="0" tIns="0" rIns="0" bIns="0" anchor="ctr">
            <a:spAutoFit/>
          </a:bodyPr>
          <a:lstStyle/>
          <a:p>
            <a:pPr algn="l">
              <a:lnSpc>
                <a:spcPct val="110000"/>
              </a:lnSpc>
              <a:spcAft>
                <a:spcPts val="400"/>
              </a:spcAft>
            </a:pPr>
            <a:r>
              <a:rPr sz="1500" b="1" i="0">
                <a:solidFill>
                  <a:srgbClr val="003262"/>
                </a:solidFill>
                <a:latin typeface="Calibri"/>
              </a:rPr>
              <a:t>Berkeley</a:t>
            </a:r>
            <a:r>
              <a:rPr sz="1300" b="0" i="0">
                <a:solidFill>
                  <a:srgbClr val="FDB515"/>
                </a:solidFill>
                <a:latin typeface="Calibri"/>
              </a:rPr>
              <a:t>  |  </a:t>
            </a:r>
            <a:r>
              <a:rPr sz="1100" b="1" i="0">
                <a:solidFill>
                  <a:srgbClr val="3B7EA1"/>
                </a:solidFill>
                <a:latin typeface="Calibri"/>
              </a:rPr>
              <a:t>MFE</a:t>
            </a:r>
          </a:p>
        </p:txBody>
      </p:sp>
      <p:sp>
        <p:nvSpPr>
          <p:cNvPr id="7" name="TextBox 6"/>
          <p:cNvSpPr txBox="1"/>
          <p:nvPr/>
        </p:nvSpPr>
        <p:spPr>
          <a:xfrm>
            <a:off x="9814255" y="6419088"/>
            <a:ext cx="1828800" cy="329184"/>
          </a:xfrm>
          <a:prstGeom prst="rect">
            <a:avLst/>
          </a:prstGeom>
          <a:noFill/>
        </p:spPr>
        <p:txBody>
          <a:bodyPr wrap="square" lIns="0" tIns="0" rIns="0" bIns="0" anchor="ctr">
            <a:spAutoFit/>
          </a:bodyPr>
          <a:lstStyle/>
          <a:p>
            <a:pPr algn="r">
              <a:lnSpc>
                <a:spcPct val="110000"/>
              </a:lnSpc>
              <a:spcAft>
                <a:spcPts val="400"/>
              </a:spcAft>
            </a:pPr>
            <a:r>
              <a:rPr sz="1300" b="1" i="0">
                <a:solidFill>
                  <a:srgbClr val="1A1A1A"/>
                </a:solidFill>
                <a:latin typeface="Calibri"/>
              </a:rPr>
              <a:t>BLACKROCK</a:t>
            </a:r>
          </a:p>
        </p:txBody>
      </p:sp>
      <p:sp>
        <p:nvSpPr>
          <p:cNvPr id="8" name="TextBox 7"/>
          <p:cNvSpPr txBox="1"/>
          <p:nvPr/>
        </p:nvSpPr>
        <p:spPr>
          <a:xfrm>
            <a:off x="5730087" y="6446520"/>
            <a:ext cx="731520" cy="274320"/>
          </a:xfrm>
          <a:prstGeom prst="rect">
            <a:avLst/>
          </a:prstGeom>
          <a:noFill/>
        </p:spPr>
        <p:txBody>
          <a:bodyPr wrap="square" lIns="0" tIns="0" rIns="0" bIns="0" anchor="ctr">
            <a:spAutoFit/>
          </a:bodyPr>
          <a:lstStyle/>
          <a:p>
            <a:pPr algn="ctr">
              <a:lnSpc>
                <a:spcPct val="110000"/>
              </a:lnSpc>
              <a:spcAft>
                <a:spcPts val="400"/>
              </a:spcAft>
            </a:pPr>
            <a:r>
              <a:rPr sz="1000" b="0" i="0">
                <a:solidFill>
                  <a:srgbClr val="6E6E6E"/>
                </a:solidFill>
                <a:latin typeface="Calibri"/>
              </a:rPr>
              <a:t>18</a:t>
            </a:r>
          </a:p>
        </p:txBody>
      </p:sp>
      <p:sp>
        <p:nvSpPr>
          <p:cNvPr id="9" name="TextBox 8"/>
          <p:cNvSpPr txBox="1"/>
          <p:nvPr/>
        </p:nvSpPr>
        <p:spPr>
          <a:xfrm>
            <a:off x="548640" y="1371600"/>
            <a:ext cx="6858000" cy="228600"/>
          </a:xfrm>
          <a:prstGeom prst="rect">
            <a:avLst/>
          </a:prstGeom>
          <a:noFill/>
        </p:spPr>
        <p:txBody>
          <a:bodyPr wrap="square" lIns="0" tIns="0" rIns="0" bIns="0" anchor="t">
            <a:spAutoFit/>
          </a:bodyPr>
          <a:lstStyle/>
          <a:p>
            <a:pPr algn="l">
              <a:lnSpc>
                <a:spcPct val="110000"/>
              </a:lnSpc>
              <a:spcAft>
                <a:spcPts val="400"/>
              </a:spcAft>
            </a:pPr>
            <a:r>
              <a:rPr sz="950" b="1" i="0">
                <a:solidFill>
                  <a:srgbClr val="3B7EA1"/>
                </a:solidFill>
                <a:latin typeface="Calibri"/>
              </a:rPr>
              <a:t>ALL SEVEN ANALYSTS  ·  text+vector only, 2,191 calls, $3.05 — so this is NOT an A/B</a:t>
            </a:r>
          </a:p>
        </p:txBody>
      </p:sp>
      <p:graphicFrame>
        <p:nvGraphicFramePr>
          <p:cNvPr id="10" name="Table 9"/>
          <p:cNvGraphicFramePr>
            <a:graphicFrameLocks noGrp="1"/>
          </p:cNvGraphicFramePr>
          <p:nvPr/>
        </p:nvGraphicFramePr>
        <p:xfrm>
          <a:off x="548640" y="1645920"/>
          <a:ext cx="6858000" cy="2194560"/>
        </p:xfrm>
        <a:graphic>
          <a:graphicData uri="http://schemas.openxmlformats.org/drawingml/2006/table">
            <a:tbl>
              <a:tblPr firstRow="1">
                <a:tableStyleId>{5C22544A-7EE6-4342-B048-85BDC9FD1C3A}</a:tableStyleId>
              </a:tblPr>
              <a:tblGrid>
                <a:gridCol w="233172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tblGrid>
              <a:tr h="274320">
                <a:tc>
                  <a:txBody>
                    <a:bodyPr/>
                    <a:lstStyle/>
                    <a:p>
                      <a:pPr algn="l"/>
                      <a:r>
                        <a:rPr sz="1000" b="1">
                          <a:solidFill>
                            <a:srgbClr val="FFFFFF"/>
                          </a:solidFill>
                          <a:latin typeface="Calibri"/>
                        </a:rPr>
                        <a:t>Driver</a:t>
                      </a:r>
                    </a:p>
                  </a:txBody>
                  <a:tcPr marL="64008" marR="64008" marT="18288" marB="18288" anchor="ctr">
                    <a:solidFill>
                      <a:srgbClr val="003262"/>
                    </a:solidFill>
                  </a:tcPr>
                </a:tc>
                <a:tc>
                  <a:txBody>
                    <a:bodyPr/>
                    <a:lstStyle/>
                    <a:p>
                      <a:pPr algn="ctr"/>
                      <a:r>
                        <a:rPr sz="1000" b="1">
                          <a:solidFill>
                            <a:srgbClr val="FFFFFF"/>
                          </a:solidFill>
                          <a:latin typeface="Calibri"/>
                        </a:rPr>
                        <a:t>own_corr</a:t>
                      </a:r>
                    </a:p>
                  </a:txBody>
                  <a:tcPr marL="64008" marR="64008" marT="18288" marB="18288" anchor="ctr">
                    <a:solidFill>
                      <a:srgbClr val="003262"/>
                    </a:solidFill>
                  </a:tcPr>
                </a:tc>
                <a:tc>
                  <a:txBody>
                    <a:bodyPr/>
                    <a:lstStyle/>
                    <a:p>
                      <a:pPr algn="ctr"/>
                      <a:r>
                        <a:rPr sz="1000" b="1">
                          <a:solidFill>
                            <a:srgbClr val="FFFFFF"/>
                          </a:solidFill>
                          <a:latin typeface="Calibri"/>
                        </a:rPr>
                        <a:t>hit</a:t>
                      </a:r>
                    </a:p>
                  </a:txBody>
                  <a:tcPr marL="64008" marR="64008" marT="18288" marB="18288" anchor="ctr">
                    <a:solidFill>
                      <a:srgbClr val="003262"/>
                    </a:solidFill>
                  </a:tcPr>
                </a:tc>
                <a:tc>
                  <a:txBody>
                    <a:bodyPr/>
                    <a:lstStyle/>
                    <a:p>
                      <a:pPr algn="ctr"/>
                      <a:r>
                        <a:rPr sz="1000" b="1">
                          <a:solidFill>
                            <a:srgbClr val="FFFFFF"/>
                          </a:solidFill>
                          <a:latin typeface="Calibri"/>
                        </a:rPr>
                        <a:t>edge</a:t>
                      </a:r>
                    </a:p>
                  </a:txBody>
                  <a:tcPr marL="64008" marR="64008" marT="18288" marB="18288" anchor="ctr">
                    <a:solidFill>
                      <a:srgbClr val="003262"/>
                    </a:solidFill>
                  </a:tcPr>
                </a:tc>
                <a:tc>
                  <a:txBody>
                    <a:bodyPr/>
                    <a:lstStyle/>
                    <a:p>
                      <a:pPr algn="ctr"/>
                      <a:r>
                        <a:rPr sz="1000" b="1">
                          <a:solidFill>
                            <a:srgbClr val="FFFFFF"/>
                          </a:solidFill>
                          <a:latin typeface="Calibri"/>
                        </a:rPr>
                        <a:t>gain</a:t>
                      </a:r>
                    </a:p>
                  </a:txBody>
                  <a:tcPr marL="64008" marR="64008" marT="18288" marB="18288" anchor="ctr">
                    <a:solidFill>
                      <a:srgbClr val="003262"/>
                    </a:solidFill>
                  </a:tcPr>
                </a:tc>
                <a:tc>
                  <a:txBody>
                    <a:bodyPr/>
                    <a:lstStyle/>
                    <a:p>
                      <a:pPr algn="ctr"/>
                      <a:r>
                        <a:rPr sz="1000" b="1">
                          <a:solidFill>
                            <a:srgbClr val="FFFFFF"/>
                          </a:solidFill>
                          <a:latin typeface="Calibri"/>
                        </a:rPr>
                        <a:t>ovr</a:t>
                      </a:r>
                    </a:p>
                  </a:txBody>
                  <a:tcPr marL="64008" marR="64008" marT="18288" marB="18288" anchor="ctr">
                    <a:solidFill>
                      <a:srgbClr val="003262"/>
                    </a:solidFill>
                  </a:tcPr>
                </a:tc>
                <a:extLst>
                  <a:ext uri="{0D108BD9-81ED-4DB2-BD59-A6C34878D82A}">
                    <a16:rowId xmlns:a16="http://schemas.microsoft.com/office/drawing/2014/main" val="10000"/>
                  </a:ext>
                </a:extLst>
              </a:tr>
              <a:tr h="274320">
                <a:tc>
                  <a:txBody>
                    <a:bodyPr/>
                    <a:lstStyle/>
                    <a:p>
                      <a:pPr algn="l"/>
                      <a:r>
                        <a:rPr sz="1000" b="0">
                          <a:solidFill>
                            <a:srgbClr val="1A1A1A"/>
                          </a:solidFill>
                          <a:latin typeface="Consolas"/>
                        </a:rPr>
                        <a:t>inflation</a:t>
                      </a:r>
                    </a:p>
                  </a:txBody>
                  <a:tcPr marL="64008" marR="64008" marT="18288" marB="18288" anchor="ctr">
                    <a:solidFill>
                      <a:srgbClr val="FFFFFF"/>
                    </a:solidFill>
                  </a:tcPr>
                </a:tc>
                <a:tc>
                  <a:txBody>
                    <a:bodyPr/>
                    <a:lstStyle/>
                    <a:p>
                      <a:pPr algn="ctr"/>
                      <a:r>
                        <a:rPr sz="1000" b="0">
                          <a:solidFill>
                            <a:srgbClr val="1A1A1A"/>
                          </a:solidFill>
                          <a:latin typeface="Calibri"/>
                        </a:rPr>
                        <a:t>0.901</a:t>
                      </a:r>
                    </a:p>
                  </a:txBody>
                  <a:tcPr marL="64008" marR="64008" marT="18288" marB="18288" anchor="ctr">
                    <a:solidFill>
                      <a:srgbClr val="FFFFFF"/>
                    </a:solidFill>
                  </a:tcPr>
                </a:tc>
                <a:tc>
                  <a:txBody>
                    <a:bodyPr/>
                    <a:lstStyle/>
                    <a:p>
                      <a:pPr algn="ctr"/>
                      <a:r>
                        <a:rPr sz="1000" b="0">
                          <a:solidFill>
                            <a:srgbClr val="1A1A1A"/>
                          </a:solidFill>
                          <a:latin typeface="Calibri"/>
                        </a:rPr>
                        <a:t>0.559</a:t>
                      </a:r>
                    </a:p>
                  </a:txBody>
                  <a:tcPr marL="64008" marR="64008" marT="18288" marB="18288" anchor="ctr">
                    <a:solidFill>
                      <a:srgbClr val="FFFFFF"/>
                    </a:solidFill>
                  </a:tcPr>
                </a:tc>
                <a:tc>
                  <a:txBody>
                    <a:bodyPr/>
                    <a:lstStyle/>
                    <a:p>
                      <a:pPr algn="ctr"/>
                      <a:r>
                        <a:rPr sz="1000" b="0">
                          <a:solidFill>
                            <a:srgbClr val="1E6B3A"/>
                          </a:solidFill>
                          <a:latin typeface="Calibri"/>
                        </a:rPr>
                        <a:t>+0.059</a:t>
                      </a:r>
                    </a:p>
                  </a:txBody>
                  <a:tcPr marL="64008" marR="64008" marT="18288" marB="18288" anchor="ctr">
                    <a:solidFill>
                      <a:srgbClr val="FFFFFF"/>
                    </a:solidFill>
                  </a:tcPr>
                </a:tc>
                <a:tc>
                  <a:txBody>
                    <a:bodyPr/>
                    <a:lstStyle/>
                    <a:p>
                      <a:pPr algn="ctr"/>
                      <a:r>
                        <a:rPr sz="1000" b="0">
                          <a:solidFill>
                            <a:srgbClr val="1A1A1A"/>
                          </a:solidFill>
                          <a:latin typeface="Calibri"/>
                        </a:rPr>
                        <a:t>−0.003</a:t>
                      </a:r>
                    </a:p>
                  </a:txBody>
                  <a:tcPr marL="64008" marR="64008" marT="18288" marB="18288" anchor="ctr">
                    <a:solidFill>
                      <a:srgbClr val="FFFFFF"/>
                    </a:solidFill>
                  </a:tcPr>
                </a:tc>
                <a:tc>
                  <a:txBody>
                    <a:bodyPr/>
                    <a:lstStyle/>
                    <a:p>
                      <a:pPr algn="ctr"/>
                      <a:r>
                        <a:rPr sz="1000" b="0">
                          <a:solidFill>
                            <a:srgbClr val="1A1A1A"/>
                          </a:solidFill>
                          <a:latin typeface="Calibri"/>
                        </a:rPr>
                        <a:t>35</a:t>
                      </a:r>
                    </a:p>
                  </a:txBody>
                  <a:tcPr marL="64008" marR="64008" marT="18288" marB="18288" anchor="ctr">
                    <a:solidFill>
                      <a:srgbClr val="FFFFFF"/>
                    </a:solidFill>
                  </a:tcPr>
                </a:tc>
                <a:extLst>
                  <a:ext uri="{0D108BD9-81ED-4DB2-BD59-A6C34878D82A}">
                    <a16:rowId xmlns:a16="http://schemas.microsoft.com/office/drawing/2014/main" val="10001"/>
                  </a:ext>
                </a:extLst>
              </a:tr>
              <a:tr h="274320">
                <a:tc>
                  <a:txBody>
                    <a:bodyPr/>
                    <a:lstStyle/>
                    <a:p>
                      <a:pPr algn="l"/>
                      <a:r>
                        <a:rPr sz="1000" b="0">
                          <a:solidFill>
                            <a:srgbClr val="1A1A1A"/>
                          </a:solidFill>
                          <a:latin typeface="Consolas"/>
                        </a:rPr>
                        <a:t>labor_tightness</a:t>
                      </a:r>
                    </a:p>
                  </a:txBody>
                  <a:tcPr marL="64008" marR="64008" marT="18288" marB="18288" anchor="ctr">
                    <a:solidFill>
                      <a:srgbClr val="F3F5F8"/>
                    </a:solidFill>
                  </a:tcPr>
                </a:tc>
                <a:tc>
                  <a:txBody>
                    <a:bodyPr/>
                    <a:lstStyle/>
                    <a:p>
                      <a:pPr algn="ctr"/>
                      <a:r>
                        <a:rPr sz="1000" b="0">
                          <a:solidFill>
                            <a:srgbClr val="1A1A1A"/>
                          </a:solidFill>
                          <a:latin typeface="Calibri"/>
                        </a:rPr>
                        <a:t>0.935</a:t>
                      </a:r>
                    </a:p>
                  </a:txBody>
                  <a:tcPr marL="64008" marR="64008" marT="18288" marB="18288" anchor="ctr">
                    <a:solidFill>
                      <a:srgbClr val="F3F5F8"/>
                    </a:solidFill>
                  </a:tcPr>
                </a:tc>
                <a:tc>
                  <a:txBody>
                    <a:bodyPr/>
                    <a:lstStyle/>
                    <a:p>
                      <a:pPr algn="ctr"/>
                      <a:r>
                        <a:rPr sz="1000" b="0">
                          <a:solidFill>
                            <a:srgbClr val="1A1A1A"/>
                          </a:solidFill>
                          <a:latin typeface="Calibri"/>
                        </a:rPr>
                        <a:t>0.417</a:t>
                      </a:r>
                    </a:p>
                  </a:txBody>
                  <a:tcPr marL="64008" marR="64008" marT="18288" marB="18288" anchor="ctr">
                    <a:solidFill>
                      <a:srgbClr val="F3F5F8"/>
                    </a:solidFill>
                  </a:tcPr>
                </a:tc>
                <a:tc>
                  <a:txBody>
                    <a:bodyPr/>
                    <a:lstStyle/>
                    <a:p>
                      <a:pPr algn="ctr"/>
                      <a:r>
                        <a:rPr sz="1000" b="0">
                          <a:solidFill>
                            <a:srgbClr val="9B2226"/>
                          </a:solidFill>
                          <a:latin typeface="Calibri"/>
                        </a:rPr>
                        <a:t>−0.083</a:t>
                      </a:r>
                    </a:p>
                  </a:txBody>
                  <a:tcPr marL="64008" marR="64008" marT="18288" marB="18288" anchor="ctr">
                    <a:solidFill>
                      <a:srgbClr val="F3F5F8"/>
                    </a:solidFill>
                  </a:tcPr>
                </a:tc>
                <a:tc>
                  <a:txBody>
                    <a:bodyPr/>
                    <a:lstStyle/>
                    <a:p>
                      <a:pPr algn="ctr"/>
                      <a:r>
                        <a:rPr sz="1000" b="0">
                          <a:solidFill>
                            <a:srgbClr val="1A1A1A"/>
                          </a:solidFill>
                          <a:latin typeface="Calibri"/>
                        </a:rPr>
                        <a:t>+0.016</a:t>
                      </a:r>
                    </a:p>
                  </a:txBody>
                  <a:tcPr marL="64008" marR="64008" marT="18288" marB="18288" anchor="ctr">
                    <a:solidFill>
                      <a:srgbClr val="F3F5F8"/>
                    </a:solidFill>
                  </a:tcPr>
                </a:tc>
                <a:tc>
                  <a:txBody>
                    <a:bodyPr/>
                    <a:lstStyle/>
                    <a:p>
                      <a:pPr algn="ctr"/>
                      <a:r>
                        <a:rPr sz="1000" b="0">
                          <a:solidFill>
                            <a:srgbClr val="1A1A1A"/>
                          </a:solidFill>
                          <a:latin typeface="Calibri"/>
                        </a:rPr>
                        <a:t>13</a:t>
                      </a:r>
                    </a:p>
                  </a:txBody>
                  <a:tcPr marL="64008" marR="64008" marT="18288" marB="18288" anchor="ctr">
                    <a:solidFill>
                      <a:srgbClr val="F3F5F8"/>
                    </a:solidFill>
                  </a:tcPr>
                </a:tc>
                <a:extLst>
                  <a:ext uri="{0D108BD9-81ED-4DB2-BD59-A6C34878D82A}">
                    <a16:rowId xmlns:a16="http://schemas.microsoft.com/office/drawing/2014/main" val="10002"/>
                  </a:ext>
                </a:extLst>
              </a:tr>
              <a:tr h="274320">
                <a:tc>
                  <a:txBody>
                    <a:bodyPr/>
                    <a:lstStyle/>
                    <a:p>
                      <a:pPr algn="l"/>
                      <a:r>
                        <a:rPr sz="1000" b="0">
                          <a:solidFill>
                            <a:srgbClr val="1A1A1A"/>
                          </a:solidFill>
                          <a:latin typeface="Consolas"/>
                        </a:rPr>
                        <a:t>balance_sheet</a:t>
                      </a:r>
                    </a:p>
                  </a:txBody>
                  <a:tcPr marL="64008" marR="64008" marT="18288" marB="18288" anchor="ctr">
                    <a:solidFill>
                      <a:srgbClr val="FFFFFF"/>
                    </a:solidFill>
                  </a:tcPr>
                </a:tc>
                <a:tc>
                  <a:txBody>
                    <a:bodyPr/>
                    <a:lstStyle/>
                    <a:p>
                      <a:pPr algn="ctr"/>
                      <a:r>
                        <a:rPr sz="1000" b="0">
                          <a:solidFill>
                            <a:srgbClr val="1A1A1A"/>
                          </a:solidFill>
                          <a:latin typeface="Calibri"/>
                        </a:rPr>
                        <a:t>0.793</a:t>
                      </a:r>
                    </a:p>
                  </a:txBody>
                  <a:tcPr marL="64008" marR="64008" marT="18288" marB="18288" anchor="ctr">
                    <a:solidFill>
                      <a:srgbClr val="FFFFFF"/>
                    </a:solidFill>
                  </a:tcPr>
                </a:tc>
                <a:tc>
                  <a:txBody>
                    <a:bodyPr/>
                    <a:lstStyle/>
                    <a:p>
                      <a:pPr algn="ctr"/>
                      <a:r>
                        <a:rPr sz="1000" b="0">
                          <a:solidFill>
                            <a:srgbClr val="1A1A1A"/>
                          </a:solidFill>
                          <a:latin typeface="Calibri"/>
                        </a:rPr>
                        <a:t>0.845</a:t>
                      </a:r>
                    </a:p>
                  </a:txBody>
                  <a:tcPr marL="64008" marR="64008" marT="18288" marB="18288" anchor="ctr">
                    <a:solidFill>
                      <a:srgbClr val="FFFFFF"/>
                    </a:solidFill>
                  </a:tcPr>
                </a:tc>
                <a:tc>
                  <a:txBody>
                    <a:bodyPr/>
                    <a:lstStyle/>
                    <a:p>
                      <a:pPr algn="ctr"/>
                      <a:r>
                        <a:rPr sz="1000" b="0">
                          <a:solidFill>
                            <a:srgbClr val="1E6B3A"/>
                          </a:solidFill>
                          <a:latin typeface="Calibri"/>
                        </a:rPr>
                        <a:t>+0.345</a:t>
                      </a:r>
                    </a:p>
                  </a:txBody>
                  <a:tcPr marL="64008" marR="64008" marT="18288" marB="18288" anchor="ctr">
                    <a:solidFill>
                      <a:srgbClr val="FFFFFF"/>
                    </a:solidFill>
                  </a:tcPr>
                </a:tc>
                <a:tc>
                  <a:txBody>
                    <a:bodyPr/>
                    <a:lstStyle/>
                    <a:p>
                      <a:pPr algn="ctr"/>
                      <a:r>
                        <a:rPr sz="1000" b="0">
                          <a:solidFill>
                            <a:srgbClr val="1A1A1A"/>
                          </a:solidFill>
                          <a:latin typeface="Calibri"/>
                        </a:rPr>
                        <a:t>+0.033</a:t>
                      </a:r>
                    </a:p>
                  </a:txBody>
                  <a:tcPr marL="64008" marR="64008" marT="18288" marB="18288" anchor="ctr">
                    <a:solidFill>
                      <a:srgbClr val="FFFFFF"/>
                    </a:solidFill>
                  </a:tcPr>
                </a:tc>
                <a:tc>
                  <a:txBody>
                    <a:bodyPr/>
                    <a:lstStyle/>
                    <a:p>
                      <a:pPr algn="ctr"/>
                      <a:r>
                        <a:rPr sz="1000" b="0">
                          <a:solidFill>
                            <a:srgbClr val="1A1A1A"/>
                          </a:solidFill>
                          <a:latin typeface="Calibri"/>
                        </a:rPr>
                        <a:t>52</a:t>
                      </a:r>
                    </a:p>
                  </a:txBody>
                  <a:tcPr marL="64008" marR="64008" marT="18288" marB="18288" anchor="ctr">
                    <a:solidFill>
                      <a:srgbClr val="FFFFFF"/>
                    </a:solidFill>
                  </a:tcPr>
                </a:tc>
                <a:extLst>
                  <a:ext uri="{0D108BD9-81ED-4DB2-BD59-A6C34878D82A}">
                    <a16:rowId xmlns:a16="http://schemas.microsoft.com/office/drawing/2014/main" val="10003"/>
                  </a:ext>
                </a:extLst>
              </a:tr>
              <a:tr h="274320">
                <a:tc>
                  <a:txBody>
                    <a:bodyPr/>
                    <a:lstStyle/>
                    <a:p>
                      <a:pPr algn="l"/>
                      <a:r>
                        <a:rPr sz="1000" b="0">
                          <a:solidFill>
                            <a:srgbClr val="1A1A1A"/>
                          </a:solidFill>
                          <a:latin typeface="Consolas"/>
                        </a:rPr>
                        <a:t>term_premium</a:t>
                      </a:r>
                    </a:p>
                  </a:txBody>
                  <a:tcPr marL="64008" marR="64008" marT="18288" marB="18288" anchor="ctr">
                    <a:solidFill>
                      <a:srgbClr val="F3F5F8"/>
                    </a:solidFill>
                  </a:tcPr>
                </a:tc>
                <a:tc>
                  <a:txBody>
                    <a:bodyPr/>
                    <a:lstStyle/>
                    <a:p>
                      <a:pPr algn="ctr"/>
                      <a:r>
                        <a:rPr sz="1000" b="0">
                          <a:solidFill>
                            <a:srgbClr val="1A1A1A"/>
                          </a:solidFill>
                          <a:latin typeface="Calibri"/>
                        </a:rPr>
                        <a:t>0.930</a:t>
                      </a:r>
                    </a:p>
                  </a:txBody>
                  <a:tcPr marL="64008" marR="64008" marT="18288" marB="18288" anchor="ctr">
                    <a:solidFill>
                      <a:srgbClr val="F3F5F8"/>
                    </a:solidFill>
                  </a:tcPr>
                </a:tc>
                <a:tc>
                  <a:txBody>
                    <a:bodyPr/>
                    <a:lstStyle/>
                    <a:p>
                      <a:pPr algn="ctr"/>
                      <a:r>
                        <a:rPr sz="1000" b="0">
                          <a:solidFill>
                            <a:srgbClr val="1A1A1A"/>
                          </a:solidFill>
                          <a:latin typeface="Calibri"/>
                        </a:rPr>
                        <a:t>0.500</a:t>
                      </a:r>
                    </a:p>
                  </a:txBody>
                  <a:tcPr marL="64008" marR="64008" marT="18288" marB="18288" anchor="ctr">
                    <a:solidFill>
                      <a:srgbClr val="F3F5F8"/>
                    </a:solidFill>
                  </a:tcPr>
                </a:tc>
                <a:tc>
                  <a:txBody>
                    <a:bodyPr/>
                    <a:lstStyle/>
                    <a:p>
                      <a:pPr algn="ctr"/>
                      <a:r>
                        <a:rPr sz="1000" b="0">
                          <a:solidFill>
                            <a:srgbClr val="1A1A1A"/>
                          </a:solidFill>
                          <a:latin typeface="Calibri"/>
                        </a:rPr>
                        <a:t>+0.000</a:t>
                      </a:r>
                    </a:p>
                  </a:txBody>
                  <a:tcPr marL="64008" marR="64008" marT="18288" marB="18288" anchor="ctr">
                    <a:solidFill>
                      <a:srgbClr val="F3F5F8"/>
                    </a:solidFill>
                  </a:tcPr>
                </a:tc>
                <a:tc>
                  <a:txBody>
                    <a:bodyPr/>
                    <a:lstStyle/>
                    <a:p>
                      <a:pPr algn="ctr"/>
                      <a:r>
                        <a:rPr sz="1000" b="0">
                          <a:solidFill>
                            <a:srgbClr val="1A1A1A"/>
                          </a:solidFill>
                          <a:latin typeface="Calibri"/>
                        </a:rPr>
                        <a:t>+0.017</a:t>
                      </a:r>
                    </a:p>
                  </a:txBody>
                  <a:tcPr marL="64008" marR="64008" marT="18288" marB="18288" anchor="ctr">
                    <a:solidFill>
                      <a:srgbClr val="F3F5F8"/>
                    </a:solidFill>
                  </a:tcPr>
                </a:tc>
                <a:tc>
                  <a:txBody>
                    <a:bodyPr/>
                    <a:lstStyle/>
                    <a:p>
                      <a:pPr algn="ctr"/>
                      <a:r>
                        <a:rPr sz="1000" b="0">
                          <a:solidFill>
                            <a:srgbClr val="1A1A1A"/>
                          </a:solidFill>
                          <a:latin typeface="Calibri"/>
                        </a:rPr>
                        <a:t>14</a:t>
                      </a:r>
                    </a:p>
                  </a:txBody>
                  <a:tcPr marL="64008" marR="64008" marT="18288" marB="18288" anchor="ctr">
                    <a:solidFill>
                      <a:srgbClr val="F3F5F8"/>
                    </a:solidFill>
                  </a:tcPr>
                </a:tc>
                <a:extLst>
                  <a:ext uri="{0D108BD9-81ED-4DB2-BD59-A6C34878D82A}">
                    <a16:rowId xmlns:a16="http://schemas.microsoft.com/office/drawing/2014/main" val="10004"/>
                  </a:ext>
                </a:extLst>
              </a:tr>
              <a:tr h="274320">
                <a:tc>
                  <a:txBody>
                    <a:bodyPr/>
                    <a:lstStyle/>
                    <a:p>
                      <a:pPr algn="l"/>
                      <a:r>
                        <a:rPr sz="1000" b="0">
                          <a:solidFill>
                            <a:srgbClr val="1A1A1A"/>
                          </a:solidFill>
                          <a:latin typeface="Consolas"/>
                        </a:rPr>
                        <a:t>curve_slope   ← new</a:t>
                      </a:r>
                    </a:p>
                  </a:txBody>
                  <a:tcPr marL="64008" marR="64008" marT="18288" marB="18288" anchor="ctr">
                    <a:solidFill>
                      <a:srgbClr val="FFFFFF"/>
                    </a:solidFill>
                  </a:tcPr>
                </a:tc>
                <a:tc>
                  <a:txBody>
                    <a:bodyPr/>
                    <a:lstStyle/>
                    <a:p>
                      <a:pPr algn="ctr"/>
                      <a:r>
                        <a:rPr sz="1000" b="0">
                          <a:solidFill>
                            <a:srgbClr val="1A1A1A"/>
                          </a:solidFill>
                          <a:latin typeface="Calibri"/>
                        </a:rPr>
                        <a:t>0.973</a:t>
                      </a:r>
                    </a:p>
                  </a:txBody>
                  <a:tcPr marL="64008" marR="64008" marT="18288" marB="18288" anchor="ctr">
                    <a:solidFill>
                      <a:srgbClr val="FFFFFF"/>
                    </a:solidFill>
                  </a:tcPr>
                </a:tc>
                <a:tc>
                  <a:txBody>
                    <a:bodyPr/>
                    <a:lstStyle/>
                    <a:p>
                      <a:pPr algn="ctr"/>
                      <a:r>
                        <a:rPr sz="1000" b="0">
                          <a:solidFill>
                            <a:srgbClr val="1A1A1A"/>
                          </a:solidFill>
                          <a:latin typeface="Calibri"/>
                        </a:rPr>
                        <a:t>0.503</a:t>
                      </a:r>
                    </a:p>
                  </a:txBody>
                  <a:tcPr marL="64008" marR="64008" marT="18288" marB="18288" anchor="ctr">
                    <a:solidFill>
                      <a:srgbClr val="FFFFFF"/>
                    </a:solidFill>
                  </a:tcPr>
                </a:tc>
                <a:tc>
                  <a:txBody>
                    <a:bodyPr/>
                    <a:lstStyle/>
                    <a:p>
                      <a:pPr algn="ctr"/>
                      <a:r>
                        <a:rPr sz="1000" b="0">
                          <a:solidFill>
                            <a:srgbClr val="6E6E6E"/>
                          </a:solidFill>
                          <a:latin typeface="Calibri"/>
                        </a:rPr>
                        <a:t>+0.003</a:t>
                      </a:r>
                    </a:p>
                  </a:txBody>
                  <a:tcPr marL="64008" marR="64008" marT="18288" marB="18288" anchor="ctr">
                    <a:solidFill>
                      <a:srgbClr val="FFFFFF"/>
                    </a:solidFill>
                  </a:tcPr>
                </a:tc>
                <a:tc>
                  <a:txBody>
                    <a:bodyPr/>
                    <a:lstStyle/>
                    <a:p>
                      <a:pPr algn="ctr"/>
                      <a:r>
                        <a:rPr sz="1000" b="0">
                          <a:solidFill>
                            <a:srgbClr val="1A1A1A"/>
                          </a:solidFill>
                          <a:latin typeface="Calibri"/>
                        </a:rPr>
                        <a:t>+0.003</a:t>
                      </a:r>
                    </a:p>
                  </a:txBody>
                  <a:tcPr marL="64008" marR="64008" marT="18288" marB="18288" anchor="ctr">
                    <a:solidFill>
                      <a:srgbClr val="FFFFFF"/>
                    </a:solidFill>
                  </a:tcPr>
                </a:tc>
                <a:tc>
                  <a:txBody>
                    <a:bodyPr/>
                    <a:lstStyle/>
                    <a:p>
                      <a:pPr algn="ctr"/>
                      <a:r>
                        <a:rPr sz="1000" b="0">
                          <a:solidFill>
                            <a:srgbClr val="1A1A1A"/>
                          </a:solidFill>
                          <a:latin typeface="Calibri"/>
                        </a:rPr>
                        <a:t>3</a:t>
                      </a:r>
                    </a:p>
                  </a:txBody>
                  <a:tcPr marL="64008" marR="64008" marT="18288" marB="18288" anchor="ctr">
                    <a:solidFill>
                      <a:srgbClr val="FFFFFF"/>
                    </a:solidFill>
                  </a:tcPr>
                </a:tc>
                <a:extLst>
                  <a:ext uri="{0D108BD9-81ED-4DB2-BD59-A6C34878D82A}">
                    <a16:rowId xmlns:a16="http://schemas.microsoft.com/office/drawing/2014/main" val="10005"/>
                  </a:ext>
                </a:extLst>
              </a:tr>
              <a:tr h="274320">
                <a:tc>
                  <a:txBody>
                    <a:bodyPr/>
                    <a:lstStyle/>
                    <a:p>
                      <a:pPr algn="l"/>
                      <a:r>
                        <a:rPr sz="1000" b="0">
                          <a:solidFill>
                            <a:srgbClr val="1A1A1A"/>
                          </a:solidFill>
                          <a:latin typeface="Consolas"/>
                        </a:rPr>
                        <a:t>inflation_expectations   ← new</a:t>
                      </a:r>
                    </a:p>
                  </a:txBody>
                  <a:tcPr marL="64008" marR="64008" marT="18288" marB="18288" anchor="ctr">
                    <a:solidFill>
                      <a:srgbClr val="F3F5F8"/>
                    </a:solidFill>
                  </a:tcPr>
                </a:tc>
                <a:tc>
                  <a:txBody>
                    <a:bodyPr/>
                    <a:lstStyle/>
                    <a:p>
                      <a:pPr algn="ctr"/>
                      <a:r>
                        <a:rPr sz="1000" b="0">
                          <a:solidFill>
                            <a:srgbClr val="1A1A1A"/>
                          </a:solidFill>
                          <a:latin typeface="Calibri"/>
                        </a:rPr>
                        <a:t>0.960</a:t>
                      </a:r>
                    </a:p>
                  </a:txBody>
                  <a:tcPr marL="64008" marR="64008" marT="18288" marB="18288" anchor="ctr">
                    <a:solidFill>
                      <a:srgbClr val="F3F5F8"/>
                    </a:solidFill>
                  </a:tcPr>
                </a:tc>
                <a:tc>
                  <a:txBody>
                    <a:bodyPr/>
                    <a:lstStyle/>
                    <a:p>
                      <a:pPr algn="ctr"/>
                      <a:r>
                        <a:rPr sz="1000" b="0">
                          <a:solidFill>
                            <a:srgbClr val="9B2226"/>
                          </a:solidFill>
                          <a:latin typeface="Calibri"/>
                        </a:rPr>
                        <a:t>0.321</a:t>
                      </a:r>
                    </a:p>
                  </a:txBody>
                  <a:tcPr marL="64008" marR="64008" marT="18288" marB="18288" anchor="ctr">
                    <a:solidFill>
                      <a:srgbClr val="F3F5F8"/>
                    </a:solidFill>
                  </a:tcPr>
                </a:tc>
                <a:tc>
                  <a:txBody>
                    <a:bodyPr/>
                    <a:lstStyle/>
                    <a:p>
                      <a:pPr algn="ctr"/>
                      <a:r>
                        <a:rPr sz="1000" b="0">
                          <a:solidFill>
                            <a:srgbClr val="9B2226"/>
                          </a:solidFill>
                          <a:latin typeface="Calibri"/>
                        </a:rPr>
                        <a:t>−0.179</a:t>
                      </a:r>
                    </a:p>
                  </a:txBody>
                  <a:tcPr marL="64008" marR="64008" marT="18288" marB="18288" anchor="ctr">
                    <a:solidFill>
                      <a:srgbClr val="F3F5F8"/>
                    </a:solidFill>
                  </a:tcPr>
                </a:tc>
                <a:tc>
                  <a:txBody>
                    <a:bodyPr/>
                    <a:lstStyle/>
                    <a:p>
                      <a:pPr algn="ctr"/>
                      <a:r>
                        <a:rPr sz="1000" b="0">
                          <a:solidFill>
                            <a:srgbClr val="1A1A1A"/>
                          </a:solidFill>
                          <a:latin typeface="Calibri"/>
                        </a:rPr>
                        <a:t>0.000</a:t>
                      </a:r>
                    </a:p>
                  </a:txBody>
                  <a:tcPr marL="64008" marR="64008" marT="18288" marB="18288" anchor="ctr">
                    <a:solidFill>
                      <a:srgbClr val="F3F5F8"/>
                    </a:solidFill>
                  </a:tcPr>
                </a:tc>
                <a:tc>
                  <a:txBody>
                    <a:bodyPr/>
                    <a:lstStyle/>
                    <a:p>
                      <a:pPr algn="ctr"/>
                      <a:r>
                        <a:rPr sz="1000" b="0">
                          <a:solidFill>
                            <a:srgbClr val="1A1A1A"/>
                          </a:solidFill>
                          <a:latin typeface="Calibri"/>
                        </a:rPr>
                        <a:t>0</a:t>
                      </a:r>
                    </a:p>
                  </a:txBody>
                  <a:tcPr marL="64008" marR="64008" marT="18288" marB="18288" anchor="ctr">
                    <a:solidFill>
                      <a:srgbClr val="F3F5F8"/>
                    </a:solidFill>
                  </a:tcPr>
                </a:tc>
                <a:extLst>
                  <a:ext uri="{0D108BD9-81ED-4DB2-BD59-A6C34878D82A}">
                    <a16:rowId xmlns:a16="http://schemas.microsoft.com/office/drawing/2014/main" val="10006"/>
                  </a:ext>
                </a:extLst>
              </a:tr>
              <a:tr h="274320">
                <a:tc>
                  <a:txBody>
                    <a:bodyPr/>
                    <a:lstStyle/>
                    <a:p>
                      <a:pPr algn="l"/>
                      <a:r>
                        <a:rPr sz="1000" b="0">
                          <a:solidFill>
                            <a:srgbClr val="1A1A1A"/>
                          </a:solidFill>
                          <a:latin typeface="Consolas"/>
                        </a:rPr>
                        <a:t>financial_conditions   ← new</a:t>
                      </a:r>
                    </a:p>
                  </a:txBody>
                  <a:tcPr marL="64008" marR="64008" marT="18288" marB="18288" anchor="ctr">
                    <a:solidFill>
                      <a:srgbClr val="FFFFFF"/>
                    </a:solidFill>
                  </a:tcPr>
                </a:tc>
                <a:tc>
                  <a:txBody>
                    <a:bodyPr/>
                    <a:lstStyle/>
                    <a:p>
                      <a:pPr algn="ctr"/>
                      <a:r>
                        <a:rPr sz="1000" b="0">
                          <a:solidFill>
                            <a:srgbClr val="1A1A1A"/>
                          </a:solidFill>
                          <a:latin typeface="Calibri"/>
                        </a:rPr>
                        <a:t>0.865</a:t>
                      </a:r>
                    </a:p>
                  </a:txBody>
                  <a:tcPr marL="64008" marR="64008" marT="18288" marB="18288" anchor="ctr">
                    <a:solidFill>
                      <a:srgbClr val="FFFFFF"/>
                    </a:solidFill>
                  </a:tcPr>
                </a:tc>
                <a:tc>
                  <a:txBody>
                    <a:bodyPr/>
                    <a:lstStyle/>
                    <a:p>
                      <a:pPr algn="ctr"/>
                      <a:r>
                        <a:rPr sz="1000" b="0">
                          <a:solidFill>
                            <a:srgbClr val="9B2226"/>
                          </a:solidFill>
                          <a:latin typeface="Calibri"/>
                        </a:rPr>
                        <a:t>0.404</a:t>
                      </a:r>
                    </a:p>
                  </a:txBody>
                  <a:tcPr marL="64008" marR="64008" marT="18288" marB="18288" anchor="ctr">
                    <a:solidFill>
                      <a:srgbClr val="FFFFFF"/>
                    </a:solidFill>
                  </a:tcPr>
                </a:tc>
                <a:tc>
                  <a:txBody>
                    <a:bodyPr/>
                    <a:lstStyle/>
                    <a:p>
                      <a:pPr algn="ctr"/>
                      <a:r>
                        <a:rPr sz="1000" b="0">
                          <a:solidFill>
                            <a:srgbClr val="9B2226"/>
                          </a:solidFill>
                          <a:latin typeface="Calibri"/>
                        </a:rPr>
                        <a:t>−0.096</a:t>
                      </a:r>
                    </a:p>
                  </a:txBody>
                  <a:tcPr marL="64008" marR="64008" marT="18288" marB="18288" anchor="ctr">
                    <a:solidFill>
                      <a:srgbClr val="FFFFFF"/>
                    </a:solidFill>
                  </a:tcPr>
                </a:tc>
                <a:tc>
                  <a:txBody>
                    <a:bodyPr/>
                    <a:lstStyle/>
                    <a:p>
                      <a:pPr algn="ctr"/>
                      <a:r>
                        <a:rPr sz="1000" b="0">
                          <a:solidFill>
                            <a:srgbClr val="1A1A1A"/>
                          </a:solidFill>
                          <a:latin typeface="Calibri"/>
                        </a:rPr>
                        <a:t>+0.089</a:t>
                      </a:r>
                    </a:p>
                  </a:txBody>
                  <a:tcPr marL="64008" marR="64008" marT="18288" marB="18288" anchor="ctr">
                    <a:solidFill>
                      <a:srgbClr val="FFFFFF"/>
                    </a:solidFill>
                  </a:tcPr>
                </a:tc>
                <a:tc>
                  <a:txBody>
                    <a:bodyPr/>
                    <a:lstStyle/>
                    <a:p>
                      <a:pPr algn="ctr"/>
                      <a:r>
                        <a:rPr sz="1000" b="0">
                          <a:solidFill>
                            <a:srgbClr val="1A1A1A"/>
                          </a:solidFill>
                          <a:latin typeface="Calibri"/>
                        </a:rPr>
                        <a:t>47</a:t>
                      </a:r>
                    </a:p>
                  </a:txBody>
                  <a:tcPr marL="64008" marR="64008" marT="18288" marB="18288" anchor="ctr">
                    <a:solidFill>
                      <a:srgbClr val="FFFFFF"/>
                    </a:solidFill>
                  </a:tcPr>
                </a:tc>
                <a:extLst>
                  <a:ext uri="{0D108BD9-81ED-4DB2-BD59-A6C34878D82A}">
                    <a16:rowId xmlns:a16="http://schemas.microsoft.com/office/drawing/2014/main" val="10007"/>
                  </a:ext>
                </a:extLst>
              </a:tr>
            </a:tbl>
          </a:graphicData>
        </a:graphic>
      </p:graphicFrame>
      <p:sp>
        <p:nvSpPr>
          <p:cNvPr id="11" name="TextBox 10"/>
          <p:cNvSpPr txBox="1"/>
          <p:nvPr/>
        </p:nvSpPr>
        <p:spPr>
          <a:xfrm>
            <a:off x="548640" y="3886200"/>
            <a:ext cx="6858000" cy="1371600"/>
          </a:xfrm>
          <a:prstGeom prst="rect">
            <a:avLst/>
          </a:prstGeom>
          <a:noFill/>
        </p:spPr>
        <p:txBody>
          <a:bodyPr wrap="square" lIns="0" tIns="0" rIns="0" bIns="0" anchor="t">
            <a:spAutoFit/>
          </a:bodyPr>
          <a:lstStyle/>
          <a:p>
            <a:pPr algn="l">
              <a:lnSpc>
                <a:spcPct val="120000"/>
              </a:lnSpc>
              <a:spcAft>
                <a:spcPts val="600"/>
              </a:spcAft>
            </a:pPr>
            <a:r>
              <a:rPr sz="1200" b="1" i="0">
                <a:solidFill>
                  <a:srgbClr val="9B2226"/>
                </a:solidFill>
                <a:latin typeface="Calibri"/>
              </a:rPr>
              <a:t>None of the three adds signal.</a:t>
            </a:r>
          </a:p>
          <a:p>
            <a:pPr algn="l">
              <a:lnSpc>
                <a:spcPct val="120000"/>
              </a:lnSpc>
              <a:spcAft>
                <a:spcPts val="600"/>
              </a:spcAft>
            </a:pPr>
            <a:r>
              <a:rPr sz="1050" b="0" i="0">
                <a:solidFill>
                  <a:srgbClr val="1A1A1A"/>
                </a:solidFill>
                <a:latin typeface="Calibri"/>
              </a:rPr>
              <a:t>curve_slope is a coin flip the model overrode 3 times in 313. inflation_expectations has the worst edge in the pool, zero overrides, and loses to persistence by 0.147. financial_conditions has the largest gain (+0.089) but a negative edge — it improves on a bad baseline rather than predicting.</a:t>
            </a:r>
          </a:p>
          <a:p>
            <a:pPr algn="l">
              <a:lnSpc>
                <a:spcPct val="120000"/>
              </a:lnSpc>
              <a:spcAft>
                <a:spcPts val="600"/>
              </a:spcAft>
            </a:pPr>
            <a:r>
              <a:rPr sz="1100" b="1" i="0">
                <a:solidFill>
                  <a:srgbClr val="003262"/>
                </a:solidFill>
                <a:latin typeface="Calibri"/>
              </a:rPr>
              <a:t>The independence gate bit again. </a:t>
            </a:r>
            <a:r>
              <a:rPr sz="1050" b="0" i="0">
                <a:solidFill>
                  <a:srgbClr val="1A1A1A"/>
                </a:solidFill>
                <a:latin typeface="Calibri"/>
              </a:rPr>
              <a:t>inflation_expectations (T10YIE) correlates 0.558 with term_premium (DGS10) — they share the real rate — and dragged term_premium's faithfulness from 0.698 to 0.442. Same lesson as the real-rates analyst (DFII10) we dropped at 0.86.</a:t>
            </a:r>
          </a:p>
          <a:p>
            <a:pPr algn="l">
              <a:lnSpc>
                <a:spcPct val="120000"/>
              </a:lnSpc>
              <a:spcAft>
                <a:spcPts val="600"/>
              </a:spcAft>
            </a:pPr>
            <a:r>
              <a:rPr sz="1000" b="0" i="1">
                <a:solidFill>
                  <a:srgbClr val="6E6E6E"/>
                </a:solidFill>
                <a:latin typeface="Calibri"/>
              </a:rPr>
              <a:t>Caveat: the lexicon contamination of 1.000 on the three new drivers is an artifact — their mandates name other drivers, and curve_slope's own vocabulary overlaps the trade-term list. The correlation matrix shows no matching coupling.</a:t>
            </a:r>
          </a:p>
        </p:txBody>
      </p:sp>
      <p:sp>
        <p:nvSpPr>
          <p:cNvPr id="12" name="TextBox 11"/>
          <p:cNvSpPr txBox="1"/>
          <p:nvPr/>
        </p:nvSpPr>
        <p:spPr>
          <a:xfrm>
            <a:off x="7772400" y="1371600"/>
            <a:ext cx="3867912" cy="228600"/>
          </a:xfrm>
          <a:prstGeom prst="rect">
            <a:avLst/>
          </a:prstGeom>
          <a:noFill/>
        </p:spPr>
        <p:txBody>
          <a:bodyPr wrap="square" lIns="0" tIns="0" rIns="0" bIns="0" anchor="t">
            <a:spAutoFit/>
          </a:bodyPr>
          <a:lstStyle/>
          <a:p>
            <a:pPr algn="l">
              <a:lnSpc>
                <a:spcPct val="110000"/>
              </a:lnSpc>
              <a:spcAft>
                <a:spcPts val="400"/>
              </a:spcAft>
            </a:pPr>
            <a:r>
              <a:rPr sz="950" b="1" i="0">
                <a:solidFill>
                  <a:srgbClr val="3B7EA1"/>
                </a:solidFill>
                <a:latin typeface="Calibri"/>
              </a:rPr>
              <a:t>57 OFFLINE CHECKS  ·  no keys, no network, $0</a:t>
            </a:r>
          </a:p>
        </p:txBody>
      </p:sp>
      <p:sp>
        <p:nvSpPr>
          <p:cNvPr id="13" name="TextBox 12"/>
          <p:cNvSpPr txBox="1"/>
          <p:nvPr/>
        </p:nvSpPr>
        <p:spPr>
          <a:xfrm>
            <a:off x="7772400" y="1645920"/>
            <a:ext cx="3867912" cy="1097280"/>
          </a:xfrm>
          <a:prstGeom prst="rect">
            <a:avLst/>
          </a:prstGeom>
          <a:noFill/>
        </p:spPr>
        <p:txBody>
          <a:bodyPr wrap="square" lIns="0" tIns="0" rIns="0" bIns="0" anchor="t">
            <a:spAutoFit/>
          </a:bodyPr>
          <a:lstStyle/>
          <a:p>
            <a:pPr algn="l">
              <a:lnSpc>
                <a:spcPct val="118000"/>
              </a:lnSpc>
              <a:spcAft>
                <a:spcPts val="300"/>
              </a:spcAft>
            </a:pPr>
            <a:r>
              <a:rPr sz="1000" b="1" i="0">
                <a:solidFill>
                  <a:srgbClr val="003262"/>
                </a:solidFill>
                <a:latin typeface="Consolas"/>
              </a:rPr>
              <a:t>test_layered.py</a:t>
            </a:r>
            <a:r>
              <a:rPr sz="950" b="1" i="0">
                <a:solidFill>
                  <a:srgbClr val="FDB515"/>
                </a:solidFill>
                <a:latin typeface="Calibri"/>
              </a:rPr>
              <a:t>   20 checks</a:t>
            </a:r>
          </a:p>
          <a:p>
            <a:pPr algn="l">
              <a:lnSpc>
                <a:spcPct val="118000"/>
              </a:lnSpc>
              <a:spcAft>
                <a:spcPts val="300"/>
              </a:spcAft>
            </a:pPr>
            <a:r>
              <a:rPr sz="950" b="0" i="0">
                <a:solidFill>
                  <a:srgbClr val="6E6E6E"/>
                </a:solidFill>
                <a:latin typeface="Calibri"/>
              </a:rPr>
              <a:t>AsOf never serves data past the meeting date · each analyst reads only its own series · |net_duration| &lt; 0.15 · hawkish ⇒ flattener, dovish ⇒ steepener · book gross ≤ leverage cap · the scorer returns 1.0 for an always-right analyst, 0.0 for an always-wrong one</a:t>
            </a:r>
          </a:p>
        </p:txBody>
      </p:sp>
      <p:sp>
        <p:nvSpPr>
          <p:cNvPr id="14" name="TextBox 13"/>
          <p:cNvSpPr txBox="1"/>
          <p:nvPr/>
        </p:nvSpPr>
        <p:spPr>
          <a:xfrm>
            <a:off x="7772400" y="2816352"/>
            <a:ext cx="3867912" cy="1097280"/>
          </a:xfrm>
          <a:prstGeom prst="rect">
            <a:avLst/>
          </a:prstGeom>
          <a:noFill/>
        </p:spPr>
        <p:txBody>
          <a:bodyPr wrap="square" lIns="0" tIns="0" rIns="0" bIns="0" anchor="t">
            <a:spAutoFit/>
          </a:bodyPr>
          <a:lstStyle/>
          <a:p>
            <a:pPr algn="l">
              <a:lnSpc>
                <a:spcPct val="118000"/>
              </a:lnSpc>
              <a:spcAft>
                <a:spcPts val="300"/>
              </a:spcAft>
            </a:pPr>
            <a:r>
              <a:rPr sz="1000" b="1" i="0">
                <a:solidFill>
                  <a:srgbClr val="003262"/>
                </a:solidFill>
                <a:latin typeface="Consolas"/>
              </a:rPr>
              <a:t>test_input_modes.py</a:t>
            </a:r>
            <a:r>
              <a:rPr sz="950" b="1" i="0">
                <a:solidFill>
                  <a:srgbClr val="FDB515"/>
                </a:solidFill>
                <a:latin typeface="Calibri"/>
              </a:rPr>
              <a:t>   9 checks</a:t>
            </a:r>
          </a:p>
          <a:p>
            <a:pPr algn="l">
              <a:lnSpc>
                <a:spcPct val="118000"/>
              </a:lnSpc>
              <a:spcAft>
                <a:spcPts val="300"/>
              </a:spcAft>
            </a:pPr>
            <a:r>
              <a:rPr sz="950" b="0" i="0">
                <a:solidFill>
                  <a:srgbClr val="6E6E6E"/>
                </a:solidFill>
                <a:latin typeface="Calibri"/>
              </a:rPr>
              <a:t>the A/B is clean: system prompt identical across arms · the vector arm is unchanged whether or not a text source is attached · vector carries no text, text drops the numbers · point-in-time · a document dated asof+5d is never served</a:t>
            </a:r>
          </a:p>
        </p:txBody>
      </p:sp>
      <p:sp>
        <p:nvSpPr>
          <p:cNvPr id="15" name="TextBox 14"/>
          <p:cNvSpPr txBox="1"/>
          <p:nvPr/>
        </p:nvSpPr>
        <p:spPr>
          <a:xfrm>
            <a:off x="7772400" y="3986784"/>
            <a:ext cx="3867912" cy="1097280"/>
          </a:xfrm>
          <a:prstGeom prst="rect">
            <a:avLst/>
          </a:prstGeom>
          <a:noFill/>
        </p:spPr>
        <p:txBody>
          <a:bodyPr wrap="square" lIns="0" tIns="0" rIns="0" bIns="0" anchor="t">
            <a:spAutoFit/>
          </a:bodyPr>
          <a:lstStyle/>
          <a:p>
            <a:pPr algn="l">
              <a:lnSpc>
                <a:spcPct val="118000"/>
              </a:lnSpc>
              <a:spcAft>
                <a:spcPts val="300"/>
              </a:spcAft>
            </a:pPr>
            <a:r>
              <a:rPr sz="1000" b="1" i="0">
                <a:solidFill>
                  <a:srgbClr val="003262"/>
                </a:solidFill>
                <a:latin typeface="Consolas"/>
              </a:rPr>
              <a:t>test_diagnostics.py</a:t>
            </a:r>
            <a:r>
              <a:rPr sz="950" b="1" i="0">
                <a:solidFill>
                  <a:srgbClr val="FDB515"/>
                </a:solidFill>
                <a:latin typeface="Calibri"/>
              </a:rPr>
              <a:t>   20 checks</a:t>
            </a:r>
          </a:p>
          <a:p>
            <a:pPr algn="l">
              <a:lnSpc>
                <a:spcPct val="118000"/>
              </a:lnSpc>
              <a:spcAft>
                <a:spcPts val="300"/>
              </a:spcAft>
            </a:pPr>
            <a:r>
              <a:rPr sz="950" b="0" i="0">
                <a:solidFill>
                  <a:srgbClr val="6E6E6E"/>
                </a:solidFill>
                <a:latin typeface="Calibri"/>
              </a:rPr>
              <a:t>the diagnostics harness itself, including the LLM path via a stub that manufactures overrides offline</a:t>
            </a:r>
          </a:p>
        </p:txBody>
      </p:sp>
      <p:sp>
        <p:nvSpPr>
          <p:cNvPr id="16" name="TextBox 15"/>
          <p:cNvSpPr txBox="1"/>
          <p:nvPr/>
        </p:nvSpPr>
        <p:spPr>
          <a:xfrm>
            <a:off x="7772400" y="5157216"/>
            <a:ext cx="3867912" cy="1097280"/>
          </a:xfrm>
          <a:prstGeom prst="rect">
            <a:avLst/>
          </a:prstGeom>
          <a:noFill/>
        </p:spPr>
        <p:txBody>
          <a:bodyPr wrap="square" lIns="0" tIns="0" rIns="0" bIns="0" anchor="t">
            <a:spAutoFit/>
          </a:bodyPr>
          <a:lstStyle/>
          <a:p>
            <a:pPr algn="l">
              <a:lnSpc>
                <a:spcPct val="118000"/>
              </a:lnSpc>
              <a:spcAft>
                <a:spcPts val="300"/>
              </a:spcAft>
            </a:pPr>
            <a:r>
              <a:rPr sz="1000" b="1" i="0">
                <a:solidFill>
                  <a:srgbClr val="003262"/>
                </a:solidFill>
                <a:latin typeface="Consolas"/>
              </a:rPr>
              <a:t>test_agents.py</a:t>
            </a:r>
            <a:r>
              <a:rPr sz="950" b="1" i="0">
                <a:solidFill>
                  <a:srgbClr val="FDB515"/>
                </a:solidFill>
                <a:latin typeface="Calibri"/>
              </a:rPr>
              <a:t>   8 checks</a:t>
            </a:r>
          </a:p>
          <a:p>
            <a:pPr algn="l">
              <a:lnSpc>
                <a:spcPct val="118000"/>
              </a:lnSpc>
              <a:spcAft>
                <a:spcPts val="300"/>
              </a:spcAft>
            </a:pPr>
            <a:r>
              <a:rPr sz="950" b="0" i="0">
                <a:solidFill>
                  <a:srgbClr val="6E6E6E"/>
                </a:solidFill>
                <a:latin typeface="Calibri"/>
              </a:rPr>
              <a:t>the legacy flat ensemble degrades safely with no LLM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5667</TotalTime>
  <Words>3327</Words>
  <Application>Microsoft Macintosh PowerPoint</Application>
  <PresentationFormat>Widescreen</PresentationFormat>
  <Paragraphs>505</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Elias ROUBACHE</cp:lastModifiedBy>
  <cp:revision>7</cp:revision>
  <dcterms:created xsi:type="dcterms:W3CDTF">2013-01-27T09:14:16Z</dcterms:created>
  <dcterms:modified xsi:type="dcterms:W3CDTF">2026-07-20T17:40:44Z</dcterms:modified>
  <cp:category/>
</cp:coreProperties>
</file>